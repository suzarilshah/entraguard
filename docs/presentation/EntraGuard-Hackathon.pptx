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00:00–00:25 · 25 seconds
Imagine an employee enters the right MFA code while a convincing caller tells them exactly what to do. The credential is valid. The situation is not. EntraGuard brings evidence from that conversation into the verification decision.
PRESENTER CUE
Pause after “the situation is not.” The number and quotation are an illustrative scenario, not a recording of a real victim.
EVIDENCE / BOUNDARIES
Grounded in the repository’s outbound verification and coercion-adjudication flow. Do not describe EntraGuard as proof of intent or a guarantee that coercion is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00:25–01:05 · 40 seconds
The gap is not just another stolen password. A help-desk impersonator, a caller coaching an MFA approval, or someone pressuring a payment change can work through the legitimate user. Identity controls see the authentication. EntraGuard adds conversation evidence at the moment an approval is being made.
PRESENTER CUE
Point to one scenario that resonates with the judges. Do not spend time reading all three quotations.
EVIDENCE / BOUNDARIES
Scam taxonomy in src/EntraGuard.Shared/Detection/ScamVector.cs. Scope is calls deliberately routed through monitored ACS identities and calls EntraGuard originates. It does not listen to every phone or Teams call. No breach statistics are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01:05–02:00 · 55 seconds
The user signs in with a Microsoft work account and receives a verification call. They match a number and answer questions drawn from the identity or activity sources available to their tenant. During the call, the Analyst looks for coaching. Optional voice comparison adds speaker-similarity evidence. The result is governed: access, an additional check, or refusal—with an explanation.
PRESENTER CUE
Emphasize “available” sources and “optional” voice. These are distinct signals, not four independently certified authentication factors.
EVIDENCE / BOUNDARIES
VerificationEndpoint / VerificationLauncher / VerificationCoordinator, EvidenceAssurance and VerificationAdjudicator. Coercion refusal threshold: risk ≥60 and confidence ≥0.75. Voice observation is the default. Enforced weak voice matches require server-validated fresh MFA; no voice-clone or PAD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02:00–03:05 · 65 seconds
There are two integration routes. An application such as Treasury can explicitly request step-up after Entra sign-in. The optional External Authentication Method uses OIDC to fit into Entra’s MFA flow, when configured by a tenant. Both use the call pipeline: ACS and Teams, AI Speech, and Azure OpenAI. Deterministic rules govern the result. The appropriate flow can return an application decision, execute permitted Graph containment, and send evidence to Microsoft Sentinel.
PRESENTER CUE
Trace the diagram left to right once. Say “optional and configuration-dependent” when pointing to EAM. Distinguish verification decisions from containment actions on monitored attack calls.
EVIDENCE / BOUNDARIES
Sources: README.md; docs/architecture.md; docs/external-auth-method.md; infra/modules/*.bicep. EAM is implemented but not established as a live-validated cross-tenant rollout by this deck. Requires tenant configuration/licensing and deliverable calls. Voice scorer is open-source SpeechBrain/PyTorch on Azure, not a Microsoft biometric service. Managed identity is used for Azure service access; encryption/signing keys still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03:05–04:10 · 65 seconds
This is Contoso Treasury, our relying-party demonstration. What matters is not just the risk meter. The model supplies evidence while policy owns authority. A demo-payment approval can require verification bound to the exact payment details. And the outcome is explainable through receipts, policy versions and owner-scoped history. The decisive demo beat is a correct number match that is still refused when coaching is detected.
PRESENTER CUE
The screenshot is the Treasury prototype with illustrative data. For a five-minute slot, show a short rehearsed recording or stay on this slide; a full verification call can take substantially longer. In a longer slot, switch to a prepared benign/coerced pair and show the actual returned receipt. Never promise a particular live model verdict.
EVIDENCE / BOUNDARIES
Sources: TreasuryDashboard.tsx; GrantService.cs; PaymentService.cs; VerificationLedger.cs; TenantPolicyService.cs. Approval is implemented for a protected demo ledger, not a bank connector. Local tests cover ownership, replay, concurrency and policy checks; local tests are not proof of live Azure/Entra deployment readiness. The screenshot demonstrates UI design, not the completion of a specific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04:10–04:45 · 35 seconds, then pause for questions
We have built the verification pipeline and the trust controls around it: sessions, durable receipts, policy and transaction-bound demo approvals. The next step is a controlled tenant pilot. We want to measure completion, false refusals and time to intervention on real calling channels. We are looking for an identity or SOC partner and a test tenant. Protect the approval—not just the credential.
PRESENTER CUE
End on the ask. The QR code opens the public handbook. Keep any live-demo segment separate from this five-minute pitch. Do not call the prototype production-ready.
EVIDENCE / BOUNDARIES
Q&amp;A: This is not voice-clone detection; ECAPA compares speaker similarity and has no PAD. It does not monitor every call. Tenant policies and permissions constrain actions. EAM is opt-in and has deployment prerequisites. Demo approvals move no funds. Media remains single-replica until distributed live-call routing is implemented. Repository sources: docs/security-migration.md, docs/standards-and-threat-model.md, docs/external-auth-method.md. No unvalidated breach, accuracy, latency or ROI statistic appears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docs.entraguard.my"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52D"/>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D5EDAE"/>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D5EDAE"/>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D5EDAE"/>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D5EDAE"/>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D5EDAE"/>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D5EDAE"/>
            </a:solidFill>
            <a:prstDash val="solid"/>
            <a:headEnd type="none"/>
            <a:tailEnd type="none"/>
          </a:ln>
        </p:spPr>
      </p:sp>
      <p:sp>
        <p:nvSpPr>
          <p:cNvPr id="8" name="Shape 6"/>
          <p:cNvSpPr/>
          <p:nvPr/>
        </p:nvSpPr>
        <p:spPr>
          <a:xfrm>
            <a:off x="654345" y="394335"/>
            <a:ext cx="8641" cy="61722"/>
          </a:xfrm>
          <a:prstGeom prst="rect">
            <a:avLst/>
          </a:prstGeom>
          <a:solidFill>
            <a:srgbClr val="D5EDAE"/>
          </a:solidFill>
          <a:ln w="10160">
            <a:solidFill>
              <a:srgbClr val="D5EDAE"/>
            </a:solidFill>
            <a:prstDash val="solid"/>
          </a:ln>
        </p:spPr>
      </p:sp>
      <p:sp>
        <p:nvSpPr>
          <p:cNvPr id="9" name="Shape 7"/>
          <p:cNvSpPr/>
          <p:nvPr/>
        </p:nvSpPr>
        <p:spPr>
          <a:xfrm>
            <a:off x="676565" y="372115"/>
            <a:ext cx="8641" cy="106162"/>
          </a:xfrm>
          <a:prstGeom prst="rect">
            <a:avLst/>
          </a:prstGeom>
          <a:solidFill>
            <a:srgbClr val="D5EDAE"/>
          </a:solidFill>
          <a:ln w="10160">
            <a:solidFill>
              <a:srgbClr val="D5EDAE"/>
            </a:solidFill>
            <a:prstDash val="solid"/>
          </a:ln>
        </p:spPr>
      </p:sp>
      <p:sp>
        <p:nvSpPr>
          <p:cNvPr id="10" name="Shape 8"/>
          <p:cNvSpPr/>
          <p:nvPr/>
        </p:nvSpPr>
        <p:spPr>
          <a:xfrm>
            <a:off x="698784" y="351130"/>
            <a:ext cx="8641" cy="148133"/>
          </a:xfrm>
          <a:prstGeom prst="rect">
            <a:avLst/>
          </a:prstGeom>
          <a:solidFill>
            <a:srgbClr val="D5EDAE"/>
          </a:solidFill>
          <a:ln w="10160">
            <a:solidFill>
              <a:srgbClr val="D5EDAE"/>
            </a:solidFill>
            <a:prstDash val="solid"/>
          </a:ln>
        </p:spPr>
      </p:sp>
      <p:sp>
        <p:nvSpPr>
          <p:cNvPr id="11" name="Shape 9"/>
          <p:cNvSpPr/>
          <p:nvPr/>
        </p:nvSpPr>
        <p:spPr>
          <a:xfrm>
            <a:off x="721004" y="375818"/>
            <a:ext cx="8641" cy="98755"/>
          </a:xfrm>
          <a:prstGeom prst="rect">
            <a:avLst/>
          </a:prstGeom>
          <a:solidFill>
            <a:srgbClr val="D5EDAE"/>
          </a:solidFill>
          <a:ln w="10160">
            <a:solidFill>
              <a:srgbClr val="D5EDAE"/>
            </a:solidFill>
            <a:prstDash val="solid"/>
          </a:ln>
        </p:spPr>
      </p:sp>
      <p:sp>
        <p:nvSpPr>
          <p:cNvPr id="12" name="Shape 10"/>
          <p:cNvSpPr/>
          <p:nvPr/>
        </p:nvSpPr>
        <p:spPr>
          <a:xfrm>
            <a:off x="743224" y="398038"/>
            <a:ext cx="8641" cy="54315"/>
          </a:xfrm>
          <a:prstGeom prst="rect">
            <a:avLst/>
          </a:prstGeom>
          <a:solidFill>
            <a:srgbClr val="D5EDAE"/>
          </a:solidFill>
          <a:ln w="10160">
            <a:solidFill>
              <a:srgbClr val="D5EDAE"/>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D5EDAE"/>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B4C8BE"/>
                </a:solidFill>
                <a:latin typeface="Arial" pitchFamily="34" charset="0"/>
                <a:ea typeface="Arial" pitchFamily="34" charset="-122"/>
                <a:cs typeface="Arial" pitchFamily="34" charset="-120"/>
              </a:rPr>
              <a:t>01  /  THE HUMAN GAP</a:t>
            </a:r>
            <a:endParaRPr lang="en-US" sz="950" dirty="0"/>
          </a:p>
        </p:txBody>
      </p:sp>
      <p:sp>
        <p:nvSpPr>
          <p:cNvPr id="15" name="Shape 13"/>
          <p:cNvSpPr/>
          <p:nvPr/>
        </p:nvSpPr>
        <p:spPr>
          <a:xfrm>
            <a:off x="594360" y="6446520"/>
            <a:ext cx="11000232" cy="0"/>
          </a:xfrm>
          <a:prstGeom prst="line">
            <a:avLst/>
          </a:prstGeom>
          <a:noFill/>
          <a:ln w="8890">
            <a:solidFill>
              <a:srgbClr val="36554E"/>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B4C8BE"/>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B4C8BE"/>
                </a:solidFill>
                <a:latin typeface="Arial" pitchFamily="34" charset="0"/>
                <a:ea typeface="Arial" pitchFamily="34" charset="-122"/>
                <a:cs typeface="Arial" pitchFamily="34" charset="-120"/>
              </a:rPr>
              <a:t>01 / 06</a:t>
            </a:r>
            <a:endParaRPr lang="en-US" sz="900" dirty="0"/>
          </a:p>
        </p:txBody>
      </p:sp>
      <p:sp>
        <p:nvSpPr>
          <p:cNvPr id="18" name="Text 16"/>
          <p:cNvSpPr/>
          <p:nvPr/>
        </p:nvSpPr>
        <p:spPr>
          <a:xfrm>
            <a:off x="594360" y="1316736"/>
            <a:ext cx="6492240" cy="749808"/>
          </a:xfrm>
          <a:prstGeom prst="rect">
            <a:avLst/>
          </a:prstGeom>
          <a:noFill/>
          <a:ln/>
        </p:spPr>
        <p:txBody>
          <a:bodyPr wrap="square" lIns="0" tIns="0" rIns="0" bIns="0" rtlCol="0" anchor="ctr">
            <a:normAutofit/>
          </a:bodyPr>
          <a:lstStyle/>
          <a:p>
            <a:pPr indent="0" marL="0">
              <a:buNone/>
            </a:pPr>
            <a:r>
              <a:rPr lang="en-US" sz="5700" b="1" spc="-170" kern="0" dirty="0">
                <a:solidFill>
                  <a:srgbClr val="D5EDAE"/>
                </a:solidFill>
                <a:latin typeface="Arial" pitchFamily="34" charset="0"/>
                <a:ea typeface="Arial" pitchFamily="34" charset="-122"/>
                <a:cs typeface="Arial" pitchFamily="34" charset="-120"/>
              </a:rPr>
              <a:t>EntraGuard</a:t>
            </a:r>
            <a:endParaRPr lang="en-US" sz="5700" dirty="0"/>
          </a:p>
        </p:txBody>
      </p:sp>
      <p:sp>
        <p:nvSpPr>
          <p:cNvPr id="19" name="Text 17"/>
          <p:cNvSpPr/>
          <p:nvPr/>
        </p:nvSpPr>
        <p:spPr>
          <a:xfrm>
            <a:off x="621792" y="2350008"/>
            <a:ext cx="6400800" cy="1508760"/>
          </a:xfrm>
          <a:prstGeom prst="rect">
            <a:avLst/>
          </a:prstGeom>
          <a:noFill/>
          <a:ln/>
        </p:spPr>
        <p:txBody>
          <a:bodyPr wrap="square" lIns="0" tIns="0" rIns="0" bIns="0" rtlCol="0" anchor="ctr">
            <a:normAutofit/>
          </a:bodyPr>
          <a:lstStyle/>
          <a:p>
            <a:pPr indent="0" marL="0">
              <a:buNone/>
            </a:pPr>
            <a:r>
              <a:rPr lang="en-US" sz="3200" b="1" spc="-70" kern="0" dirty="0">
                <a:solidFill>
                  <a:srgbClr val="FFFFFF"/>
                </a:solidFill>
                <a:latin typeface="Arial" pitchFamily="34" charset="0"/>
                <a:ea typeface="Arial" pitchFamily="34" charset="-122"/>
                <a:cs typeface="Arial" pitchFamily="34" charset="-120"/>
              </a:rPr>
              <a:t>The code can be right.</a:t>
            </a:r>
            <a:endParaRPr lang="en-US" sz="3200" dirty="0"/>
          </a:p>
          <a:p>
            <a:pPr indent="0" marL="0">
              <a:buNone/>
            </a:pPr>
            <a:r>
              <a:rPr lang="en-US" sz="3200" b="1" spc="-70" kern="0" dirty="0">
                <a:solidFill>
                  <a:srgbClr val="FFFFFF"/>
                </a:solidFill>
                <a:latin typeface="Arial" pitchFamily="34" charset="0"/>
                <a:ea typeface="Arial" pitchFamily="34" charset="-122"/>
                <a:cs typeface="Arial" pitchFamily="34" charset="-120"/>
              </a:rPr>
              <a:t>The situation can be wrong.</a:t>
            </a:r>
            <a:endParaRPr lang="en-US" sz="3200" dirty="0"/>
          </a:p>
        </p:txBody>
      </p:sp>
      <p:sp>
        <p:nvSpPr>
          <p:cNvPr id="20" name="Text 18"/>
          <p:cNvSpPr/>
          <p:nvPr/>
        </p:nvSpPr>
        <p:spPr>
          <a:xfrm>
            <a:off x="640080" y="4297680"/>
            <a:ext cx="6217920" cy="804672"/>
          </a:xfrm>
          <a:prstGeom prst="rect">
            <a:avLst/>
          </a:prstGeom>
          <a:noFill/>
          <a:ln/>
        </p:spPr>
        <p:txBody>
          <a:bodyPr wrap="square" lIns="0" tIns="0" rIns="0" bIns="0" rtlCol="0" anchor="ctr">
            <a:normAutofit/>
          </a:bodyPr>
          <a:lstStyle/>
          <a:p>
            <a:pPr indent="0" marL="0">
              <a:buNone/>
            </a:pPr>
            <a:r>
              <a:rPr lang="en-US" sz="2200" dirty="0">
                <a:solidFill>
                  <a:srgbClr val="B4C8BE"/>
                </a:solidFill>
                <a:latin typeface="Arial" pitchFamily="34" charset="0"/>
                <a:ea typeface="Arial" pitchFamily="34" charset="-122"/>
                <a:cs typeface="Arial" pitchFamily="34" charset="-120"/>
              </a:rPr>
              <a:t>Voice-aware identity verification</a:t>
            </a:r>
            <a:endParaRPr lang="en-US" sz="2200" dirty="0"/>
          </a:p>
          <a:p>
            <a:pPr indent="0" marL="0">
              <a:buNone/>
            </a:pPr>
            <a:r>
              <a:rPr lang="en-US" sz="2200" dirty="0">
                <a:solidFill>
                  <a:srgbClr val="B4C8BE"/>
                </a:solidFill>
                <a:latin typeface="Arial" pitchFamily="34" charset="0"/>
                <a:ea typeface="Arial" pitchFamily="34" charset="-122"/>
                <a:cs typeface="Arial" pitchFamily="34" charset="-120"/>
              </a:rPr>
              <a:t>for Microsoft Entra ID.</a:t>
            </a:r>
            <a:endParaRPr lang="en-US" sz="2200" dirty="0"/>
          </a:p>
        </p:txBody>
      </p:sp>
      <p:sp>
        <p:nvSpPr>
          <p:cNvPr id="21" name="Text 19"/>
          <p:cNvSpPr/>
          <p:nvPr/>
        </p:nvSpPr>
        <p:spPr>
          <a:xfrm>
            <a:off x="640080" y="5751576"/>
            <a:ext cx="6309360" cy="292608"/>
          </a:xfrm>
          <a:prstGeom prst="rect">
            <a:avLst/>
          </a:prstGeom>
          <a:noFill/>
          <a:ln/>
        </p:spPr>
        <p:txBody>
          <a:bodyPr wrap="square" lIns="0" tIns="0" rIns="0" bIns="0" rtlCol="0" anchor="ctr">
            <a:normAutofit/>
          </a:bodyPr>
          <a:lstStyle/>
          <a:p>
            <a:pPr indent="0" marL="0">
              <a:buNone/>
            </a:pPr>
            <a:r>
              <a:rPr lang="en-US" sz="1100" b="1" spc="160" kern="0" dirty="0">
                <a:solidFill>
                  <a:srgbClr val="D5EDAE"/>
                </a:solidFill>
                <a:latin typeface="Arial" pitchFamily="34" charset="0"/>
                <a:ea typeface="Arial" pitchFamily="34" charset="-122"/>
                <a:cs typeface="Arial" pitchFamily="34" charset="-120"/>
              </a:rPr>
              <a:t>VERIFY THE PERSON. ASSESS THE PRESSURE.</a:t>
            </a:r>
            <a:endParaRPr lang="en-US" sz="1100" dirty="0"/>
          </a:p>
        </p:txBody>
      </p:sp>
      <p:sp>
        <p:nvSpPr>
          <p:cNvPr id="22" name="Shape 20"/>
          <p:cNvSpPr/>
          <p:nvPr/>
        </p:nvSpPr>
        <p:spPr>
          <a:xfrm>
            <a:off x="7424928" y="1362456"/>
            <a:ext cx="4151376" cy="4663440"/>
          </a:xfrm>
          <a:prstGeom prst="roundRect">
            <a:avLst/>
          </a:prstGeom>
          <a:solidFill>
            <a:srgbClr val="163A3B"/>
          </a:solidFill>
          <a:ln w="10160">
            <a:solidFill>
              <a:srgbClr val="36554E"/>
            </a:solidFill>
            <a:prstDash val="solid"/>
          </a:ln>
        </p:spPr>
      </p:sp>
      <p:sp>
        <p:nvSpPr>
          <p:cNvPr id="23" name="Text 21"/>
          <p:cNvSpPr/>
          <p:nvPr/>
        </p:nvSpPr>
        <p:spPr>
          <a:xfrm>
            <a:off x="7790688" y="1737360"/>
            <a:ext cx="3419856" cy="274320"/>
          </a:xfrm>
          <a:prstGeom prst="rect">
            <a:avLst/>
          </a:prstGeom>
          <a:noFill/>
          <a:ln/>
        </p:spPr>
        <p:txBody>
          <a:bodyPr wrap="square" lIns="0" tIns="0" rIns="0" bIns="0" rtlCol="0" anchor="ctr">
            <a:normAutofit/>
          </a:bodyPr>
          <a:lstStyle/>
          <a:p>
            <a:pPr algn="ctr" indent="0" marL="0">
              <a:buNone/>
            </a:pPr>
            <a:r>
              <a:rPr lang="en-US" sz="1100" spc="180" kern="0" dirty="0">
                <a:solidFill>
                  <a:srgbClr val="B4C8BE"/>
                </a:solidFill>
                <a:latin typeface="Arial" pitchFamily="34" charset="0"/>
                <a:ea typeface="Arial" pitchFamily="34" charset="-122"/>
                <a:cs typeface="Arial" pitchFamily="34" charset="-120"/>
              </a:rPr>
              <a:t>A VALID CREDENTIAL</a:t>
            </a:r>
            <a:endParaRPr lang="en-US" sz="1100" dirty="0"/>
          </a:p>
        </p:txBody>
      </p:sp>
      <p:sp>
        <p:nvSpPr>
          <p:cNvPr id="24" name="Shape 22"/>
          <p:cNvSpPr/>
          <p:nvPr/>
        </p:nvSpPr>
        <p:spPr>
          <a:xfrm>
            <a:off x="7918704" y="2304288"/>
            <a:ext cx="3163824" cy="1371600"/>
          </a:xfrm>
          <a:prstGeom prst="roundRect">
            <a:avLst/>
          </a:prstGeom>
          <a:solidFill>
            <a:srgbClr val="F5F6F0"/>
          </a:solidFill>
          <a:ln w="10160">
            <a:solidFill>
              <a:srgbClr val="F5F6F0"/>
            </a:solidFill>
            <a:prstDash val="solid"/>
          </a:ln>
        </p:spPr>
      </p:sp>
      <p:sp>
        <p:nvSpPr>
          <p:cNvPr id="25" name="Text 23"/>
          <p:cNvSpPr/>
          <p:nvPr/>
        </p:nvSpPr>
        <p:spPr>
          <a:xfrm>
            <a:off x="8266176" y="2496312"/>
            <a:ext cx="2468880" cy="182880"/>
          </a:xfrm>
          <a:prstGeom prst="rect">
            <a:avLst/>
          </a:prstGeom>
          <a:noFill/>
          <a:ln/>
        </p:spPr>
        <p:txBody>
          <a:bodyPr wrap="square" lIns="0" tIns="0" rIns="0" bIns="0" rtlCol="0" anchor="ctr">
            <a:normAutofit/>
          </a:bodyPr>
          <a:lstStyle/>
          <a:p>
            <a:pPr algn="ctr" indent="0" marL="0">
              <a:buNone/>
            </a:pPr>
            <a:r>
              <a:rPr lang="en-US" sz="900" spc="180" kern="0" dirty="0">
                <a:solidFill>
                  <a:srgbClr val="566D62"/>
                </a:solidFill>
                <a:latin typeface="Arial" pitchFamily="34" charset="0"/>
                <a:ea typeface="Arial" pitchFamily="34" charset="-122"/>
                <a:cs typeface="Arial" pitchFamily="34" charset="-120"/>
              </a:rPr>
              <a:t>NUMBER MATCH</a:t>
            </a:r>
            <a:endParaRPr lang="en-US" sz="900" dirty="0"/>
          </a:p>
        </p:txBody>
      </p:sp>
      <p:sp>
        <p:nvSpPr>
          <p:cNvPr id="26" name="Text 24"/>
          <p:cNvSpPr/>
          <p:nvPr/>
        </p:nvSpPr>
        <p:spPr>
          <a:xfrm>
            <a:off x="8302752" y="2715768"/>
            <a:ext cx="2386584" cy="822960"/>
          </a:xfrm>
          <a:prstGeom prst="rect">
            <a:avLst/>
          </a:prstGeom>
          <a:noFill/>
          <a:ln/>
        </p:spPr>
        <p:txBody>
          <a:bodyPr wrap="square" lIns="0" tIns="0" rIns="0" bIns="0" rtlCol="0" anchor="ctr">
            <a:normAutofit/>
          </a:bodyPr>
          <a:lstStyle/>
          <a:p>
            <a:pPr algn="ctr" indent="0" marL="0">
              <a:buNone/>
            </a:pPr>
            <a:r>
              <a:rPr lang="en-US" sz="6500" b="1" spc="600" kern="0" dirty="0">
                <a:solidFill>
                  <a:srgbClr val="17382F"/>
                </a:solidFill>
                <a:latin typeface="Arial" pitchFamily="34" charset="0"/>
                <a:ea typeface="Arial" pitchFamily="34" charset="-122"/>
                <a:cs typeface="Arial" pitchFamily="34" charset="-120"/>
              </a:rPr>
              <a:t>47</a:t>
            </a:r>
            <a:endParaRPr lang="en-US" sz="6500" dirty="0"/>
          </a:p>
        </p:txBody>
      </p:sp>
      <p:sp>
        <p:nvSpPr>
          <p:cNvPr id="27" name="Text 25"/>
          <p:cNvSpPr/>
          <p:nvPr/>
        </p:nvSpPr>
        <p:spPr>
          <a:xfrm>
            <a:off x="7790688" y="3922776"/>
            <a:ext cx="3419856" cy="201168"/>
          </a:xfrm>
          <a:prstGeom prst="rect">
            <a:avLst/>
          </a:prstGeom>
          <a:noFill/>
          <a:ln/>
        </p:spPr>
        <p:txBody>
          <a:bodyPr wrap="square" lIns="0" tIns="0" rIns="0" bIns="0" rtlCol="0" anchor="ctr">
            <a:normAutofit/>
          </a:bodyPr>
          <a:lstStyle/>
          <a:p>
            <a:pPr algn="ctr" indent="0" marL="0">
              <a:buNone/>
            </a:pPr>
            <a:r>
              <a:rPr lang="en-US" sz="1050" spc="130" kern="0" dirty="0">
                <a:solidFill>
                  <a:srgbClr val="FFD0B8"/>
                </a:solidFill>
                <a:latin typeface="Arial" pitchFamily="34" charset="0"/>
                <a:ea typeface="Arial" pitchFamily="34" charset="-122"/>
                <a:cs typeface="Arial" pitchFamily="34" charset="-120"/>
              </a:rPr>
              <a:t>AN UNSAFE CONVERSATION</a:t>
            </a:r>
            <a:endParaRPr lang="en-US" sz="1050" dirty="0"/>
          </a:p>
        </p:txBody>
      </p:sp>
      <p:sp>
        <p:nvSpPr>
          <p:cNvPr id="28" name="Shape 26"/>
          <p:cNvSpPr/>
          <p:nvPr/>
        </p:nvSpPr>
        <p:spPr>
          <a:xfrm>
            <a:off x="7763256" y="4370832"/>
            <a:ext cx="3465576" cy="886968"/>
          </a:xfrm>
          <a:prstGeom prst="roundRect">
            <a:avLst/>
          </a:prstGeom>
          <a:solidFill>
            <a:srgbClr val="523D36"/>
          </a:solidFill>
          <a:ln w="10160">
            <a:solidFill>
              <a:srgbClr val="523D36"/>
            </a:solidFill>
            <a:prstDash val="solid"/>
          </a:ln>
        </p:spPr>
      </p:sp>
      <p:sp>
        <p:nvSpPr>
          <p:cNvPr id="29" name="Text 27"/>
          <p:cNvSpPr/>
          <p:nvPr/>
        </p:nvSpPr>
        <p:spPr>
          <a:xfrm>
            <a:off x="7973568" y="4535424"/>
            <a:ext cx="3054096" cy="539496"/>
          </a:xfrm>
          <a:prstGeom prst="rect">
            <a:avLst/>
          </a:prstGeom>
          <a:noFill/>
          <a:ln/>
        </p:spPr>
        <p:txBody>
          <a:bodyPr wrap="square" lIns="0" tIns="0" rIns="0" bIns="0" rtlCol="0" anchor="ctr">
            <a:normAutofit/>
          </a:bodyPr>
          <a:lstStyle/>
          <a:p>
            <a:pPr algn="ctr" indent="0" marL="0">
              <a:buNone/>
            </a:pPr>
            <a:r>
              <a:rPr lang="en-US" sz="1900" i="1" dirty="0">
                <a:solidFill>
                  <a:srgbClr val="FFFFFF"/>
                </a:solidFill>
                <a:latin typeface="Arial" pitchFamily="34" charset="0"/>
                <a:ea typeface="Arial" pitchFamily="34" charset="-122"/>
                <a:cs typeface="Arial" pitchFamily="34" charset="-120"/>
              </a:rPr>
              <a:t>“Just enter the number.</a:t>
            </a:r>
            <a:endParaRPr lang="en-US" sz="1900" dirty="0"/>
          </a:p>
          <a:p>
            <a:pPr algn="ctr" indent="0" marL="0">
              <a:buNone/>
            </a:pPr>
            <a:r>
              <a:rPr lang="en-US" sz="1900" i="1" dirty="0">
                <a:solidFill>
                  <a:srgbClr val="FFFFFF"/>
                </a:solidFill>
                <a:latin typeface="Arial" pitchFamily="34" charset="0"/>
                <a:ea typeface="Arial" pitchFamily="34" charset="-122"/>
                <a:cs typeface="Arial" pitchFamily="34" charset="-120"/>
              </a:rPr>
              <a:t>I’ll stay on the line.”</a:t>
            </a:r>
            <a:endParaRPr lang="en-US" sz="1900" dirty="0"/>
          </a:p>
        </p:txBody>
      </p:sp>
      <p:sp>
        <p:nvSpPr>
          <p:cNvPr id="30" name="Text 28"/>
          <p:cNvSpPr/>
          <p:nvPr/>
        </p:nvSpPr>
        <p:spPr>
          <a:xfrm>
            <a:off x="7735824" y="5486400"/>
            <a:ext cx="3520440" cy="274320"/>
          </a:xfrm>
          <a:prstGeom prst="rect">
            <a:avLst/>
          </a:prstGeom>
          <a:noFill/>
          <a:ln/>
        </p:spPr>
        <p:txBody>
          <a:bodyPr wrap="square" lIns="0" tIns="0" rIns="0" bIns="0" rtlCol="0" anchor="ctr">
            <a:normAutofit/>
          </a:bodyPr>
          <a:lstStyle/>
          <a:p>
            <a:pPr algn="ctr" indent="0" marL="0">
              <a:buNone/>
            </a:pPr>
            <a:r>
              <a:rPr lang="en-US" sz="1600" b="1" dirty="0">
                <a:solidFill>
                  <a:srgbClr val="D5EDAE"/>
                </a:solidFill>
                <a:latin typeface="Arial" pitchFamily="34" charset="0"/>
                <a:ea typeface="Arial" pitchFamily="34" charset="-122"/>
                <a:cs typeface="Arial" pitchFamily="34" charset="-120"/>
              </a:rPr>
              <a:t>Correct code ≠ trusted intent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0"/>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17382F"/>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17382F"/>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17382F"/>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17382F"/>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17382F"/>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17382F"/>
            </a:solidFill>
            <a:prstDash val="solid"/>
            <a:headEnd type="none"/>
            <a:tailEnd type="none"/>
          </a:ln>
        </p:spPr>
      </p:sp>
      <p:sp>
        <p:nvSpPr>
          <p:cNvPr id="8" name="Shape 6"/>
          <p:cNvSpPr/>
          <p:nvPr/>
        </p:nvSpPr>
        <p:spPr>
          <a:xfrm>
            <a:off x="654345" y="394335"/>
            <a:ext cx="8641" cy="61722"/>
          </a:xfrm>
          <a:prstGeom prst="rect">
            <a:avLst/>
          </a:prstGeom>
          <a:solidFill>
            <a:srgbClr val="17382F"/>
          </a:solidFill>
          <a:ln w="10160">
            <a:solidFill>
              <a:srgbClr val="17382F"/>
            </a:solidFill>
            <a:prstDash val="solid"/>
          </a:ln>
        </p:spPr>
      </p:sp>
      <p:sp>
        <p:nvSpPr>
          <p:cNvPr id="9" name="Shape 7"/>
          <p:cNvSpPr/>
          <p:nvPr/>
        </p:nvSpPr>
        <p:spPr>
          <a:xfrm>
            <a:off x="676565" y="372115"/>
            <a:ext cx="8641" cy="106162"/>
          </a:xfrm>
          <a:prstGeom prst="rect">
            <a:avLst/>
          </a:prstGeom>
          <a:solidFill>
            <a:srgbClr val="17382F"/>
          </a:solidFill>
          <a:ln w="10160">
            <a:solidFill>
              <a:srgbClr val="17382F"/>
            </a:solidFill>
            <a:prstDash val="solid"/>
          </a:ln>
        </p:spPr>
      </p:sp>
      <p:sp>
        <p:nvSpPr>
          <p:cNvPr id="10" name="Shape 8"/>
          <p:cNvSpPr/>
          <p:nvPr/>
        </p:nvSpPr>
        <p:spPr>
          <a:xfrm>
            <a:off x="698784" y="351130"/>
            <a:ext cx="8641" cy="148133"/>
          </a:xfrm>
          <a:prstGeom prst="rect">
            <a:avLst/>
          </a:prstGeom>
          <a:solidFill>
            <a:srgbClr val="17382F"/>
          </a:solidFill>
          <a:ln w="10160">
            <a:solidFill>
              <a:srgbClr val="17382F"/>
            </a:solidFill>
            <a:prstDash val="solid"/>
          </a:ln>
        </p:spPr>
      </p:sp>
      <p:sp>
        <p:nvSpPr>
          <p:cNvPr id="11" name="Shape 9"/>
          <p:cNvSpPr/>
          <p:nvPr/>
        </p:nvSpPr>
        <p:spPr>
          <a:xfrm>
            <a:off x="721004" y="375818"/>
            <a:ext cx="8641" cy="98755"/>
          </a:xfrm>
          <a:prstGeom prst="rect">
            <a:avLst/>
          </a:prstGeom>
          <a:solidFill>
            <a:srgbClr val="17382F"/>
          </a:solidFill>
          <a:ln w="10160">
            <a:solidFill>
              <a:srgbClr val="17382F"/>
            </a:solidFill>
            <a:prstDash val="solid"/>
          </a:ln>
        </p:spPr>
      </p:sp>
      <p:sp>
        <p:nvSpPr>
          <p:cNvPr id="12" name="Shape 10"/>
          <p:cNvSpPr/>
          <p:nvPr/>
        </p:nvSpPr>
        <p:spPr>
          <a:xfrm>
            <a:off x="743224" y="398038"/>
            <a:ext cx="8641" cy="54315"/>
          </a:xfrm>
          <a:prstGeom prst="rect">
            <a:avLst/>
          </a:prstGeom>
          <a:solidFill>
            <a:srgbClr val="17382F"/>
          </a:solidFill>
          <a:ln w="10160">
            <a:solidFill>
              <a:srgbClr val="17382F"/>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17382F"/>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566D62"/>
                </a:solidFill>
                <a:latin typeface="Arial" pitchFamily="34" charset="0"/>
                <a:ea typeface="Arial" pitchFamily="34" charset="-122"/>
                <a:cs typeface="Arial" pitchFamily="34" charset="-120"/>
              </a:rPr>
              <a:t>02  /  WHAT WE SOLVE</a:t>
            </a:r>
            <a:endParaRPr lang="en-US" sz="950" dirty="0"/>
          </a:p>
        </p:txBody>
      </p:sp>
      <p:sp>
        <p:nvSpPr>
          <p:cNvPr id="15" name="Shape 13"/>
          <p:cNvSpPr/>
          <p:nvPr/>
        </p:nvSpPr>
        <p:spPr>
          <a:xfrm>
            <a:off x="594360" y="6446520"/>
            <a:ext cx="11000232" cy="0"/>
          </a:xfrm>
          <a:prstGeom prst="line">
            <a:avLst/>
          </a:prstGeom>
          <a:noFill/>
          <a:ln w="8890">
            <a:solidFill>
              <a:srgbClr val="DCE4D6"/>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566D62"/>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566D62"/>
                </a:solidFill>
                <a:latin typeface="Arial" pitchFamily="34" charset="0"/>
                <a:ea typeface="Arial" pitchFamily="34" charset="-122"/>
                <a:cs typeface="Arial" pitchFamily="34" charset="-120"/>
              </a:rPr>
              <a:t>02 / 06</a:t>
            </a:r>
            <a:endParaRPr lang="en-US" sz="900" dirty="0"/>
          </a:p>
        </p:txBody>
      </p:sp>
      <p:sp>
        <p:nvSpPr>
          <p:cNvPr id="18" name="Text 16"/>
          <p:cNvSpPr/>
          <p:nvPr/>
        </p:nvSpPr>
        <p:spPr>
          <a:xfrm>
            <a:off x="594360" y="960120"/>
            <a:ext cx="10881360" cy="1161288"/>
          </a:xfrm>
          <a:prstGeom prst="rect">
            <a:avLst/>
          </a:prstGeom>
          <a:noFill/>
          <a:ln/>
        </p:spPr>
        <p:txBody>
          <a:bodyPr wrap="square" lIns="0" tIns="0" rIns="0" bIns="0" rtlCol="0" anchor="ctr">
            <a:normAutofit/>
          </a:bodyPr>
          <a:lstStyle/>
          <a:p>
            <a:pPr indent="0" marL="0">
              <a:buNone/>
            </a:pPr>
            <a:r>
              <a:rPr lang="en-US" sz="4200" b="1" spc="-120" kern="0" dirty="0">
                <a:solidFill>
                  <a:srgbClr val="17382F"/>
                </a:solidFill>
                <a:latin typeface="Arial" pitchFamily="34" charset="0"/>
                <a:ea typeface="Arial" pitchFamily="34" charset="-122"/>
                <a:cs typeface="Arial" pitchFamily="34" charset="-120"/>
              </a:rPr>
              <a:t>A valid sign-in can hide</a:t>
            </a:r>
            <a:endParaRPr lang="en-US" sz="4200" dirty="0"/>
          </a:p>
          <a:p>
            <a:pPr indent="0" marL="0">
              <a:buNone/>
            </a:pPr>
            <a:r>
              <a:rPr lang="en-US" sz="4200" b="1" spc="-120" kern="0" dirty="0">
                <a:solidFill>
                  <a:srgbClr val="17382F"/>
                </a:solidFill>
                <a:latin typeface="Arial" pitchFamily="34" charset="0"/>
                <a:ea typeface="Arial" pitchFamily="34" charset="-122"/>
                <a:cs typeface="Arial" pitchFamily="34" charset="-120"/>
              </a:rPr>
              <a:t>an unsafe conversation.</a:t>
            </a:r>
            <a:endParaRPr lang="en-US" sz="4200" dirty="0"/>
          </a:p>
        </p:txBody>
      </p:sp>
      <p:sp>
        <p:nvSpPr>
          <p:cNvPr id="19" name="Text 17"/>
          <p:cNvSpPr/>
          <p:nvPr/>
        </p:nvSpPr>
        <p:spPr>
          <a:xfrm>
            <a:off x="621792" y="2295144"/>
            <a:ext cx="10698480" cy="420624"/>
          </a:xfrm>
          <a:prstGeom prst="rect">
            <a:avLst/>
          </a:prstGeom>
          <a:noFill/>
          <a:ln/>
        </p:spPr>
        <p:txBody>
          <a:bodyPr wrap="square" lIns="0" tIns="0" rIns="0" bIns="0" rtlCol="0" anchor="ctr">
            <a:normAutofit/>
          </a:bodyPr>
          <a:lstStyle/>
          <a:p>
            <a:pPr indent="0" marL="0">
              <a:buNone/>
            </a:pPr>
            <a:r>
              <a:rPr lang="en-US" sz="1900" dirty="0">
                <a:solidFill>
                  <a:srgbClr val="566D62"/>
                </a:solidFill>
                <a:latin typeface="Arial" pitchFamily="34" charset="0"/>
                <a:ea typeface="Arial" pitchFamily="34" charset="-122"/>
                <a:cs typeface="Arial" pitchFamily="34" charset="-120"/>
              </a:rPr>
              <a:t>Social engineering can turn legitimate authentication into an attacker’s advantage.</a:t>
            </a:r>
            <a:endParaRPr lang="en-US" sz="1900" dirty="0"/>
          </a:p>
        </p:txBody>
      </p:sp>
      <p:sp>
        <p:nvSpPr>
          <p:cNvPr id="20" name="Shape 18"/>
          <p:cNvSpPr/>
          <p:nvPr/>
        </p:nvSpPr>
        <p:spPr>
          <a:xfrm>
            <a:off x="594360" y="3017520"/>
            <a:ext cx="3520440" cy="2304288"/>
          </a:xfrm>
          <a:prstGeom prst="roundRect">
            <a:avLst/>
          </a:prstGeom>
          <a:solidFill>
            <a:srgbClr val="FFFFFF"/>
          </a:solidFill>
          <a:ln w="10160">
            <a:solidFill>
              <a:srgbClr val="DCE4D6"/>
            </a:solidFill>
            <a:prstDash val="solid"/>
          </a:ln>
        </p:spPr>
      </p:sp>
      <p:sp>
        <p:nvSpPr>
          <p:cNvPr id="21" name="Text 19"/>
          <p:cNvSpPr/>
          <p:nvPr/>
        </p:nvSpPr>
        <p:spPr>
          <a:xfrm>
            <a:off x="841248" y="3255264"/>
            <a:ext cx="548640" cy="274320"/>
          </a:xfrm>
          <a:prstGeom prst="rect">
            <a:avLst/>
          </a:prstGeom>
          <a:noFill/>
          <a:ln/>
        </p:spPr>
        <p:txBody>
          <a:bodyPr wrap="square" lIns="0" tIns="0" rIns="0" bIns="0" rtlCol="0" anchor="ctr">
            <a:normAutofit/>
          </a:bodyPr>
          <a:lstStyle/>
          <a:p>
            <a:pPr indent="0" marL="0">
              <a:buNone/>
            </a:pPr>
            <a:r>
              <a:rPr lang="en-US" sz="1200" b="1" spc="130" kern="0" dirty="0">
                <a:solidFill>
                  <a:srgbClr val="566D62"/>
                </a:solidFill>
                <a:latin typeface="Arial" pitchFamily="34" charset="0"/>
                <a:ea typeface="Arial" pitchFamily="34" charset="-122"/>
                <a:cs typeface="Arial" pitchFamily="34" charset="-120"/>
              </a:rPr>
              <a:t>01</a:t>
            </a:r>
            <a:endParaRPr lang="en-US" sz="1200" dirty="0"/>
          </a:p>
        </p:txBody>
      </p:sp>
      <p:sp>
        <p:nvSpPr>
          <p:cNvPr id="22" name="Shape 20"/>
          <p:cNvSpPr/>
          <p:nvPr/>
        </p:nvSpPr>
        <p:spPr>
          <a:xfrm>
            <a:off x="850392" y="3657600"/>
            <a:ext cx="530352" cy="0"/>
          </a:xfrm>
          <a:prstGeom prst="line">
            <a:avLst/>
          </a:prstGeom>
          <a:noFill/>
          <a:ln w="30480">
            <a:solidFill>
              <a:srgbClr val="17382F"/>
            </a:solidFill>
            <a:prstDash val="solid"/>
            <a:headEnd type="none"/>
            <a:tailEnd type="none"/>
          </a:ln>
        </p:spPr>
      </p:sp>
      <p:sp>
        <p:nvSpPr>
          <p:cNvPr id="23" name="Text 21"/>
          <p:cNvSpPr/>
          <p:nvPr/>
        </p:nvSpPr>
        <p:spPr>
          <a:xfrm>
            <a:off x="850392" y="3840480"/>
            <a:ext cx="3008376" cy="402336"/>
          </a:xfrm>
          <a:prstGeom prst="rect">
            <a:avLst/>
          </a:prstGeom>
          <a:noFill/>
          <a:ln/>
        </p:spPr>
        <p:txBody>
          <a:bodyPr wrap="square" lIns="0" tIns="0" rIns="0" bIns="0" rtlCol="0" anchor="ctr">
            <a:normAutofit/>
          </a:bodyPr>
          <a:lstStyle/>
          <a:p>
            <a:pPr indent="0" marL="0">
              <a:buNone/>
            </a:pPr>
            <a:r>
              <a:rPr lang="en-US" sz="2400" b="1" spc="-50" kern="0" dirty="0">
                <a:solidFill>
                  <a:srgbClr val="17382F"/>
                </a:solidFill>
                <a:latin typeface="Arial" pitchFamily="34" charset="0"/>
                <a:ea typeface="Arial" pitchFamily="34" charset="-122"/>
                <a:cs typeface="Arial" pitchFamily="34" charset="-120"/>
              </a:rPr>
              <a:t>Impersonation</a:t>
            </a:r>
            <a:endParaRPr lang="en-US" sz="2400" dirty="0"/>
          </a:p>
        </p:txBody>
      </p:sp>
      <p:sp>
        <p:nvSpPr>
          <p:cNvPr id="24" name="Text 22"/>
          <p:cNvSpPr/>
          <p:nvPr/>
        </p:nvSpPr>
        <p:spPr>
          <a:xfrm>
            <a:off x="850392" y="4553712"/>
            <a:ext cx="3008376" cy="356616"/>
          </a:xfrm>
          <a:prstGeom prst="rect">
            <a:avLst/>
          </a:prstGeom>
          <a:noFill/>
          <a:ln/>
        </p:spPr>
        <p:txBody>
          <a:bodyPr wrap="square" lIns="0" tIns="0" rIns="0" bIns="0" rtlCol="0" anchor="ctr">
            <a:normAutofit/>
          </a:bodyPr>
          <a:lstStyle/>
          <a:p>
            <a:pPr indent="0" marL="0">
              <a:buNone/>
            </a:pPr>
            <a:r>
              <a:rPr lang="en-US" sz="1700" dirty="0">
                <a:solidFill>
                  <a:srgbClr val="17382F"/>
                </a:solidFill>
                <a:latin typeface="Arial" pitchFamily="34" charset="0"/>
                <a:ea typeface="Arial" pitchFamily="34" charset="-122"/>
                <a:cs typeface="Arial" pitchFamily="34" charset="-120"/>
              </a:rPr>
              <a:t>“I’m from your IT team.”</a:t>
            </a:r>
            <a:endParaRPr lang="en-US" sz="1700" dirty="0"/>
          </a:p>
        </p:txBody>
      </p:sp>
      <p:sp>
        <p:nvSpPr>
          <p:cNvPr id="25" name="Text 23"/>
          <p:cNvSpPr/>
          <p:nvPr/>
        </p:nvSpPr>
        <p:spPr>
          <a:xfrm>
            <a:off x="850392" y="5029200"/>
            <a:ext cx="3008376" cy="182880"/>
          </a:xfrm>
          <a:prstGeom prst="rect">
            <a:avLst/>
          </a:prstGeom>
          <a:noFill/>
          <a:ln/>
        </p:spPr>
        <p:txBody>
          <a:bodyPr wrap="square" lIns="0" tIns="0" rIns="0" bIns="0" rtlCol="0" anchor="ctr">
            <a:normAutofit/>
          </a:bodyPr>
          <a:lstStyle/>
          <a:p>
            <a:pPr indent="0" marL="0">
              <a:buNone/>
            </a:pPr>
            <a:r>
              <a:rPr lang="en-US" sz="1250" dirty="0">
                <a:solidFill>
                  <a:srgbClr val="566D62"/>
                </a:solidFill>
                <a:latin typeface="Arial" pitchFamily="34" charset="0"/>
                <a:ea typeface="Arial" pitchFamily="34" charset="-122"/>
                <a:cs typeface="Arial" pitchFamily="34" charset="-120"/>
              </a:rPr>
              <a:t>Authority becomes pressure.</a:t>
            </a:r>
            <a:endParaRPr lang="en-US" sz="1250" dirty="0"/>
          </a:p>
        </p:txBody>
      </p:sp>
      <p:sp>
        <p:nvSpPr>
          <p:cNvPr id="26" name="Shape 24"/>
          <p:cNvSpPr/>
          <p:nvPr/>
        </p:nvSpPr>
        <p:spPr>
          <a:xfrm>
            <a:off x="4334256" y="3017520"/>
            <a:ext cx="3520440" cy="2304288"/>
          </a:xfrm>
          <a:prstGeom prst="roundRect">
            <a:avLst/>
          </a:prstGeom>
          <a:solidFill>
            <a:srgbClr val="FFFFFF"/>
          </a:solidFill>
          <a:ln w="10160">
            <a:solidFill>
              <a:srgbClr val="DCE4D6"/>
            </a:solidFill>
            <a:prstDash val="solid"/>
          </a:ln>
        </p:spPr>
      </p:sp>
      <p:sp>
        <p:nvSpPr>
          <p:cNvPr id="27" name="Text 25"/>
          <p:cNvSpPr/>
          <p:nvPr/>
        </p:nvSpPr>
        <p:spPr>
          <a:xfrm>
            <a:off x="4581144" y="3255264"/>
            <a:ext cx="548640" cy="274320"/>
          </a:xfrm>
          <a:prstGeom prst="rect">
            <a:avLst/>
          </a:prstGeom>
          <a:noFill/>
          <a:ln/>
        </p:spPr>
        <p:txBody>
          <a:bodyPr wrap="square" lIns="0" tIns="0" rIns="0" bIns="0" rtlCol="0" anchor="ctr">
            <a:normAutofit/>
          </a:bodyPr>
          <a:lstStyle/>
          <a:p>
            <a:pPr indent="0" marL="0">
              <a:buNone/>
            </a:pPr>
            <a:r>
              <a:rPr lang="en-US" sz="1200" b="1" spc="130" kern="0" dirty="0">
                <a:solidFill>
                  <a:srgbClr val="566D62"/>
                </a:solidFill>
                <a:latin typeface="Arial" pitchFamily="34" charset="0"/>
                <a:ea typeface="Arial" pitchFamily="34" charset="-122"/>
                <a:cs typeface="Arial" pitchFamily="34" charset="-120"/>
              </a:rPr>
              <a:t>02</a:t>
            </a:r>
            <a:endParaRPr lang="en-US" sz="1200" dirty="0"/>
          </a:p>
        </p:txBody>
      </p:sp>
      <p:sp>
        <p:nvSpPr>
          <p:cNvPr id="28" name="Shape 26"/>
          <p:cNvSpPr/>
          <p:nvPr/>
        </p:nvSpPr>
        <p:spPr>
          <a:xfrm>
            <a:off x="4590288" y="3657600"/>
            <a:ext cx="530352" cy="0"/>
          </a:xfrm>
          <a:prstGeom prst="line">
            <a:avLst/>
          </a:prstGeom>
          <a:noFill/>
          <a:ln w="30480">
            <a:solidFill>
              <a:srgbClr val="17382F"/>
            </a:solidFill>
            <a:prstDash val="solid"/>
            <a:headEnd type="none"/>
            <a:tailEnd type="none"/>
          </a:ln>
        </p:spPr>
      </p:sp>
      <p:sp>
        <p:nvSpPr>
          <p:cNvPr id="29" name="Text 27"/>
          <p:cNvSpPr/>
          <p:nvPr/>
        </p:nvSpPr>
        <p:spPr>
          <a:xfrm>
            <a:off x="4590288" y="3840480"/>
            <a:ext cx="3008376" cy="402336"/>
          </a:xfrm>
          <a:prstGeom prst="rect">
            <a:avLst/>
          </a:prstGeom>
          <a:noFill/>
          <a:ln/>
        </p:spPr>
        <p:txBody>
          <a:bodyPr wrap="square" lIns="0" tIns="0" rIns="0" bIns="0" rtlCol="0" anchor="ctr">
            <a:normAutofit/>
          </a:bodyPr>
          <a:lstStyle/>
          <a:p>
            <a:pPr indent="0" marL="0">
              <a:buNone/>
            </a:pPr>
            <a:r>
              <a:rPr lang="en-US" sz="2400" b="1" spc="-50" kern="0" dirty="0">
                <a:solidFill>
                  <a:srgbClr val="17382F"/>
                </a:solidFill>
                <a:latin typeface="Arial" pitchFamily="34" charset="0"/>
                <a:ea typeface="Arial" pitchFamily="34" charset="-122"/>
                <a:cs typeface="Arial" pitchFamily="34" charset="-120"/>
              </a:rPr>
              <a:t>MFA coaching</a:t>
            </a:r>
            <a:endParaRPr lang="en-US" sz="2400" dirty="0"/>
          </a:p>
        </p:txBody>
      </p:sp>
      <p:sp>
        <p:nvSpPr>
          <p:cNvPr id="30" name="Text 28"/>
          <p:cNvSpPr/>
          <p:nvPr/>
        </p:nvSpPr>
        <p:spPr>
          <a:xfrm>
            <a:off x="4590288" y="4553712"/>
            <a:ext cx="3008376" cy="356616"/>
          </a:xfrm>
          <a:prstGeom prst="rect">
            <a:avLst/>
          </a:prstGeom>
          <a:noFill/>
          <a:ln/>
        </p:spPr>
        <p:txBody>
          <a:bodyPr wrap="square" lIns="0" tIns="0" rIns="0" bIns="0" rtlCol="0" anchor="ctr">
            <a:normAutofit/>
          </a:bodyPr>
          <a:lstStyle/>
          <a:p>
            <a:pPr indent="0" marL="0">
              <a:buNone/>
            </a:pPr>
            <a:r>
              <a:rPr lang="en-US" sz="1700" dirty="0">
                <a:solidFill>
                  <a:srgbClr val="17382F"/>
                </a:solidFill>
                <a:latin typeface="Arial" pitchFamily="34" charset="0"/>
                <a:ea typeface="Arial" pitchFamily="34" charset="-122"/>
                <a:cs typeface="Arial" pitchFamily="34" charset="-120"/>
              </a:rPr>
              <a:t>“Just approve the prompt.”</a:t>
            </a:r>
            <a:endParaRPr lang="en-US" sz="1700" dirty="0"/>
          </a:p>
        </p:txBody>
      </p:sp>
      <p:sp>
        <p:nvSpPr>
          <p:cNvPr id="31" name="Text 29"/>
          <p:cNvSpPr/>
          <p:nvPr/>
        </p:nvSpPr>
        <p:spPr>
          <a:xfrm>
            <a:off x="4590288" y="5029200"/>
            <a:ext cx="3008376" cy="182880"/>
          </a:xfrm>
          <a:prstGeom prst="rect">
            <a:avLst/>
          </a:prstGeom>
          <a:noFill/>
          <a:ln/>
        </p:spPr>
        <p:txBody>
          <a:bodyPr wrap="square" lIns="0" tIns="0" rIns="0" bIns="0" rtlCol="0" anchor="ctr">
            <a:normAutofit/>
          </a:bodyPr>
          <a:lstStyle/>
          <a:p>
            <a:pPr indent="0" marL="0">
              <a:buNone/>
            </a:pPr>
            <a:r>
              <a:rPr lang="en-US" sz="1250" dirty="0">
                <a:solidFill>
                  <a:srgbClr val="566D62"/>
                </a:solidFill>
                <a:latin typeface="Arial" pitchFamily="34" charset="0"/>
                <a:ea typeface="Arial" pitchFamily="34" charset="-122"/>
                <a:cs typeface="Arial" pitchFamily="34" charset="-120"/>
              </a:rPr>
              <a:t>The user follows instructions.</a:t>
            </a:r>
            <a:endParaRPr lang="en-US" sz="1250" dirty="0"/>
          </a:p>
        </p:txBody>
      </p:sp>
      <p:sp>
        <p:nvSpPr>
          <p:cNvPr id="32" name="Shape 30"/>
          <p:cNvSpPr/>
          <p:nvPr/>
        </p:nvSpPr>
        <p:spPr>
          <a:xfrm>
            <a:off x="8074152" y="3017520"/>
            <a:ext cx="3520440" cy="2304288"/>
          </a:xfrm>
          <a:prstGeom prst="roundRect">
            <a:avLst/>
          </a:prstGeom>
          <a:solidFill>
            <a:srgbClr val="FFFFFF"/>
          </a:solidFill>
          <a:ln w="10160">
            <a:solidFill>
              <a:srgbClr val="DCE4D6"/>
            </a:solidFill>
            <a:prstDash val="solid"/>
          </a:ln>
        </p:spPr>
      </p:sp>
      <p:sp>
        <p:nvSpPr>
          <p:cNvPr id="33" name="Text 31"/>
          <p:cNvSpPr/>
          <p:nvPr/>
        </p:nvSpPr>
        <p:spPr>
          <a:xfrm>
            <a:off x="8321040" y="3255264"/>
            <a:ext cx="548640" cy="274320"/>
          </a:xfrm>
          <a:prstGeom prst="rect">
            <a:avLst/>
          </a:prstGeom>
          <a:noFill/>
          <a:ln/>
        </p:spPr>
        <p:txBody>
          <a:bodyPr wrap="square" lIns="0" tIns="0" rIns="0" bIns="0" rtlCol="0" anchor="ctr">
            <a:normAutofit/>
          </a:bodyPr>
          <a:lstStyle/>
          <a:p>
            <a:pPr indent="0" marL="0">
              <a:buNone/>
            </a:pPr>
            <a:r>
              <a:rPr lang="en-US" sz="1200" b="1" spc="130" kern="0" dirty="0">
                <a:solidFill>
                  <a:srgbClr val="566D62"/>
                </a:solidFill>
                <a:latin typeface="Arial" pitchFamily="34" charset="0"/>
                <a:ea typeface="Arial" pitchFamily="34" charset="-122"/>
                <a:cs typeface="Arial" pitchFamily="34" charset="-120"/>
              </a:rPr>
              <a:t>03</a:t>
            </a:r>
            <a:endParaRPr lang="en-US" sz="1200" dirty="0"/>
          </a:p>
        </p:txBody>
      </p:sp>
      <p:sp>
        <p:nvSpPr>
          <p:cNvPr id="34" name="Shape 32"/>
          <p:cNvSpPr/>
          <p:nvPr/>
        </p:nvSpPr>
        <p:spPr>
          <a:xfrm>
            <a:off x="8330184" y="3657600"/>
            <a:ext cx="530352" cy="0"/>
          </a:xfrm>
          <a:prstGeom prst="line">
            <a:avLst/>
          </a:prstGeom>
          <a:noFill/>
          <a:ln w="30480">
            <a:solidFill>
              <a:srgbClr val="17382F"/>
            </a:solidFill>
            <a:prstDash val="solid"/>
            <a:headEnd type="none"/>
            <a:tailEnd type="none"/>
          </a:ln>
        </p:spPr>
      </p:sp>
      <p:sp>
        <p:nvSpPr>
          <p:cNvPr id="35" name="Text 33"/>
          <p:cNvSpPr/>
          <p:nvPr/>
        </p:nvSpPr>
        <p:spPr>
          <a:xfrm>
            <a:off x="8330184" y="3840480"/>
            <a:ext cx="3008376" cy="402336"/>
          </a:xfrm>
          <a:prstGeom prst="rect">
            <a:avLst/>
          </a:prstGeom>
          <a:noFill/>
          <a:ln/>
        </p:spPr>
        <p:txBody>
          <a:bodyPr wrap="square" lIns="0" tIns="0" rIns="0" bIns="0" rtlCol="0" anchor="ctr">
            <a:normAutofit/>
          </a:bodyPr>
          <a:lstStyle/>
          <a:p>
            <a:pPr indent="0" marL="0">
              <a:buNone/>
            </a:pPr>
            <a:r>
              <a:rPr lang="en-US" sz="2400" b="1" spc="-50" kern="0" dirty="0">
                <a:solidFill>
                  <a:srgbClr val="17382F"/>
                </a:solidFill>
                <a:latin typeface="Arial" pitchFamily="34" charset="0"/>
                <a:ea typeface="Arial" pitchFamily="34" charset="-122"/>
                <a:cs typeface="Arial" pitchFamily="34" charset="-120"/>
              </a:rPr>
              <a:t>Payment pressure</a:t>
            </a:r>
            <a:endParaRPr lang="en-US" sz="2400" dirty="0"/>
          </a:p>
        </p:txBody>
      </p:sp>
      <p:sp>
        <p:nvSpPr>
          <p:cNvPr id="36" name="Text 34"/>
          <p:cNvSpPr/>
          <p:nvPr/>
        </p:nvSpPr>
        <p:spPr>
          <a:xfrm>
            <a:off x="8330184" y="4553712"/>
            <a:ext cx="3008376" cy="356616"/>
          </a:xfrm>
          <a:prstGeom prst="rect">
            <a:avLst/>
          </a:prstGeom>
          <a:noFill/>
          <a:ln/>
        </p:spPr>
        <p:txBody>
          <a:bodyPr wrap="square" lIns="0" tIns="0" rIns="0" bIns="0" rtlCol="0" anchor="ctr">
            <a:normAutofit/>
          </a:bodyPr>
          <a:lstStyle/>
          <a:p>
            <a:pPr indent="0" marL="0">
              <a:buNone/>
            </a:pPr>
            <a:r>
              <a:rPr lang="en-US" sz="1700" dirty="0">
                <a:solidFill>
                  <a:srgbClr val="17382F"/>
                </a:solidFill>
                <a:latin typeface="Arial" pitchFamily="34" charset="0"/>
                <a:ea typeface="Arial" pitchFamily="34" charset="-122"/>
                <a:cs typeface="Arial" pitchFamily="34" charset="-120"/>
              </a:rPr>
              <a:t>“Change the beneficiary.”</a:t>
            </a:r>
            <a:endParaRPr lang="en-US" sz="1700" dirty="0"/>
          </a:p>
        </p:txBody>
      </p:sp>
      <p:sp>
        <p:nvSpPr>
          <p:cNvPr id="37" name="Text 35"/>
          <p:cNvSpPr/>
          <p:nvPr/>
        </p:nvSpPr>
        <p:spPr>
          <a:xfrm>
            <a:off x="8330184" y="5029200"/>
            <a:ext cx="3008376" cy="182880"/>
          </a:xfrm>
          <a:prstGeom prst="rect">
            <a:avLst/>
          </a:prstGeom>
          <a:noFill/>
          <a:ln/>
        </p:spPr>
        <p:txBody>
          <a:bodyPr wrap="square" lIns="0" tIns="0" rIns="0" bIns="0" rtlCol="0" anchor="ctr">
            <a:normAutofit/>
          </a:bodyPr>
          <a:lstStyle/>
          <a:p>
            <a:pPr indent="0" marL="0">
              <a:buNone/>
            </a:pPr>
            <a:r>
              <a:rPr lang="en-US" sz="1250" dirty="0">
                <a:solidFill>
                  <a:srgbClr val="566D62"/>
                </a:solidFill>
                <a:latin typeface="Arial" pitchFamily="34" charset="0"/>
                <a:ea typeface="Arial" pitchFamily="34" charset="-122"/>
                <a:cs typeface="Arial" pitchFamily="34" charset="-120"/>
              </a:rPr>
              <a:t>An unsafe approval looks legitimate.</a:t>
            </a:r>
            <a:endParaRPr lang="en-US" sz="1250" dirty="0"/>
          </a:p>
        </p:txBody>
      </p:sp>
      <p:sp>
        <p:nvSpPr>
          <p:cNvPr id="38" name="Shape 36"/>
          <p:cNvSpPr/>
          <p:nvPr/>
        </p:nvSpPr>
        <p:spPr>
          <a:xfrm>
            <a:off x="594360" y="5669280"/>
            <a:ext cx="11000232" cy="502920"/>
          </a:xfrm>
          <a:prstGeom prst="rect">
            <a:avLst/>
          </a:prstGeom>
          <a:solidFill>
            <a:srgbClr val="17382F"/>
          </a:solidFill>
          <a:ln w="10160">
            <a:solidFill>
              <a:srgbClr val="17382F"/>
            </a:solidFill>
            <a:prstDash val="solid"/>
          </a:ln>
        </p:spPr>
      </p:sp>
      <p:sp>
        <p:nvSpPr>
          <p:cNvPr id="39" name="Text 37"/>
          <p:cNvSpPr/>
          <p:nvPr/>
        </p:nvSpPr>
        <p:spPr>
          <a:xfrm>
            <a:off x="804672" y="5760720"/>
            <a:ext cx="10570464" cy="301752"/>
          </a:xfrm>
          <a:prstGeom prst="rect">
            <a:avLst/>
          </a:prstGeom>
          <a:noFill/>
          <a:ln/>
        </p:spPr>
        <p:txBody>
          <a:bodyPr wrap="square" lIns="0" tIns="0" rIns="0" bIns="0" rtlCol="0" anchor="ctr">
            <a:normAutofit/>
          </a:bodyPr>
          <a:lstStyle/>
          <a:p>
            <a:pPr indent="0" marL="0">
              <a:buNone/>
            </a:pPr>
            <a:r>
              <a:rPr lang="en-US" sz="1900" b="1" dirty="0">
                <a:solidFill>
                  <a:srgbClr val="FFFFFF"/>
                </a:solidFill>
                <a:latin typeface="Arial" pitchFamily="34" charset="0"/>
                <a:ea typeface="Arial" pitchFamily="34" charset="-122"/>
                <a:cs typeface="Arial" pitchFamily="34" charset="-120"/>
              </a:rPr>
              <a:t>Credentials are validated. The conversation still needs scrutiny.</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52D"/>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D5EDAE"/>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D5EDAE"/>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D5EDAE"/>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D5EDAE"/>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D5EDAE"/>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D5EDAE"/>
            </a:solidFill>
            <a:prstDash val="solid"/>
            <a:headEnd type="none"/>
            <a:tailEnd type="none"/>
          </a:ln>
        </p:spPr>
      </p:sp>
      <p:sp>
        <p:nvSpPr>
          <p:cNvPr id="8" name="Shape 6"/>
          <p:cNvSpPr/>
          <p:nvPr/>
        </p:nvSpPr>
        <p:spPr>
          <a:xfrm>
            <a:off x="654345" y="394335"/>
            <a:ext cx="8641" cy="61722"/>
          </a:xfrm>
          <a:prstGeom prst="rect">
            <a:avLst/>
          </a:prstGeom>
          <a:solidFill>
            <a:srgbClr val="D5EDAE"/>
          </a:solidFill>
          <a:ln w="10160">
            <a:solidFill>
              <a:srgbClr val="D5EDAE"/>
            </a:solidFill>
            <a:prstDash val="solid"/>
          </a:ln>
        </p:spPr>
      </p:sp>
      <p:sp>
        <p:nvSpPr>
          <p:cNvPr id="9" name="Shape 7"/>
          <p:cNvSpPr/>
          <p:nvPr/>
        </p:nvSpPr>
        <p:spPr>
          <a:xfrm>
            <a:off x="676565" y="372115"/>
            <a:ext cx="8641" cy="106162"/>
          </a:xfrm>
          <a:prstGeom prst="rect">
            <a:avLst/>
          </a:prstGeom>
          <a:solidFill>
            <a:srgbClr val="D5EDAE"/>
          </a:solidFill>
          <a:ln w="10160">
            <a:solidFill>
              <a:srgbClr val="D5EDAE"/>
            </a:solidFill>
            <a:prstDash val="solid"/>
          </a:ln>
        </p:spPr>
      </p:sp>
      <p:sp>
        <p:nvSpPr>
          <p:cNvPr id="10" name="Shape 8"/>
          <p:cNvSpPr/>
          <p:nvPr/>
        </p:nvSpPr>
        <p:spPr>
          <a:xfrm>
            <a:off x="698784" y="351130"/>
            <a:ext cx="8641" cy="148133"/>
          </a:xfrm>
          <a:prstGeom prst="rect">
            <a:avLst/>
          </a:prstGeom>
          <a:solidFill>
            <a:srgbClr val="D5EDAE"/>
          </a:solidFill>
          <a:ln w="10160">
            <a:solidFill>
              <a:srgbClr val="D5EDAE"/>
            </a:solidFill>
            <a:prstDash val="solid"/>
          </a:ln>
        </p:spPr>
      </p:sp>
      <p:sp>
        <p:nvSpPr>
          <p:cNvPr id="11" name="Shape 9"/>
          <p:cNvSpPr/>
          <p:nvPr/>
        </p:nvSpPr>
        <p:spPr>
          <a:xfrm>
            <a:off x="721004" y="375818"/>
            <a:ext cx="8641" cy="98755"/>
          </a:xfrm>
          <a:prstGeom prst="rect">
            <a:avLst/>
          </a:prstGeom>
          <a:solidFill>
            <a:srgbClr val="D5EDAE"/>
          </a:solidFill>
          <a:ln w="10160">
            <a:solidFill>
              <a:srgbClr val="D5EDAE"/>
            </a:solidFill>
            <a:prstDash val="solid"/>
          </a:ln>
        </p:spPr>
      </p:sp>
      <p:sp>
        <p:nvSpPr>
          <p:cNvPr id="12" name="Shape 10"/>
          <p:cNvSpPr/>
          <p:nvPr/>
        </p:nvSpPr>
        <p:spPr>
          <a:xfrm>
            <a:off x="743224" y="398038"/>
            <a:ext cx="8641" cy="54315"/>
          </a:xfrm>
          <a:prstGeom prst="rect">
            <a:avLst/>
          </a:prstGeom>
          <a:solidFill>
            <a:srgbClr val="D5EDAE"/>
          </a:solidFill>
          <a:ln w="10160">
            <a:solidFill>
              <a:srgbClr val="D5EDAE"/>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D5EDAE"/>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B4C8BE"/>
                </a:solidFill>
                <a:latin typeface="Arial" pitchFamily="34" charset="0"/>
                <a:ea typeface="Arial" pitchFamily="34" charset="-122"/>
                <a:cs typeface="Arial" pitchFamily="34" charset="-120"/>
              </a:rPr>
              <a:t>03  /  THE EXPERIENCE</a:t>
            </a:r>
            <a:endParaRPr lang="en-US" sz="950" dirty="0"/>
          </a:p>
        </p:txBody>
      </p:sp>
      <p:sp>
        <p:nvSpPr>
          <p:cNvPr id="15" name="Shape 13"/>
          <p:cNvSpPr/>
          <p:nvPr/>
        </p:nvSpPr>
        <p:spPr>
          <a:xfrm>
            <a:off x="594360" y="6446520"/>
            <a:ext cx="11000232" cy="0"/>
          </a:xfrm>
          <a:prstGeom prst="line">
            <a:avLst/>
          </a:prstGeom>
          <a:noFill/>
          <a:ln w="8890">
            <a:solidFill>
              <a:srgbClr val="36554E"/>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B4C8BE"/>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B4C8BE"/>
                </a:solidFill>
                <a:latin typeface="Arial" pitchFamily="34" charset="0"/>
                <a:ea typeface="Arial" pitchFamily="34" charset="-122"/>
                <a:cs typeface="Arial" pitchFamily="34" charset="-120"/>
              </a:rPr>
              <a:t>03 / 06</a:t>
            </a:r>
            <a:endParaRPr lang="en-US" sz="900" dirty="0"/>
          </a:p>
        </p:txBody>
      </p:sp>
      <p:sp>
        <p:nvSpPr>
          <p:cNvPr id="18" name="Text 16"/>
          <p:cNvSpPr/>
          <p:nvPr/>
        </p:nvSpPr>
        <p:spPr>
          <a:xfrm>
            <a:off x="594360" y="941832"/>
            <a:ext cx="10881360" cy="1152144"/>
          </a:xfrm>
          <a:prstGeom prst="rect">
            <a:avLst/>
          </a:prstGeom>
          <a:noFill/>
          <a:ln/>
        </p:spPr>
        <p:txBody>
          <a:bodyPr wrap="square" lIns="0" tIns="0" rIns="0" bIns="0" rtlCol="0" anchor="ctr">
            <a:normAutofit/>
          </a:bodyPr>
          <a:lstStyle/>
          <a:p>
            <a:pPr indent="0" marL="0">
              <a:buNone/>
            </a:pPr>
            <a:r>
              <a:rPr lang="en-US" sz="4200" b="1" spc="-110" kern="0" dirty="0">
                <a:solidFill>
                  <a:srgbClr val="FFFFFF"/>
                </a:solidFill>
                <a:latin typeface="Arial" pitchFamily="34" charset="0"/>
                <a:ea typeface="Arial" pitchFamily="34" charset="-122"/>
                <a:cs typeface="Arial" pitchFamily="34" charset="-120"/>
              </a:rPr>
              <a:t>One call. More context.</a:t>
            </a:r>
            <a:endParaRPr lang="en-US" sz="4200" dirty="0"/>
          </a:p>
          <a:p>
            <a:pPr indent="0" marL="0">
              <a:buNone/>
            </a:pPr>
            <a:r>
              <a:rPr lang="en-US" sz="4200" b="1" spc="-110" kern="0" dirty="0">
                <a:solidFill>
                  <a:srgbClr val="FFFFFF"/>
                </a:solidFill>
                <a:latin typeface="Arial" pitchFamily="34" charset="0"/>
                <a:ea typeface="Arial" pitchFamily="34" charset="-122"/>
                <a:cs typeface="Arial" pitchFamily="34" charset="-120"/>
              </a:rPr>
              <a:t>A governed decision.</a:t>
            </a:r>
            <a:endParaRPr lang="en-US" sz="4200" dirty="0"/>
          </a:p>
        </p:txBody>
      </p:sp>
      <p:sp>
        <p:nvSpPr>
          <p:cNvPr id="19" name="Shape 17"/>
          <p:cNvSpPr/>
          <p:nvPr/>
        </p:nvSpPr>
        <p:spPr>
          <a:xfrm>
            <a:off x="594360" y="2660904"/>
            <a:ext cx="2560320" cy="2706624"/>
          </a:xfrm>
          <a:prstGeom prst="roundRect">
            <a:avLst/>
          </a:prstGeom>
          <a:solidFill>
            <a:srgbClr val="163A3B"/>
          </a:solidFill>
          <a:ln w="10160">
            <a:solidFill>
              <a:srgbClr val="36554E"/>
            </a:solidFill>
            <a:prstDash val="solid"/>
          </a:ln>
        </p:spPr>
      </p:sp>
      <p:sp>
        <p:nvSpPr>
          <p:cNvPr id="20" name="Shape 18"/>
          <p:cNvSpPr/>
          <p:nvPr/>
        </p:nvSpPr>
        <p:spPr>
          <a:xfrm>
            <a:off x="832104" y="2926080"/>
            <a:ext cx="384048" cy="384048"/>
          </a:xfrm>
          <a:prstGeom prst="ellipse">
            <a:avLst/>
          </a:prstGeom>
          <a:solidFill>
            <a:srgbClr val="D5EDAE"/>
          </a:solidFill>
          <a:ln w="12700">
            <a:solidFill>
              <a:srgbClr val="D5EDAE"/>
            </a:solidFill>
            <a:prstDash val="solid"/>
          </a:ln>
        </p:spPr>
      </p:sp>
      <p:sp>
        <p:nvSpPr>
          <p:cNvPr id="21" name="Text 19"/>
          <p:cNvSpPr/>
          <p:nvPr/>
        </p:nvSpPr>
        <p:spPr>
          <a:xfrm>
            <a:off x="832104" y="2990088"/>
            <a:ext cx="384048" cy="219456"/>
          </a:xfrm>
          <a:prstGeom prst="rect">
            <a:avLst/>
          </a:prstGeom>
          <a:noFill/>
          <a:ln/>
        </p:spPr>
        <p:txBody>
          <a:bodyPr wrap="square" lIns="0" tIns="0" rIns="0" bIns="0" rtlCol="0" anchor="ctr">
            <a:normAutofit/>
          </a:bodyPr>
          <a:lstStyle/>
          <a:p>
            <a:pPr algn="ctr" indent="0" marL="0">
              <a:buNone/>
            </a:pPr>
            <a:r>
              <a:rPr lang="en-US" sz="1300" b="1" dirty="0">
                <a:solidFill>
                  <a:srgbClr val="17382F"/>
                </a:solidFill>
                <a:latin typeface="Arial" pitchFamily="34" charset="0"/>
                <a:ea typeface="Arial" pitchFamily="34" charset="-122"/>
                <a:cs typeface="Arial" pitchFamily="34" charset="-120"/>
              </a:rPr>
              <a:t>1</a:t>
            </a:r>
            <a:endParaRPr lang="en-US" sz="1300" dirty="0"/>
          </a:p>
        </p:txBody>
      </p:sp>
      <p:sp>
        <p:nvSpPr>
          <p:cNvPr id="22" name="Text 20"/>
          <p:cNvSpPr/>
          <p:nvPr/>
        </p:nvSpPr>
        <p:spPr>
          <a:xfrm>
            <a:off x="822960" y="3648456"/>
            <a:ext cx="2103120" cy="694944"/>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Start with</a:t>
            </a:r>
            <a:endParaRPr lang="en-US" sz="2000" dirty="0"/>
          </a:p>
          <a:p>
            <a:pPr indent="0" marL="0">
              <a:buNone/>
            </a:pPr>
            <a:r>
              <a:rPr lang="en-US" sz="2000" b="1" dirty="0">
                <a:solidFill>
                  <a:srgbClr val="FFFFFF"/>
                </a:solidFill>
                <a:latin typeface="Arial" pitchFamily="34" charset="0"/>
                <a:ea typeface="Arial" pitchFamily="34" charset="-122"/>
                <a:cs typeface="Arial" pitchFamily="34" charset="-120"/>
              </a:rPr>
              <a:t>work identity</a:t>
            </a:r>
            <a:endParaRPr lang="en-US" sz="2000" dirty="0"/>
          </a:p>
        </p:txBody>
      </p:sp>
      <p:sp>
        <p:nvSpPr>
          <p:cNvPr id="23" name="Text 21"/>
          <p:cNvSpPr/>
          <p:nvPr/>
        </p:nvSpPr>
        <p:spPr>
          <a:xfrm>
            <a:off x="822960" y="4590288"/>
            <a:ext cx="2103120" cy="484632"/>
          </a:xfrm>
          <a:prstGeom prst="rect">
            <a:avLst/>
          </a:prstGeom>
          <a:noFill/>
          <a:ln/>
        </p:spPr>
        <p:txBody>
          <a:bodyPr wrap="square" lIns="0" tIns="0" rIns="0" bIns="0" rtlCol="0" anchor="ctr">
            <a:normAutofit/>
          </a:bodyPr>
          <a:lstStyle/>
          <a:p>
            <a:pPr indent="0" marL="0">
              <a:buNone/>
            </a:pPr>
            <a:r>
              <a:rPr lang="en-US" sz="1430" dirty="0">
                <a:solidFill>
                  <a:srgbClr val="B4C8BE"/>
                </a:solidFill>
                <a:latin typeface="Arial" pitchFamily="34" charset="0"/>
                <a:ea typeface="Arial" pitchFamily="34" charset="-122"/>
                <a:cs typeface="Arial" pitchFamily="34" charset="-120"/>
              </a:rPr>
              <a:t>Entra SSO.</a:t>
            </a:r>
            <a:endParaRPr lang="en-US" sz="1430" dirty="0"/>
          </a:p>
          <a:p>
            <a:pPr indent="0" marL="0">
              <a:buNone/>
            </a:pPr>
            <a:r>
              <a:rPr lang="en-US" sz="1430" dirty="0">
                <a:solidFill>
                  <a:srgbClr val="B4C8BE"/>
                </a:solidFill>
                <a:latin typeface="Arial" pitchFamily="34" charset="0"/>
                <a:ea typeface="Arial" pitchFamily="34" charset="-122"/>
                <a:cs typeface="Arial" pitchFamily="34" charset="-120"/>
              </a:rPr>
              <a:t>Teams or browser call.</a:t>
            </a:r>
            <a:endParaRPr lang="en-US" sz="1430" dirty="0"/>
          </a:p>
        </p:txBody>
      </p:sp>
      <p:sp>
        <p:nvSpPr>
          <p:cNvPr id="24" name="Shape 22"/>
          <p:cNvSpPr/>
          <p:nvPr/>
        </p:nvSpPr>
        <p:spPr>
          <a:xfrm>
            <a:off x="3200400" y="4032504"/>
            <a:ext cx="164592" cy="0"/>
          </a:xfrm>
          <a:prstGeom prst="line">
            <a:avLst/>
          </a:prstGeom>
          <a:noFill/>
          <a:ln w="22860">
            <a:solidFill>
              <a:srgbClr val="D5EDAE"/>
            </a:solidFill>
            <a:prstDash val="solid"/>
            <a:headEnd type="none"/>
            <a:tailEnd type="triangle"/>
          </a:ln>
        </p:spPr>
      </p:sp>
      <p:sp>
        <p:nvSpPr>
          <p:cNvPr id="25" name="Shape 23"/>
          <p:cNvSpPr/>
          <p:nvPr/>
        </p:nvSpPr>
        <p:spPr>
          <a:xfrm>
            <a:off x="3406140" y="2660904"/>
            <a:ext cx="2560320" cy="2706624"/>
          </a:xfrm>
          <a:prstGeom prst="roundRect">
            <a:avLst/>
          </a:prstGeom>
          <a:solidFill>
            <a:srgbClr val="163A3B"/>
          </a:solidFill>
          <a:ln w="10160">
            <a:solidFill>
              <a:srgbClr val="36554E"/>
            </a:solidFill>
            <a:prstDash val="solid"/>
          </a:ln>
        </p:spPr>
      </p:sp>
      <p:sp>
        <p:nvSpPr>
          <p:cNvPr id="26" name="Shape 24"/>
          <p:cNvSpPr/>
          <p:nvPr/>
        </p:nvSpPr>
        <p:spPr>
          <a:xfrm>
            <a:off x="3643884" y="2926080"/>
            <a:ext cx="384048" cy="384048"/>
          </a:xfrm>
          <a:prstGeom prst="ellipse">
            <a:avLst/>
          </a:prstGeom>
          <a:solidFill>
            <a:srgbClr val="D5EDAE"/>
          </a:solidFill>
          <a:ln w="12700">
            <a:solidFill>
              <a:srgbClr val="D5EDAE"/>
            </a:solidFill>
            <a:prstDash val="solid"/>
          </a:ln>
        </p:spPr>
      </p:sp>
      <p:sp>
        <p:nvSpPr>
          <p:cNvPr id="27" name="Text 25"/>
          <p:cNvSpPr/>
          <p:nvPr/>
        </p:nvSpPr>
        <p:spPr>
          <a:xfrm>
            <a:off x="3643884" y="2990088"/>
            <a:ext cx="384048" cy="219456"/>
          </a:xfrm>
          <a:prstGeom prst="rect">
            <a:avLst/>
          </a:prstGeom>
          <a:noFill/>
          <a:ln/>
        </p:spPr>
        <p:txBody>
          <a:bodyPr wrap="square" lIns="0" tIns="0" rIns="0" bIns="0" rtlCol="0" anchor="ctr">
            <a:normAutofit/>
          </a:bodyPr>
          <a:lstStyle/>
          <a:p>
            <a:pPr algn="ctr" indent="0" marL="0">
              <a:buNone/>
            </a:pPr>
            <a:r>
              <a:rPr lang="en-US" sz="1300" b="1" dirty="0">
                <a:solidFill>
                  <a:srgbClr val="17382F"/>
                </a:solidFill>
                <a:latin typeface="Arial" pitchFamily="34" charset="0"/>
                <a:ea typeface="Arial" pitchFamily="34" charset="-122"/>
                <a:cs typeface="Arial" pitchFamily="34" charset="-120"/>
              </a:rPr>
              <a:t>2</a:t>
            </a:r>
            <a:endParaRPr lang="en-US" sz="1300" dirty="0"/>
          </a:p>
        </p:txBody>
      </p:sp>
      <p:sp>
        <p:nvSpPr>
          <p:cNvPr id="28" name="Text 26"/>
          <p:cNvSpPr/>
          <p:nvPr/>
        </p:nvSpPr>
        <p:spPr>
          <a:xfrm>
            <a:off x="3634740" y="3648456"/>
            <a:ext cx="2103120" cy="694944"/>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Match the number.</a:t>
            </a:r>
            <a:endParaRPr lang="en-US" sz="2000" dirty="0"/>
          </a:p>
          <a:p>
            <a:pPr indent="0" marL="0">
              <a:buNone/>
            </a:pPr>
            <a:r>
              <a:rPr lang="en-US" sz="2000" b="1" dirty="0">
                <a:solidFill>
                  <a:srgbClr val="FFFFFF"/>
                </a:solidFill>
                <a:latin typeface="Arial" pitchFamily="34" charset="0"/>
                <a:ea typeface="Arial" pitchFamily="34" charset="-122"/>
                <a:cs typeface="Arial" pitchFamily="34" charset="-120"/>
              </a:rPr>
              <a:t>Answer in context.</a:t>
            </a:r>
            <a:endParaRPr lang="en-US" sz="2000" dirty="0"/>
          </a:p>
        </p:txBody>
      </p:sp>
      <p:sp>
        <p:nvSpPr>
          <p:cNvPr id="29" name="Text 27"/>
          <p:cNvSpPr/>
          <p:nvPr/>
        </p:nvSpPr>
        <p:spPr>
          <a:xfrm>
            <a:off x="3634740" y="4590288"/>
            <a:ext cx="2103120" cy="484632"/>
          </a:xfrm>
          <a:prstGeom prst="rect">
            <a:avLst/>
          </a:prstGeom>
          <a:noFill/>
          <a:ln/>
        </p:spPr>
        <p:txBody>
          <a:bodyPr wrap="square" lIns="0" tIns="0" rIns="0" bIns="0" rtlCol="0" anchor="ctr">
            <a:normAutofit/>
          </a:bodyPr>
          <a:lstStyle/>
          <a:p>
            <a:pPr indent="0" marL="0">
              <a:buNone/>
            </a:pPr>
            <a:r>
              <a:rPr lang="en-US" sz="1430" dirty="0">
                <a:solidFill>
                  <a:srgbClr val="B4C8BE"/>
                </a:solidFill>
                <a:latin typeface="Arial" pitchFamily="34" charset="0"/>
                <a:ea typeface="Arial" pitchFamily="34" charset="-122"/>
                <a:cs typeface="Arial" pitchFamily="34" charset="-120"/>
              </a:rPr>
              <a:t>Number matching.</a:t>
            </a:r>
            <a:endParaRPr lang="en-US" sz="1430" dirty="0"/>
          </a:p>
          <a:p>
            <a:pPr indent="0" marL="0">
              <a:buNone/>
            </a:pPr>
            <a:r>
              <a:rPr lang="en-US" sz="1430" dirty="0">
                <a:solidFill>
                  <a:srgbClr val="B4C8BE"/>
                </a:solidFill>
                <a:latin typeface="Arial" pitchFamily="34" charset="0"/>
                <a:ea typeface="Arial" pitchFamily="34" charset="-122"/>
                <a:cs typeface="Arial" pitchFamily="34" charset="-120"/>
              </a:rPr>
              <a:t>Available identity facts.</a:t>
            </a:r>
            <a:endParaRPr lang="en-US" sz="1430" dirty="0"/>
          </a:p>
        </p:txBody>
      </p:sp>
      <p:sp>
        <p:nvSpPr>
          <p:cNvPr id="30" name="Shape 28"/>
          <p:cNvSpPr/>
          <p:nvPr/>
        </p:nvSpPr>
        <p:spPr>
          <a:xfrm>
            <a:off x="6012180" y="4032504"/>
            <a:ext cx="164592" cy="0"/>
          </a:xfrm>
          <a:prstGeom prst="line">
            <a:avLst/>
          </a:prstGeom>
          <a:noFill/>
          <a:ln w="22860">
            <a:solidFill>
              <a:srgbClr val="D5EDAE"/>
            </a:solidFill>
            <a:prstDash val="solid"/>
            <a:headEnd type="none"/>
            <a:tailEnd type="triangle"/>
          </a:ln>
        </p:spPr>
      </p:sp>
      <p:sp>
        <p:nvSpPr>
          <p:cNvPr id="31" name="Shape 29"/>
          <p:cNvSpPr/>
          <p:nvPr/>
        </p:nvSpPr>
        <p:spPr>
          <a:xfrm>
            <a:off x="6217920" y="2660904"/>
            <a:ext cx="2560320" cy="2706624"/>
          </a:xfrm>
          <a:prstGeom prst="roundRect">
            <a:avLst/>
          </a:prstGeom>
          <a:solidFill>
            <a:srgbClr val="163A3B"/>
          </a:solidFill>
          <a:ln w="10160">
            <a:solidFill>
              <a:srgbClr val="36554E"/>
            </a:solidFill>
            <a:prstDash val="solid"/>
          </a:ln>
        </p:spPr>
      </p:sp>
      <p:sp>
        <p:nvSpPr>
          <p:cNvPr id="32" name="Shape 30"/>
          <p:cNvSpPr/>
          <p:nvPr/>
        </p:nvSpPr>
        <p:spPr>
          <a:xfrm>
            <a:off x="6455664" y="2926080"/>
            <a:ext cx="384048" cy="384048"/>
          </a:xfrm>
          <a:prstGeom prst="ellipse">
            <a:avLst/>
          </a:prstGeom>
          <a:solidFill>
            <a:srgbClr val="D5EDAE"/>
          </a:solidFill>
          <a:ln w="12700">
            <a:solidFill>
              <a:srgbClr val="D5EDAE"/>
            </a:solidFill>
            <a:prstDash val="solid"/>
          </a:ln>
        </p:spPr>
      </p:sp>
      <p:sp>
        <p:nvSpPr>
          <p:cNvPr id="33" name="Text 31"/>
          <p:cNvSpPr/>
          <p:nvPr/>
        </p:nvSpPr>
        <p:spPr>
          <a:xfrm>
            <a:off x="6455664" y="2990088"/>
            <a:ext cx="384048" cy="219456"/>
          </a:xfrm>
          <a:prstGeom prst="rect">
            <a:avLst/>
          </a:prstGeom>
          <a:noFill/>
          <a:ln/>
        </p:spPr>
        <p:txBody>
          <a:bodyPr wrap="square" lIns="0" tIns="0" rIns="0" bIns="0" rtlCol="0" anchor="ctr">
            <a:normAutofit/>
          </a:bodyPr>
          <a:lstStyle/>
          <a:p>
            <a:pPr algn="ctr" indent="0" marL="0">
              <a:buNone/>
            </a:pPr>
            <a:r>
              <a:rPr lang="en-US" sz="1300" b="1" dirty="0">
                <a:solidFill>
                  <a:srgbClr val="17382F"/>
                </a:solidFill>
                <a:latin typeface="Arial" pitchFamily="34" charset="0"/>
                <a:ea typeface="Arial" pitchFamily="34" charset="-122"/>
                <a:cs typeface="Arial" pitchFamily="34" charset="-120"/>
              </a:rPr>
              <a:t>3</a:t>
            </a:r>
            <a:endParaRPr lang="en-US" sz="1300" dirty="0"/>
          </a:p>
        </p:txBody>
      </p:sp>
      <p:sp>
        <p:nvSpPr>
          <p:cNvPr id="34" name="Text 32"/>
          <p:cNvSpPr/>
          <p:nvPr/>
        </p:nvSpPr>
        <p:spPr>
          <a:xfrm>
            <a:off x="6446520" y="3648456"/>
            <a:ext cx="2103120" cy="694944"/>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Assess the</a:t>
            </a:r>
            <a:endParaRPr lang="en-US" sz="2000" dirty="0"/>
          </a:p>
          <a:p>
            <a:pPr indent="0" marL="0">
              <a:buNone/>
            </a:pPr>
            <a:r>
              <a:rPr lang="en-US" sz="2000" b="1" dirty="0">
                <a:solidFill>
                  <a:srgbClr val="FFFFFF"/>
                </a:solidFill>
                <a:latin typeface="Arial" pitchFamily="34" charset="0"/>
                <a:ea typeface="Arial" pitchFamily="34" charset="-122"/>
                <a:cs typeface="Arial" pitchFamily="34" charset="-120"/>
              </a:rPr>
              <a:t>conversation.</a:t>
            </a:r>
            <a:endParaRPr lang="en-US" sz="2000" dirty="0"/>
          </a:p>
        </p:txBody>
      </p:sp>
      <p:sp>
        <p:nvSpPr>
          <p:cNvPr id="35" name="Text 33"/>
          <p:cNvSpPr/>
          <p:nvPr/>
        </p:nvSpPr>
        <p:spPr>
          <a:xfrm>
            <a:off x="6446520" y="4590288"/>
            <a:ext cx="2103120" cy="484632"/>
          </a:xfrm>
          <a:prstGeom prst="rect">
            <a:avLst/>
          </a:prstGeom>
          <a:noFill/>
          <a:ln/>
        </p:spPr>
        <p:txBody>
          <a:bodyPr wrap="square" lIns="0" tIns="0" rIns="0" bIns="0" rtlCol="0" anchor="ctr">
            <a:normAutofit/>
          </a:bodyPr>
          <a:lstStyle/>
          <a:p>
            <a:pPr indent="0" marL="0">
              <a:buNone/>
            </a:pPr>
            <a:r>
              <a:rPr lang="en-US" sz="1430" dirty="0">
                <a:solidFill>
                  <a:srgbClr val="B4C8BE"/>
                </a:solidFill>
                <a:latin typeface="Arial" pitchFamily="34" charset="0"/>
                <a:ea typeface="Arial" pitchFamily="34" charset="-122"/>
                <a:cs typeface="Arial" pitchFamily="34" charset="-120"/>
              </a:rPr>
              <a:t>Coaching detection.</a:t>
            </a:r>
            <a:endParaRPr lang="en-US" sz="1430" dirty="0"/>
          </a:p>
          <a:p>
            <a:pPr indent="0" marL="0">
              <a:buNone/>
            </a:pPr>
            <a:r>
              <a:rPr lang="en-US" sz="1430" dirty="0">
                <a:solidFill>
                  <a:srgbClr val="B4C8BE"/>
                </a:solidFill>
                <a:latin typeface="Arial" pitchFamily="34" charset="0"/>
                <a:ea typeface="Arial" pitchFamily="34" charset="-122"/>
                <a:cs typeface="Arial" pitchFamily="34" charset="-120"/>
              </a:rPr>
              <a:t>Optional voice comparison.</a:t>
            </a:r>
            <a:endParaRPr lang="en-US" sz="1430" dirty="0"/>
          </a:p>
        </p:txBody>
      </p:sp>
      <p:sp>
        <p:nvSpPr>
          <p:cNvPr id="36" name="Shape 34"/>
          <p:cNvSpPr/>
          <p:nvPr/>
        </p:nvSpPr>
        <p:spPr>
          <a:xfrm>
            <a:off x="8823960" y="4032504"/>
            <a:ext cx="164592" cy="0"/>
          </a:xfrm>
          <a:prstGeom prst="line">
            <a:avLst/>
          </a:prstGeom>
          <a:noFill/>
          <a:ln w="22860">
            <a:solidFill>
              <a:srgbClr val="D5EDAE"/>
            </a:solidFill>
            <a:prstDash val="solid"/>
            <a:headEnd type="none"/>
            <a:tailEnd type="triangle"/>
          </a:ln>
        </p:spPr>
      </p:sp>
      <p:sp>
        <p:nvSpPr>
          <p:cNvPr id="37" name="Shape 35"/>
          <p:cNvSpPr/>
          <p:nvPr/>
        </p:nvSpPr>
        <p:spPr>
          <a:xfrm>
            <a:off x="9029700" y="2660904"/>
            <a:ext cx="2560320" cy="2706624"/>
          </a:xfrm>
          <a:prstGeom prst="roundRect">
            <a:avLst/>
          </a:prstGeom>
          <a:solidFill>
            <a:srgbClr val="163A3B"/>
          </a:solidFill>
          <a:ln w="10160">
            <a:solidFill>
              <a:srgbClr val="36554E"/>
            </a:solidFill>
            <a:prstDash val="solid"/>
          </a:ln>
        </p:spPr>
      </p:sp>
      <p:sp>
        <p:nvSpPr>
          <p:cNvPr id="38" name="Shape 36"/>
          <p:cNvSpPr/>
          <p:nvPr/>
        </p:nvSpPr>
        <p:spPr>
          <a:xfrm>
            <a:off x="9267444" y="2926080"/>
            <a:ext cx="384048" cy="384048"/>
          </a:xfrm>
          <a:prstGeom prst="ellipse">
            <a:avLst/>
          </a:prstGeom>
          <a:solidFill>
            <a:srgbClr val="D5EDAE"/>
          </a:solidFill>
          <a:ln w="12700">
            <a:solidFill>
              <a:srgbClr val="D5EDAE"/>
            </a:solidFill>
            <a:prstDash val="solid"/>
          </a:ln>
        </p:spPr>
      </p:sp>
      <p:sp>
        <p:nvSpPr>
          <p:cNvPr id="39" name="Text 37"/>
          <p:cNvSpPr/>
          <p:nvPr/>
        </p:nvSpPr>
        <p:spPr>
          <a:xfrm>
            <a:off x="9267444" y="2990088"/>
            <a:ext cx="384048" cy="219456"/>
          </a:xfrm>
          <a:prstGeom prst="rect">
            <a:avLst/>
          </a:prstGeom>
          <a:noFill/>
          <a:ln/>
        </p:spPr>
        <p:txBody>
          <a:bodyPr wrap="square" lIns="0" tIns="0" rIns="0" bIns="0" rtlCol="0" anchor="ctr">
            <a:normAutofit/>
          </a:bodyPr>
          <a:lstStyle/>
          <a:p>
            <a:pPr algn="ctr" indent="0" marL="0">
              <a:buNone/>
            </a:pPr>
            <a:r>
              <a:rPr lang="en-US" sz="1300" b="1" dirty="0">
                <a:solidFill>
                  <a:srgbClr val="17382F"/>
                </a:solidFill>
                <a:latin typeface="Arial" pitchFamily="34" charset="0"/>
                <a:ea typeface="Arial" pitchFamily="34" charset="-122"/>
                <a:cs typeface="Arial" pitchFamily="34" charset="-120"/>
              </a:rPr>
              <a:t>4</a:t>
            </a:r>
            <a:endParaRPr lang="en-US" sz="1300" dirty="0"/>
          </a:p>
        </p:txBody>
      </p:sp>
      <p:sp>
        <p:nvSpPr>
          <p:cNvPr id="40" name="Text 38"/>
          <p:cNvSpPr/>
          <p:nvPr/>
        </p:nvSpPr>
        <p:spPr>
          <a:xfrm>
            <a:off x="9258300" y="3648456"/>
            <a:ext cx="2103120" cy="694944"/>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Return a</a:t>
            </a:r>
            <a:endParaRPr lang="en-US" sz="2000" dirty="0"/>
          </a:p>
          <a:p>
            <a:pPr indent="0" marL="0">
              <a:buNone/>
            </a:pPr>
            <a:r>
              <a:rPr lang="en-US" sz="2000" b="1" dirty="0">
                <a:solidFill>
                  <a:srgbClr val="FFFFFF"/>
                </a:solidFill>
                <a:latin typeface="Arial" pitchFamily="34" charset="0"/>
                <a:ea typeface="Arial" pitchFamily="34" charset="-122"/>
                <a:cs typeface="Arial" pitchFamily="34" charset="-120"/>
              </a:rPr>
              <a:t>governed result.</a:t>
            </a:r>
            <a:endParaRPr lang="en-US" sz="2000" dirty="0"/>
          </a:p>
        </p:txBody>
      </p:sp>
      <p:sp>
        <p:nvSpPr>
          <p:cNvPr id="41" name="Text 39"/>
          <p:cNvSpPr/>
          <p:nvPr/>
        </p:nvSpPr>
        <p:spPr>
          <a:xfrm>
            <a:off x="9258300" y="4590288"/>
            <a:ext cx="2103120" cy="484632"/>
          </a:xfrm>
          <a:prstGeom prst="rect">
            <a:avLst/>
          </a:prstGeom>
          <a:noFill/>
          <a:ln/>
        </p:spPr>
        <p:txBody>
          <a:bodyPr wrap="square" lIns="0" tIns="0" rIns="0" bIns="0" rtlCol="0" anchor="ctr">
            <a:normAutofit/>
          </a:bodyPr>
          <a:lstStyle/>
          <a:p>
            <a:pPr indent="0" marL="0">
              <a:buNone/>
            </a:pPr>
            <a:r>
              <a:rPr lang="en-US" sz="1430" dirty="0">
                <a:solidFill>
                  <a:srgbClr val="B4C8BE"/>
                </a:solidFill>
                <a:latin typeface="Arial" pitchFamily="34" charset="0"/>
                <a:ea typeface="Arial" pitchFamily="34" charset="-122"/>
                <a:cs typeface="Arial" pitchFamily="34" charset="-120"/>
              </a:rPr>
              <a:t>Allow, step up or refuse</a:t>
            </a:r>
            <a:endParaRPr lang="en-US" sz="1430" dirty="0"/>
          </a:p>
          <a:p>
            <a:pPr indent="0" marL="0">
              <a:buNone/>
            </a:pPr>
            <a:r>
              <a:rPr lang="en-US" sz="1430" dirty="0">
                <a:solidFill>
                  <a:srgbClr val="B4C8BE"/>
                </a:solidFill>
                <a:latin typeface="Arial" pitchFamily="34" charset="0"/>
                <a:ea typeface="Arial" pitchFamily="34" charset="-122"/>
                <a:cs typeface="Arial" pitchFamily="34" charset="-120"/>
              </a:rPr>
              <a:t>with an auditable reason.</a:t>
            </a:r>
            <a:endParaRPr lang="en-US" sz="1430" dirty="0"/>
          </a:p>
        </p:txBody>
      </p:sp>
      <p:sp>
        <p:nvSpPr>
          <p:cNvPr id="42" name="Shape 40"/>
          <p:cNvSpPr/>
          <p:nvPr/>
        </p:nvSpPr>
        <p:spPr>
          <a:xfrm>
            <a:off x="594360" y="5687568"/>
            <a:ext cx="11000232" cy="457200"/>
          </a:xfrm>
          <a:prstGeom prst="rect">
            <a:avLst/>
          </a:prstGeom>
          <a:solidFill>
            <a:srgbClr val="D5EDAE"/>
          </a:solidFill>
          <a:ln w="10160">
            <a:solidFill>
              <a:srgbClr val="D5EDAE"/>
            </a:solidFill>
            <a:prstDash val="solid"/>
          </a:ln>
        </p:spPr>
      </p:sp>
      <p:sp>
        <p:nvSpPr>
          <p:cNvPr id="43" name="Text 41"/>
          <p:cNvSpPr/>
          <p:nvPr/>
        </p:nvSpPr>
        <p:spPr>
          <a:xfrm>
            <a:off x="786384" y="5751576"/>
            <a:ext cx="10607040" cy="320040"/>
          </a:xfrm>
          <a:prstGeom prst="rect">
            <a:avLst/>
          </a:prstGeom>
          <a:noFill/>
          <a:ln/>
        </p:spPr>
        <p:txBody>
          <a:bodyPr wrap="square" lIns="0" tIns="0" rIns="0" bIns="0" rtlCol="0" anchor="ctr">
            <a:normAutofit/>
          </a:bodyPr>
          <a:lstStyle/>
          <a:p>
            <a:pPr indent="0" marL="0">
              <a:buNone/>
            </a:pPr>
            <a:r>
              <a:rPr lang="en-US" sz="1780" b="1" dirty="0">
                <a:solidFill>
                  <a:srgbClr val="17382F"/>
                </a:solidFill>
                <a:latin typeface="Arial" pitchFamily="34" charset="0"/>
                <a:ea typeface="Arial" pitchFamily="34" charset="-122"/>
                <a:cs typeface="Arial" pitchFamily="34" charset="-120"/>
              </a:rPr>
              <a:t>Correct digits are necessary. Detected coercion can still stop the attempt.</a:t>
            </a:r>
            <a:endParaRPr lang="en-US" sz="1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0"/>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17382F"/>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17382F"/>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17382F"/>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17382F"/>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17382F"/>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17382F"/>
            </a:solidFill>
            <a:prstDash val="solid"/>
            <a:headEnd type="none"/>
            <a:tailEnd type="none"/>
          </a:ln>
        </p:spPr>
      </p:sp>
      <p:sp>
        <p:nvSpPr>
          <p:cNvPr id="8" name="Shape 6"/>
          <p:cNvSpPr/>
          <p:nvPr/>
        </p:nvSpPr>
        <p:spPr>
          <a:xfrm>
            <a:off x="654345" y="394335"/>
            <a:ext cx="8641" cy="61722"/>
          </a:xfrm>
          <a:prstGeom prst="rect">
            <a:avLst/>
          </a:prstGeom>
          <a:solidFill>
            <a:srgbClr val="17382F"/>
          </a:solidFill>
          <a:ln w="10160">
            <a:solidFill>
              <a:srgbClr val="17382F"/>
            </a:solidFill>
            <a:prstDash val="solid"/>
          </a:ln>
        </p:spPr>
      </p:sp>
      <p:sp>
        <p:nvSpPr>
          <p:cNvPr id="9" name="Shape 7"/>
          <p:cNvSpPr/>
          <p:nvPr/>
        </p:nvSpPr>
        <p:spPr>
          <a:xfrm>
            <a:off x="676565" y="372115"/>
            <a:ext cx="8641" cy="106162"/>
          </a:xfrm>
          <a:prstGeom prst="rect">
            <a:avLst/>
          </a:prstGeom>
          <a:solidFill>
            <a:srgbClr val="17382F"/>
          </a:solidFill>
          <a:ln w="10160">
            <a:solidFill>
              <a:srgbClr val="17382F"/>
            </a:solidFill>
            <a:prstDash val="solid"/>
          </a:ln>
        </p:spPr>
      </p:sp>
      <p:sp>
        <p:nvSpPr>
          <p:cNvPr id="10" name="Shape 8"/>
          <p:cNvSpPr/>
          <p:nvPr/>
        </p:nvSpPr>
        <p:spPr>
          <a:xfrm>
            <a:off x="698784" y="351130"/>
            <a:ext cx="8641" cy="148133"/>
          </a:xfrm>
          <a:prstGeom prst="rect">
            <a:avLst/>
          </a:prstGeom>
          <a:solidFill>
            <a:srgbClr val="17382F"/>
          </a:solidFill>
          <a:ln w="10160">
            <a:solidFill>
              <a:srgbClr val="17382F"/>
            </a:solidFill>
            <a:prstDash val="solid"/>
          </a:ln>
        </p:spPr>
      </p:sp>
      <p:sp>
        <p:nvSpPr>
          <p:cNvPr id="11" name="Shape 9"/>
          <p:cNvSpPr/>
          <p:nvPr/>
        </p:nvSpPr>
        <p:spPr>
          <a:xfrm>
            <a:off x="721004" y="375818"/>
            <a:ext cx="8641" cy="98755"/>
          </a:xfrm>
          <a:prstGeom prst="rect">
            <a:avLst/>
          </a:prstGeom>
          <a:solidFill>
            <a:srgbClr val="17382F"/>
          </a:solidFill>
          <a:ln w="10160">
            <a:solidFill>
              <a:srgbClr val="17382F"/>
            </a:solidFill>
            <a:prstDash val="solid"/>
          </a:ln>
        </p:spPr>
      </p:sp>
      <p:sp>
        <p:nvSpPr>
          <p:cNvPr id="12" name="Shape 10"/>
          <p:cNvSpPr/>
          <p:nvPr/>
        </p:nvSpPr>
        <p:spPr>
          <a:xfrm>
            <a:off x="743224" y="398038"/>
            <a:ext cx="8641" cy="54315"/>
          </a:xfrm>
          <a:prstGeom prst="rect">
            <a:avLst/>
          </a:prstGeom>
          <a:solidFill>
            <a:srgbClr val="17382F"/>
          </a:solidFill>
          <a:ln w="10160">
            <a:solidFill>
              <a:srgbClr val="17382F"/>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17382F"/>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566D62"/>
                </a:solidFill>
                <a:latin typeface="Arial" pitchFamily="34" charset="0"/>
                <a:ea typeface="Arial" pitchFamily="34" charset="-122"/>
                <a:cs typeface="Arial" pitchFamily="34" charset="-120"/>
              </a:rPr>
              <a:t>04  /  HOW IT INTEGRATES</a:t>
            </a:r>
            <a:endParaRPr lang="en-US" sz="950" dirty="0"/>
          </a:p>
        </p:txBody>
      </p:sp>
      <p:sp>
        <p:nvSpPr>
          <p:cNvPr id="15" name="Shape 13"/>
          <p:cNvSpPr/>
          <p:nvPr/>
        </p:nvSpPr>
        <p:spPr>
          <a:xfrm>
            <a:off x="594360" y="6446520"/>
            <a:ext cx="11000232" cy="0"/>
          </a:xfrm>
          <a:prstGeom prst="line">
            <a:avLst/>
          </a:prstGeom>
          <a:noFill/>
          <a:ln w="8890">
            <a:solidFill>
              <a:srgbClr val="DCE4D6"/>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566D62"/>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566D62"/>
                </a:solidFill>
                <a:latin typeface="Arial" pitchFamily="34" charset="0"/>
                <a:ea typeface="Arial" pitchFamily="34" charset="-122"/>
                <a:cs typeface="Arial" pitchFamily="34" charset="-120"/>
              </a:rPr>
              <a:t>04 / 06</a:t>
            </a:r>
            <a:endParaRPr lang="en-US" sz="900" dirty="0"/>
          </a:p>
        </p:txBody>
      </p:sp>
      <p:sp>
        <p:nvSpPr>
          <p:cNvPr id="18" name="Text 16"/>
          <p:cNvSpPr/>
          <p:nvPr/>
        </p:nvSpPr>
        <p:spPr>
          <a:xfrm>
            <a:off x="594360" y="932688"/>
            <a:ext cx="10927080" cy="1170432"/>
          </a:xfrm>
          <a:prstGeom prst="rect">
            <a:avLst/>
          </a:prstGeom>
          <a:noFill/>
          <a:ln/>
        </p:spPr>
        <p:txBody>
          <a:bodyPr wrap="square" lIns="0" tIns="0" rIns="0" bIns="0" rtlCol="0" anchor="ctr">
            <a:normAutofit/>
          </a:bodyPr>
          <a:lstStyle/>
          <a:p>
            <a:pPr indent="0" marL="0">
              <a:buNone/>
            </a:pPr>
            <a:r>
              <a:rPr lang="en-US" sz="4200" b="1" spc="-110" kern="0" dirty="0">
                <a:solidFill>
                  <a:srgbClr val="17382F"/>
                </a:solidFill>
                <a:latin typeface="Arial" pitchFamily="34" charset="0"/>
                <a:ea typeface="Arial" pitchFamily="34" charset="-122"/>
                <a:cs typeface="Arial" pitchFamily="34" charset="-120"/>
              </a:rPr>
              <a:t>Fits the Microsoft stack.</a:t>
            </a:r>
            <a:endParaRPr lang="en-US" sz="4200" dirty="0"/>
          </a:p>
          <a:p>
            <a:pPr indent="0" marL="0">
              <a:buNone/>
            </a:pPr>
            <a:r>
              <a:rPr lang="en-US" sz="4200" b="1" spc="-110" kern="0" dirty="0">
                <a:solidFill>
                  <a:srgbClr val="17382F"/>
                </a:solidFill>
                <a:latin typeface="Arial" pitchFamily="34" charset="0"/>
                <a:ea typeface="Arial" pitchFamily="34" charset="-122"/>
                <a:cs typeface="Arial" pitchFamily="34" charset="-120"/>
              </a:rPr>
              <a:t>Extends the decision.</a:t>
            </a:r>
            <a:endParaRPr lang="en-US" sz="4200" dirty="0"/>
          </a:p>
        </p:txBody>
      </p:sp>
      <p:sp>
        <p:nvSpPr>
          <p:cNvPr id="19" name="Shape 17"/>
          <p:cNvSpPr/>
          <p:nvPr/>
        </p:nvSpPr>
        <p:spPr>
          <a:xfrm>
            <a:off x="621792" y="2267712"/>
            <a:ext cx="90526" cy="90526"/>
          </a:xfrm>
          <a:prstGeom prst="rect">
            <a:avLst/>
          </a:prstGeom>
          <a:solidFill>
            <a:srgbClr val="F25022"/>
          </a:solidFill>
          <a:ln w="10160">
            <a:solidFill>
              <a:srgbClr val="F25022"/>
            </a:solidFill>
            <a:prstDash val="solid"/>
          </a:ln>
        </p:spPr>
      </p:sp>
      <p:sp>
        <p:nvSpPr>
          <p:cNvPr id="20" name="Shape 18"/>
          <p:cNvSpPr/>
          <p:nvPr/>
        </p:nvSpPr>
        <p:spPr>
          <a:xfrm>
            <a:off x="732434" y="2267712"/>
            <a:ext cx="90526" cy="90526"/>
          </a:xfrm>
          <a:prstGeom prst="rect">
            <a:avLst/>
          </a:prstGeom>
          <a:solidFill>
            <a:srgbClr val="7FBA00"/>
          </a:solidFill>
          <a:ln w="10160">
            <a:solidFill>
              <a:srgbClr val="7FBA00"/>
            </a:solidFill>
            <a:prstDash val="solid"/>
          </a:ln>
        </p:spPr>
      </p:sp>
      <p:sp>
        <p:nvSpPr>
          <p:cNvPr id="21" name="Shape 19"/>
          <p:cNvSpPr/>
          <p:nvPr/>
        </p:nvSpPr>
        <p:spPr>
          <a:xfrm>
            <a:off x="621792" y="2378354"/>
            <a:ext cx="90526" cy="90526"/>
          </a:xfrm>
          <a:prstGeom prst="rect">
            <a:avLst/>
          </a:prstGeom>
          <a:solidFill>
            <a:srgbClr val="00A4EF"/>
          </a:solidFill>
          <a:ln w="10160">
            <a:solidFill>
              <a:srgbClr val="00A4EF"/>
            </a:solidFill>
            <a:prstDash val="solid"/>
          </a:ln>
        </p:spPr>
      </p:sp>
      <p:sp>
        <p:nvSpPr>
          <p:cNvPr id="22" name="Shape 20"/>
          <p:cNvSpPr/>
          <p:nvPr/>
        </p:nvSpPr>
        <p:spPr>
          <a:xfrm>
            <a:off x="732434" y="2378354"/>
            <a:ext cx="90526" cy="90526"/>
          </a:xfrm>
          <a:prstGeom prst="rect">
            <a:avLst/>
          </a:prstGeom>
          <a:solidFill>
            <a:srgbClr val="FFB900"/>
          </a:solidFill>
          <a:ln w="10160">
            <a:solidFill>
              <a:srgbClr val="FFB900"/>
            </a:solidFill>
            <a:prstDash val="solid"/>
          </a:ln>
        </p:spPr>
      </p:sp>
      <p:sp>
        <p:nvSpPr>
          <p:cNvPr id="23" name="Text 21"/>
          <p:cNvSpPr/>
          <p:nvPr/>
        </p:nvSpPr>
        <p:spPr>
          <a:xfrm>
            <a:off x="932688" y="2258568"/>
            <a:ext cx="3200400" cy="228600"/>
          </a:xfrm>
          <a:prstGeom prst="rect">
            <a:avLst/>
          </a:prstGeom>
          <a:noFill/>
          <a:ln/>
        </p:spPr>
        <p:txBody>
          <a:bodyPr wrap="square" lIns="0" tIns="0" rIns="0" bIns="0" rtlCol="0" anchor="ctr">
            <a:normAutofit/>
          </a:bodyPr>
          <a:lstStyle/>
          <a:p>
            <a:pPr indent="0" marL="0">
              <a:buNone/>
            </a:pPr>
            <a:r>
              <a:rPr lang="en-US" sz="1000" b="1" spc="125" kern="0" dirty="0">
                <a:solidFill>
                  <a:srgbClr val="566D62"/>
                </a:solidFill>
                <a:latin typeface="Arial" pitchFamily="34" charset="0"/>
                <a:ea typeface="Arial" pitchFamily="34" charset="-122"/>
                <a:cs typeface="Arial" pitchFamily="34" charset="-120"/>
              </a:rPr>
              <a:t>TWO INTEGRATION ROUTES</a:t>
            </a:r>
            <a:endParaRPr lang="en-US" sz="1000" dirty="0"/>
          </a:p>
        </p:txBody>
      </p:sp>
      <p:sp>
        <p:nvSpPr>
          <p:cNvPr id="24" name="Shape 22"/>
          <p:cNvSpPr/>
          <p:nvPr/>
        </p:nvSpPr>
        <p:spPr>
          <a:xfrm>
            <a:off x="594360" y="2688336"/>
            <a:ext cx="2532888" cy="987552"/>
          </a:xfrm>
          <a:prstGeom prst="roundRect">
            <a:avLst/>
          </a:prstGeom>
          <a:solidFill>
            <a:srgbClr val="FFFFFF"/>
          </a:solidFill>
          <a:ln w="10160">
            <a:solidFill>
              <a:srgbClr val="DCE4D6"/>
            </a:solidFill>
            <a:prstDash val="solid"/>
          </a:ln>
        </p:spPr>
      </p:sp>
      <p:sp>
        <p:nvSpPr>
          <p:cNvPr id="25" name="Text 23"/>
          <p:cNvSpPr/>
          <p:nvPr/>
        </p:nvSpPr>
        <p:spPr>
          <a:xfrm>
            <a:off x="822960" y="2880360"/>
            <a:ext cx="2084832" cy="274320"/>
          </a:xfrm>
          <a:prstGeom prst="rect">
            <a:avLst/>
          </a:prstGeom>
          <a:noFill/>
          <a:ln/>
        </p:spPr>
        <p:txBody>
          <a:bodyPr wrap="square" lIns="0" tIns="0" rIns="0" bIns="0" rtlCol="0" anchor="ctr">
            <a:normAutofit/>
          </a:bodyPr>
          <a:lstStyle/>
          <a:p>
            <a:pPr indent="0" marL="0">
              <a:buNone/>
            </a:pPr>
            <a:r>
              <a:rPr lang="en-US" sz="1800" b="1" dirty="0">
                <a:solidFill>
                  <a:srgbClr val="17382F"/>
                </a:solidFill>
                <a:latin typeface="Arial" pitchFamily="34" charset="0"/>
                <a:ea typeface="Arial" pitchFamily="34" charset="-122"/>
                <a:cs typeface="Arial" pitchFamily="34" charset="-120"/>
              </a:rPr>
              <a:t>Application API</a:t>
            </a:r>
            <a:endParaRPr lang="en-US" sz="1800" dirty="0"/>
          </a:p>
        </p:txBody>
      </p:sp>
      <p:sp>
        <p:nvSpPr>
          <p:cNvPr id="26" name="Text 24"/>
          <p:cNvSpPr/>
          <p:nvPr/>
        </p:nvSpPr>
        <p:spPr>
          <a:xfrm>
            <a:off x="822960" y="3282696"/>
            <a:ext cx="2103120" cy="201168"/>
          </a:xfrm>
          <a:prstGeom prst="rect">
            <a:avLst/>
          </a:prstGeom>
          <a:noFill/>
          <a:ln/>
        </p:spPr>
        <p:txBody>
          <a:bodyPr wrap="square" lIns="0" tIns="0" rIns="0" bIns="0" rtlCol="0" anchor="ctr">
            <a:normAutofit/>
          </a:bodyPr>
          <a:lstStyle/>
          <a:p>
            <a:pPr indent="0" marL="0">
              <a:buNone/>
            </a:pPr>
            <a:r>
              <a:rPr lang="en-US" sz="1230" dirty="0">
                <a:solidFill>
                  <a:srgbClr val="566D62"/>
                </a:solidFill>
                <a:latin typeface="Arial" pitchFamily="34" charset="0"/>
                <a:ea typeface="Arial" pitchFamily="34" charset="-122"/>
                <a:cs typeface="Arial" pitchFamily="34" charset="-120"/>
              </a:rPr>
              <a:t>Entra SSO → Treasury step-up</a:t>
            </a:r>
            <a:endParaRPr lang="en-US" sz="1230" dirty="0"/>
          </a:p>
        </p:txBody>
      </p:sp>
      <p:sp>
        <p:nvSpPr>
          <p:cNvPr id="27" name="Shape 25"/>
          <p:cNvSpPr/>
          <p:nvPr/>
        </p:nvSpPr>
        <p:spPr>
          <a:xfrm>
            <a:off x="594360" y="4233672"/>
            <a:ext cx="2532888" cy="987552"/>
          </a:xfrm>
          <a:prstGeom prst="roundRect">
            <a:avLst/>
          </a:prstGeom>
          <a:solidFill>
            <a:srgbClr val="FFFFFF"/>
          </a:solidFill>
          <a:ln w="10160">
            <a:solidFill>
              <a:srgbClr val="DCE4D6"/>
            </a:solidFill>
            <a:prstDash val="solid"/>
          </a:ln>
        </p:spPr>
      </p:sp>
      <p:sp>
        <p:nvSpPr>
          <p:cNvPr id="28" name="Text 26"/>
          <p:cNvSpPr/>
          <p:nvPr/>
        </p:nvSpPr>
        <p:spPr>
          <a:xfrm>
            <a:off x="822960" y="4425696"/>
            <a:ext cx="2084832" cy="274320"/>
          </a:xfrm>
          <a:prstGeom prst="rect">
            <a:avLst/>
          </a:prstGeom>
          <a:noFill/>
          <a:ln/>
        </p:spPr>
        <p:txBody>
          <a:bodyPr wrap="square" lIns="0" tIns="0" rIns="0" bIns="0" rtlCol="0" anchor="ctr">
            <a:normAutofit/>
          </a:bodyPr>
          <a:lstStyle/>
          <a:p>
            <a:pPr indent="0" marL="0">
              <a:buNone/>
            </a:pPr>
            <a:r>
              <a:rPr lang="en-US" sz="1800" b="1" dirty="0">
                <a:solidFill>
                  <a:srgbClr val="17382F"/>
                </a:solidFill>
                <a:latin typeface="Arial" pitchFamily="34" charset="0"/>
                <a:ea typeface="Arial" pitchFamily="34" charset="-122"/>
                <a:cs typeface="Arial" pitchFamily="34" charset="-120"/>
              </a:rPr>
              <a:t>Entra EAM / OIDC</a:t>
            </a:r>
            <a:endParaRPr lang="en-US" sz="1800" dirty="0"/>
          </a:p>
        </p:txBody>
      </p:sp>
      <p:sp>
        <p:nvSpPr>
          <p:cNvPr id="29" name="Text 27"/>
          <p:cNvSpPr/>
          <p:nvPr/>
        </p:nvSpPr>
        <p:spPr>
          <a:xfrm>
            <a:off x="822960" y="4828032"/>
            <a:ext cx="2103120" cy="201168"/>
          </a:xfrm>
          <a:prstGeom prst="rect">
            <a:avLst/>
          </a:prstGeom>
          <a:noFill/>
          <a:ln/>
        </p:spPr>
        <p:txBody>
          <a:bodyPr wrap="square" lIns="0" tIns="0" rIns="0" bIns="0" rtlCol="0" anchor="ctr">
            <a:normAutofit/>
          </a:bodyPr>
          <a:lstStyle/>
          <a:p>
            <a:pPr indent="0" marL="0">
              <a:buNone/>
            </a:pPr>
            <a:r>
              <a:rPr lang="en-US" sz="1230" dirty="0">
                <a:solidFill>
                  <a:srgbClr val="566D62"/>
                </a:solidFill>
                <a:latin typeface="Arial" pitchFamily="34" charset="0"/>
                <a:ea typeface="Arial" pitchFamily="34" charset="-122"/>
                <a:cs typeface="Arial" pitchFamily="34" charset="-120"/>
              </a:rPr>
              <a:t>Optional tenant integration</a:t>
            </a:r>
            <a:endParaRPr lang="en-US" sz="1230" dirty="0"/>
          </a:p>
        </p:txBody>
      </p:sp>
      <p:sp>
        <p:nvSpPr>
          <p:cNvPr id="30" name="Shape 28"/>
          <p:cNvSpPr/>
          <p:nvPr/>
        </p:nvSpPr>
        <p:spPr>
          <a:xfrm>
            <a:off x="3136392" y="3182112"/>
            <a:ext cx="246888" cy="0"/>
          </a:xfrm>
          <a:prstGeom prst="line">
            <a:avLst/>
          </a:prstGeom>
          <a:noFill/>
          <a:ln w="13970">
            <a:solidFill>
              <a:srgbClr val="566D62"/>
            </a:solidFill>
            <a:prstDash val="solid"/>
            <a:headEnd type="none"/>
            <a:tailEnd type="none"/>
          </a:ln>
        </p:spPr>
      </p:sp>
      <p:sp>
        <p:nvSpPr>
          <p:cNvPr id="31" name="Shape 29"/>
          <p:cNvSpPr/>
          <p:nvPr/>
        </p:nvSpPr>
        <p:spPr>
          <a:xfrm>
            <a:off x="3136392" y="4727448"/>
            <a:ext cx="246888" cy="0"/>
          </a:xfrm>
          <a:prstGeom prst="line">
            <a:avLst/>
          </a:prstGeom>
          <a:noFill/>
          <a:ln w="13970">
            <a:solidFill>
              <a:srgbClr val="566D62"/>
            </a:solidFill>
            <a:prstDash val="solid"/>
            <a:headEnd type="none"/>
            <a:tailEnd type="none"/>
          </a:ln>
        </p:spPr>
      </p:sp>
      <p:sp>
        <p:nvSpPr>
          <p:cNvPr id="32" name="Shape 30"/>
          <p:cNvSpPr/>
          <p:nvPr/>
        </p:nvSpPr>
        <p:spPr>
          <a:xfrm>
            <a:off x="3383280" y="3182112"/>
            <a:ext cx="0" cy="1545336"/>
          </a:xfrm>
          <a:prstGeom prst="line">
            <a:avLst/>
          </a:prstGeom>
          <a:noFill/>
          <a:ln w="13970">
            <a:solidFill>
              <a:srgbClr val="566D62"/>
            </a:solidFill>
            <a:prstDash val="solid"/>
            <a:headEnd type="none"/>
            <a:tailEnd type="none"/>
          </a:ln>
        </p:spPr>
      </p:sp>
      <p:sp>
        <p:nvSpPr>
          <p:cNvPr id="33" name="Shape 31"/>
          <p:cNvSpPr/>
          <p:nvPr/>
        </p:nvSpPr>
        <p:spPr>
          <a:xfrm>
            <a:off x="3383280" y="3941064"/>
            <a:ext cx="219456" cy="0"/>
          </a:xfrm>
          <a:prstGeom prst="line">
            <a:avLst/>
          </a:prstGeom>
          <a:noFill/>
          <a:ln w="17780">
            <a:solidFill>
              <a:srgbClr val="566D62"/>
            </a:solidFill>
            <a:prstDash val="solid"/>
            <a:headEnd type="none"/>
            <a:tailEnd type="triangle"/>
          </a:ln>
        </p:spPr>
      </p:sp>
      <p:sp>
        <p:nvSpPr>
          <p:cNvPr id="34" name="Shape 32"/>
          <p:cNvSpPr/>
          <p:nvPr/>
        </p:nvSpPr>
        <p:spPr>
          <a:xfrm>
            <a:off x="3648456" y="2606040"/>
            <a:ext cx="4663440" cy="2706624"/>
          </a:xfrm>
          <a:prstGeom prst="roundRect">
            <a:avLst/>
          </a:prstGeom>
          <a:solidFill>
            <a:srgbClr val="0C252D"/>
          </a:solidFill>
          <a:ln w="10160">
            <a:solidFill>
              <a:srgbClr val="0C252D"/>
            </a:solidFill>
            <a:prstDash val="solid"/>
          </a:ln>
        </p:spPr>
      </p:sp>
      <p:sp>
        <p:nvSpPr>
          <p:cNvPr id="35" name="Text 33"/>
          <p:cNvSpPr/>
          <p:nvPr/>
        </p:nvSpPr>
        <p:spPr>
          <a:xfrm>
            <a:off x="3886200" y="2834640"/>
            <a:ext cx="4187952" cy="329184"/>
          </a:xfrm>
          <a:prstGeom prst="rect">
            <a:avLst/>
          </a:prstGeom>
          <a:noFill/>
          <a:ln/>
        </p:spPr>
        <p:txBody>
          <a:bodyPr wrap="square" lIns="0" tIns="0" rIns="0" bIns="0" rtlCol="0" anchor="ctr">
            <a:normAutofit/>
          </a:bodyPr>
          <a:lstStyle/>
          <a:p>
            <a:pPr algn="ctr" indent="0" marL="0">
              <a:buNone/>
            </a:pPr>
            <a:r>
              <a:rPr lang="en-US" sz="2400" b="1" dirty="0">
                <a:solidFill>
                  <a:srgbClr val="D5EDAE"/>
                </a:solidFill>
                <a:latin typeface="Arial" pitchFamily="34" charset="0"/>
                <a:ea typeface="Arial" pitchFamily="34" charset="-122"/>
                <a:cs typeface="Arial" pitchFamily="34" charset="-120"/>
              </a:rPr>
              <a:t>EntraGuard</a:t>
            </a:r>
            <a:endParaRPr lang="en-US" sz="2400" dirty="0"/>
          </a:p>
        </p:txBody>
      </p:sp>
      <p:sp>
        <p:nvSpPr>
          <p:cNvPr id="36" name="Text 34"/>
          <p:cNvSpPr/>
          <p:nvPr/>
        </p:nvSpPr>
        <p:spPr>
          <a:xfrm>
            <a:off x="3886200" y="3264408"/>
            <a:ext cx="4187952" cy="182880"/>
          </a:xfrm>
          <a:prstGeom prst="rect">
            <a:avLst/>
          </a:prstGeom>
          <a:noFill/>
          <a:ln/>
        </p:spPr>
        <p:txBody>
          <a:bodyPr wrap="square" lIns="0" tIns="0" rIns="0" bIns="0" rtlCol="0" anchor="ctr">
            <a:normAutofit/>
          </a:bodyPr>
          <a:lstStyle/>
          <a:p>
            <a:pPr algn="ctr" indent="0" marL="0">
              <a:buNone/>
            </a:pPr>
            <a:r>
              <a:rPr lang="en-US" sz="950" spc="150" kern="0" dirty="0">
                <a:solidFill>
                  <a:srgbClr val="B4C8BE"/>
                </a:solidFill>
                <a:latin typeface="Arial" pitchFamily="34" charset="0"/>
                <a:ea typeface="Arial" pitchFamily="34" charset="-122"/>
                <a:cs typeface="Arial" pitchFamily="34" charset="-120"/>
              </a:rPr>
              <a:t>AZURE CONTAINER APPS</a:t>
            </a:r>
            <a:endParaRPr lang="en-US" sz="950" dirty="0"/>
          </a:p>
        </p:txBody>
      </p:sp>
      <p:sp>
        <p:nvSpPr>
          <p:cNvPr id="37" name="Shape 35"/>
          <p:cNvSpPr/>
          <p:nvPr/>
        </p:nvSpPr>
        <p:spPr>
          <a:xfrm>
            <a:off x="3858768" y="3639312"/>
            <a:ext cx="1353312" cy="512064"/>
          </a:xfrm>
          <a:prstGeom prst="roundRect">
            <a:avLst/>
          </a:prstGeom>
          <a:solidFill>
            <a:srgbClr val="204849"/>
          </a:solidFill>
          <a:ln w="10160">
            <a:solidFill>
              <a:srgbClr val="36554E"/>
            </a:solidFill>
            <a:prstDash val="solid"/>
          </a:ln>
        </p:spPr>
      </p:sp>
      <p:sp>
        <p:nvSpPr>
          <p:cNvPr id="38" name="Text 36"/>
          <p:cNvSpPr/>
          <p:nvPr/>
        </p:nvSpPr>
        <p:spPr>
          <a:xfrm>
            <a:off x="3904488" y="3758184"/>
            <a:ext cx="1261872" cy="23774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Arial" pitchFamily="34" charset="0"/>
                <a:ea typeface="Arial" pitchFamily="34" charset="-122"/>
                <a:cs typeface="Arial" pitchFamily="34" charset="-120"/>
              </a:rPr>
              <a:t>ACS / Teams</a:t>
            </a:r>
            <a:endParaRPr lang="en-US" sz="1220" dirty="0"/>
          </a:p>
        </p:txBody>
      </p:sp>
      <p:sp>
        <p:nvSpPr>
          <p:cNvPr id="39" name="Shape 37"/>
          <p:cNvSpPr/>
          <p:nvPr/>
        </p:nvSpPr>
        <p:spPr>
          <a:xfrm>
            <a:off x="5294376" y="3639312"/>
            <a:ext cx="1353312" cy="512064"/>
          </a:xfrm>
          <a:prstGeom prst="roundRect">
            <a:avLst/>
          </a:prstGeom>
          <a:solidFill>
            <a:srgbClr val="204849"/>
          </a:solidFill>
          <a:ln w="10160">
            <a:solidFill>
              <a:srgbClr val="36554E"/>
            </a:solidFill>
            <a:prstDash val="solid"/>
          </a:ln>
        </p:spPr>
      </p:sp>
      <p:sp>
        <p:nvSpPr>
          <p:cNvPr id="40" name="Text 38"/>
          <p:cNvSpPr/>
          <p:nvPr/>
        </p:nvSpPr>
        <p:spPr>
          <a:xfrm>
            <a:off x="5340096" y="3758184"/>
            <a:ext cx="1261872" cy="23774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Arial" pitchFamily="34" charset="0"/>
                <a:ea typeface="Arial" pitchFamily="34" charset="-122"/>
                <a:cs typeface="Arial" pitchFamily="34" charset="-120"/>
              </a:rPr>
              <a:t>AI Speech</a:t>
            </a:r>
            <a:endParaRPr lang="en-US" sz="1220" dirty="0"/>
          </a:p>
        </p:txBody>
      </p:sp>
      <p:sp>
        <p:nvSpPr>
          <p:cNvPr id="41" name="Shape 39"/>
          <p:cNvSpPr/>
          <p:nvPr/>
        </p:nvSpPr>
        <p:spPr>
          <a:xfrm>
            <a:off x="6729984" y="3639312"/>
            <a:ext cx="1353312" cy="512064"/>
          </a:xfrm>
          <a:prstGeom prst="roundRect">
            <a:avLst/>
          </a:prstGeom>
          <a:solidFill>
            <a:srgbClr val="204849"/>
          </a:solidFill>
          <a:ln w="10160">
            <a:solidFill>
              <a:srgbClr val="36554E"/>
            </a:solidFill>
            <a:prstDash val="solid"/>
          </a:ln>
        </p:spPr>
      </p:sp>
      <p:sp>
        <p:nvSpPr>
          <p:cNvPr id="42" name="Text 40"/>
          <p:cNvSpPr/>
          <p:nvPr/>
        </p:nvSpPr>
        <p:spPr>
          <a:xfrm>
            <a:off x="6775704" y="3758184"/>
            <a:ext cx="1261872" cy="237744"/>
          </a:xfrm>
          <a:prstGeom prst="rect">
            <a:avLst/>
          </a:prstGeom>
          <a:noFill/>
          <a:ln/>
        </p:spPr>
        <p:txBody>
          <a:bodyPr wrap="square" lIns="0" tIns="0" rIns="0" bIns="0" rtlCol="0" anchor="ctr">
            <a:normAutofit/>
          </a:bodyPr>
          <a:lstStyle/>
          <a:p>
            <a:pPr algn="ctr" indent="0" marL="0">
              <a:buNone/>
            </a:pPr>
            <a:r>
              <a:rPr lang="en-US" sz="1220" b="1" dirty="0">
                <a:solidFill>
                  <a:srgbClr val="FFFFFF"/>
                </a:solidFill>
                <a:latin typeface="Arial" pitchFamily="34" charset="0"/>
                <a:ea typeface="Arial" pitchFamily="34" charset="-122"/>
                <a:cs typeface="Arial" pitchFamily="34" charset="-120"/>
              </a:rPr>
              <a:t>Azure OpenAI</a:t>
            </a:r>
            <a:endParaRPr lang="en-US" sz="1220" dirty="0"/>
          </a:p>
        </p:txBody>
      </p:sp>
      <p:sp>
        <p:nvSpPr>
          <p:cNvPr id="43" name="Shape 41"/>
          <p:cNvSpPr/>
          <p:nvPr/>
        </p:nvSpPr>
        <p:spPr>
          <a:xfrm>
            <a:off x="3858768" y="4425696"/>
            <a:ext cx="4233672" cy="448056"/>
          </a:xfrm>
          <a:prstGeom prst="roundRect">
            <a:avLst/>
          </a:prstGeom>
          <a:solidFill>
            <a:srgbClr val="D5EDAE"/>
          </a:solidFill>
          <a:ln w="10160">
            <a:solidFill>
              <a:srgbClr val="D5EDAE"/>
            </a:solidFill>
            <a:prstDash val="solid"/>
          </a:ln>
        </p:spPr>
      </p:sp>
      <p:sp>
        <p:nvSpPr>
          <p:cNvPr id="44" name="Text 42"/>
          <p:cNvSpPr/>
          <p:nvPr/>
        </p:nvSpPr>
        <p:spPr>
          <a:xfrm>
            <a:off x="3995928" y="4507992"/>
            <a:ext cx="3959352" cy="246888"/>
          </a:xfrm>
          <a:prstGeom prst="rect">
            <a:avLst/>
          </a:prstGeom>
          <a:noFill/>
          <a:ln/>
        </p:spPr>
        <p:txBody>
          <a:bodyPr wrap="square" lIns="0" tIns="0" rIns="0" bIns="0" rtlCol="0" anchor="ctr">
            <a:normAutofit/>
          </a:bodyPr>
          <a:lstStyle/>
          <a:p>
            <a:pPr algn="ctr" indent="0" marL="0">
              <a:buNone/>
            </a:pPr>
            <a:r>
              <a:rPr lang="en-US" sz="1400" b="1" dirty="0">
                <a:solidFill>
                  <a:srgbClr val="17382F"/>
                </a:solidFill>
                <a:latin typeface="Arial" pitchFamily="34" charset="0"/>
                <a:ea typeface="Arial" pitchFamily="34" charset="-122"/>
                <a:cs typeface="Arial" pitchFamily="34" charset="-120"/>
              </a:rPr>
              <a:t>Deterministic gate + verified sessions</a:t>
            </a:r>
            <a:endParaRPr lang="en-US" sz="1400" dirty="0"/>
          </a:p>
        </p:txBody>
      </p:sp>
      <p:sp>
        <p:nvSpPr>
          <p:cNvPr id="45" name="Text 43"/>
          <p:cNvSpPr/>
          <p:nvPr/>
        </p:nvSpPr>
        <p:spPr>
          <a:xfrm>
            <a:off x="3858768" y="5038344"/>
            <a:ext cx="4233672" cy="155448"/>
          </a:xfrm>
          <a:prstGeom prst="rect">
            <a:avLst/>
          </a:prstGeom>
          <a:noFill/>
          <a:ln/>
        </p:spPr>
        <p:txBody>
          <a:bodyPr wrap="square" lIns="0" tIns="0" rIns="0" bIns="0" rtlCol="0" anchor="ctr">
            <a:normAutofit/>
          </a:bodyPr>
          <a:lstStyle/>
          <a:p>
            <a:pPr algn="ctr" indent="0" marL="0">
              <a:buNone/>
            </a:pPr>
            <a:r>
              <a:rPr lang="en-US" sz="950" dirty="0">
                <a:solidFill>
                  <a:srgbClr val="B4C8BE"/>
                </a:solidFill>
                <a:latin typeface="Arial" pitchFamily="34" charset="0"/>
                <a:ea typeface="Arial" pitchFamily="34" charset="-122"/>
                <a:cs typeface="Arial" pitchFamily="34" charset="-120"/>
              </a:rPr>
              <a:t>Graph context  •  Optional voiceprint  •  Table receipts</a:t>
            </a:r>
            <a:endParaRPr lang="en-US" sz="950" dirty="0"/>
          </a:p>
        </p:txBody>
      </p:sp>
      <p:sp>
        <p:nvSpPr>
          <p:cNvPr id="46" name="Shape 44"/>
          <p:cNvSpPr/>
          <p:nvPr/>
        </p:nvSpPr>
        <p:spPr>
          <a:xfrm>
            <a:off x="8311896" y="3941064"/>
            <a:ext cx="228600" cy="0"/>
          </a:xfrm>
          <a:prstGeom prst="line">
            <a:avLst/>
          </a:prstGeom>
          <a:noFill/>
          <a:ln w="13970">
            <a:solidFill>
              <a:srgbClr val="566D62"/>
            </a:solidFill>
            <a:prstDash val="solid"/>
            <a:headEnd type="none"/>
            <a:tailEnd type="none"/>
          </a:ln>
        </p:spPr>
      </p:sp>
      <p:sp>
        <p:nvSpPr>
          <p:cNvPr id="47" name="Shape 45"/>
          <p:cNvSpPr/>
          <p:nvPr/>
        </p:nvSpPr>
        <p:spPr>
          <a:xfrm>
            <a:off x="8540496" y="3054096"/>
            <a:ext cx="0" cy="1792224"/>
          </a:xfrm>
          <a:prstGeom prst="line">
            <a:avLst/>
          </a:prstGeom>
          <a:noFill/>
          <a:ln w="13970">
            <a:solidFill>
              <a:srgbClr val="566D62"/>
            </a:solidFill>
            <a:prstDash val="solid"/>
            <a:headEnd type="none"/>
            <a:tailEnd type="none"/>
          </a:ln>
        </p:spPr>
      </p:sp>
      <p:sp>
        <p:nvSpPr>
          <p:cNvPr id="48" name="Shape 46"/>
          <p:cNvSpPr/>
          <p:nvPr/>
        </p:nvSpPr>
        <p:spPr>
          <a:xfrm>
            <a:off x="8540496" y="3054096"/>
            <a:ext cx="228600" cy="0"/>
          </a:xfrm>
          <a:prstGeom prst="line">
            <a:avLst/>
          </a:prstGeom>
          <a:noFill/>
          <a:ln w="16510">
            <a:solidFill>
              <a:srgbClr val="566D62"/>
            </a:solidFill>
            <a:prstDash val="solid"/>
            <a:headEnd type="none"/>
            <a:tailEnd type="triangle"/>
          </a:ln>
        </p:spPr>
      </p:sp>
      <p:sp>
        <p:nvSpPr>
          <p:cNvPr id="49" name="Shape 47"/>
          <p:cNvSpPr/>
          <p:nvPr/>
        </p:nvSpPr>
        <p:spPr>
          <a:xfrm>
            <a:off x="8823960" y="2679192"/>
            <a:ext cx="2770632" cy="749808"/>
          </a:xfrm>
          <a:prstGeom prst="roundRect">
            <a:avLst/>
          </a:prstGeom>
          <a:solidFill>
            <a:srgbClr val="FFFFFF"/>
          </a:solidFill>
          <a:ln w="10160">
            <a:solidFill>
              <a:srgbClr val="DCE4D6"/>
            </a:solidFill>
            <a:prstDash val="solid"/>
          </a:ln>
        </p:spPr>
      </p:sp>
      <p:sp>
        <p:nvSpPr>
          <p:cNvPr id="50" name="Text 48"/>
          <p:cNvSpPr/>
          <p:nvPr/>
        </p:nvSpPr>
        <p:spPr>
          <a:xfrm>
            <a:off x="9025128" y="2788920"/>
            <a:ext cx="2350008" cy="256032"/>
          </a:xfrm>
          <a:prstGeom prst="rect">
            <a:avLst/>
          </a:prstGeom>
          <a:noFill/>
          <a:ln/>
        </p:spPr>
        <p:txBody>
          <a:bodyPr wrap="square" lIns="0" tIns="0" rIns="0" bIns="0" rtlCol="0" anchor="ctr">
            <a:normAutofit/>
          </a:bodyPr>
          <a:lstStyle/>
          <a:p>
            <a:pPr indent="0" marL="0">
              <a:buNone/>
            </a:pPr>
            <a:r>
              <a:rPr lang="en-US" sz="1700" b="1" dirty="0">
                <a:solidFill>
                  <a:srgbClr val="17382F"/>
                </a:solidFill>
                <a:latin typeface="Arial" pitchFamily="34" charset="0"/>
                <a:ea typeface="Arial" pitchFamily="34" charset="-122"/>
                <a:cs typeface="Arial" pitchFamily="34" charset="-120"/>
              </a:rPr>
              <a:t>App access</a:t>
            </a:r>
            <a:endParaRPr lang="en-US" sz="1700" dirty="0"/>
          </a:p>
        </p:txBody>
      </p:sp>
      <p:sp>
        <p:nvSpPr>
          <p:cNvPr id="51" name="Text 49"/>
          <p:cNvSpPr/>
          <p:nvPr/>
        </p:nvSpPr>
        <p:spPr>
          <a:xfrm>
            <a:off x="9025128" y="3136392"/>
            <a:ext cx="2350008" cy="155448"/>
          </a:xfrm>
          <a:prstGeom prst="rect">
            <a:avLst/>
          </a:prstGeom>
          <a:noFill/>
          <a:ln/>
        </p:spPr>
        <p:txBody>
          <a:bodyPr wrap="square" lIns="0" tIns="0" rIns="0" bIns="0" rtlCol="0" anchor="ctr">
            <a:normAutofit/>
          </a:bodyPr>
          <a:lstStyle/>
          <a:p>
            <a:pPr indent="0" marL="0">
              <a:buNone/>
            </a:pPr>
            <a:r>
              <a:rPr lang="en-US" sz="1170" dirty="0">
                <a:solidFill>
                  <a:srgbClr val="566D62"/>
                </a:solidFill>
                <a:latin typeface="Arial" pitchFamily="34" charset="0"/>
                <a:ea typeface="Arial" pitchFamily="34" charset="-122"/>
                <a:cs typeface="Arial" pitchFamily="34" charset="-120"/>
              </a:rPr>
              <a:t>Grant / step up / refuse</a:t>
            </a:r>
            <a:endParaRPr lang="en-US" sz="1170" dirty="0"/>
          </a:p>
        </p:txBody>
      </p:sp>
      <p:sp>
        <p:nvSpPr>
          <p:cNvPr id="52" name="Shape 50"/>
          <p:cNvSpPr/>
          <p:nvPr/>
        </p:nvSpPr>
        <p:spPr>
          <a:xfrm>
            <a:off x="8540496" y="3950208"/>
            <a:ext cx="228600" cy="0"/>
          </a:xfrm>
          <a:prstGeom prst="line">
            <a:avLst/>
          </a:prstGeom>
          <a:noFill/>
          <a:ln w="16510">
            <a:solidFill>
              <a:srgbClr val="566D62"/>
            </a:solidFill>
            <a:prstDash val="solid"/>
            <a:headEnd type="none"/>
            <a:tailEnd type="triangle"/>
          </a:ln>
        </p:spPr>
      </p:sp>
      <p:sp>
        <p:nvSpPr>
          <p:cNvPr id="53" name="Shape 51"/>
          <p:cNvSpPr/>
          <p:nvPr/>
        </p:nvSpPr>
        <p:spPr>
          <a:xfrm>
            <a:off x="8823960" y="3575304"/>
            <a:ext cx="2770632" cy="749808"/>
          </a:xfrm>
          <a:prstGeom prst="roundRect">
            <a:avLst/>
          </a:prstGeom>
          <a:solidFill>
            <a:srgbClr val="FFFFFF"/>
          </a:solidFill>
          <a:ln w="10160">
            <a:solidFill>
              <a:srgbClr val="DCE4D6"/>
            </a:solidFill>
            <a:prstDash val="solid"/>
          </a:ln>
        </p:spPr>
      </p:sp>
      <p:sp>
        <p:nvSpPr>
          <p:cNvPr id="54" name="Text 52"/>
          <p:cNvSpPr/>
          <p:nvPr/>
        </p:nvSpPr>
        <p:spPr>
          <a:xfrm>
            <a:off x="9025128" y="3685032"/>
            <a:ext cx="2350008" cy="256032"/>
          </a:xfrm>
          <a:prstGeom prst="rect">
            <a:avLst/>
          </a:prstGeom>
          <a:noFill/>
          <a:ln/>
        </p:spPr>
        <p:txBody>
          <a:bodyPr wrap="square" lIns="0" tIns="0" rIns="0" bIns="0" rtlCol="0" anchor="ctr">
            <a:normAutofit/>
          </a:bodyPr>
          <a:lstStyle/>
          <a:p>
            <a:pPr indent="0" marL="0">
              <a:buNone/>
            </a:pPr>
            <a:r>
              <a:rPr lang="en-US" sz="1700" b="1" dirty="0">
                <a:solidFill>
                  <a:srgbClr val="17382F"/>
                </a:solidFill>
                <a:latin typeface="Arial" pitchFamily="34" charset="0"/>
                <a:ea typeface="Arial" pitchFamily="34" charset="-122"/>
                <a:cs typeface="Arial" pitchFamily="34" charset="-120"/>
              </a:rPr>
              <a:t>Microsoft Graph</a:t>
            </a:r>
            <a:endParaRPr lang="en-US" sz="1700" dirty="0"/>
          </a:p>
        </p:txBody>
      </p:sp>
      <p:sp>
        <p:nvSpPr>
          <p:cNvPr id="55" name="Text 53"/>
          <p:cNvSpPr/>
          <p:nvPr/>
        </p:nvSpPr>
        <p:spPr>
          <a:xfrm>
            <a:off x="9025128" y="4032504"/>
            <a:ext cx="2350008" cy="155448"/>
          </a:xfrm>
          <a:prstGeom prst="rect">
            <a:avLst/>
          </a:prstGeom>
          <a:noFill/>
          <a:ln/>
        </p:spPr>
        <p:txBody>
          <a:bodyPr wrap="square" lIns="0" tIns="0" rIns="0" bIns="0" rtlCol="0" anchor="ctr">
            <a:normAutofit/>
          </a:bodyPr>
          <a:lstStyle/>
          <a:p>
            <a:pPr indent="0" marL="0">
              <a:buNone/>
            </a:pPr>
            <a:r>
              <a:rPr lang="en-US" sz="1170" dirty="0">
                <a:solidFill>
                  <a:srgbClr val="566D62"/>
                </a:solidFill>
                <a:latin typeface="Arial" pitchFamily="34" charset="0"/>
                <a:ea typeface="Arial" pitchFamily="34" charset="-122"/>
                <a:cs typeface="Arial" pitchFamily="34" charset="-120"/>
              </a:rPr>
              <a:t>Permission-gated containment</a:t>
            </a:r>
            <a:endParaRPr lang="en-US" sz="1170" dirty="0"/>
          </a:p>
        </p:txBody>
      </p:sp>
      <p:sp>
        <p:nvSpPr>
          <p:cNvPr id="56" name="Shape 54"/>
          <p:cNvSpPr/>
          <p:nvPr/>
        </p:nvSpPr>
        <p:spPr>
          <a:xfrm>
            <a:off x="8540496" y="4846320"/>
            <a:ext cx="228600" cy="0"/>
          </a:xfrm>
          <a:prstGeom prst="line">
            <a:avLst/>
          </a:prstGeom>
          <a:noFill/>
          <a:ln w="16510">
            <a:solidFill>
              <a:srgbClr val="566D62"/>
            </a:solidFill>
            <a:prstDash val="solid"/>
            <a:headEnd type="none"/>
            <a:tailEnd type="triangle"/>
          </a:ln>
        </p:spPr>
      </p:sp>
      <p:sp>
        <p:nvSpPr>
          <p:cNvPr id="57" name="Shape 55"/>
          <p:cNvSpPr/>
          <p:nvPr/>
        </p:nvSpPr>
        <p:spPr>
          <a:xfrm>
            <a:off x="8823960" y="4471416"/>
            <a:ext cx="2770632" cy="749808"/>
          </a:xfrm>
          <a:prstGeom prst="roundRect">
            <a:avLst/>
          </a:prstGeom>
          <a:solidFill>
            <a:srgbClr val="FFFFFF"/>
          </a:solidFill>
          <a:ln w="10160">
            <a:solidFill>
              <a:srgbClr val="DCE4D6"/>
            </a:solidFill>
            <a:prstDash val="solid"/>
          </a:ln>
        </p:spPr>
      </p:sp>
      <p:sp>
        <p:nvSpPr>
          <p:cNvPr id="58" name="Text 56"/>
          <p:cNvSpPr/>
          <p:nvPr/>
        </p:nvSpPr>
        <p:spPr>
          <a:xfrm>
            <a:off x="9025128" y="4581144"/>
            <a:ext cx="2350008" cy="256032"/>
          </a:xfrm>
          <a:prstGeom prst="rect">
            <a:avLst/>
          </a:prstGeom>
          <a:noFill/>
          <a:ln/>
        </p:spPr>
        <p:txBody>
          <a:bodyPr wrap="square" lIns="0" tIns="0" rIns="0" bIns="0" rtlCol="0" anchor="ctr">
            <a:normAutofit/>
          </a:bodyPr>
          <a:lstStyle/>
          <a:p>
            <a:pPr indent="0" marL="0">
              <a:buNone/>
            </a:pPr>
            <a:r>
              <a:rPr lang="en-US" sz="1700" b="1" dirty="0">
                <a:solidFill>
                  <a:srgbClr val="17382F"/>
                </a:solidFill>
                <a:latin typeface="Arial" pitchFamily="34" charset="0"/>
                <a:ea typeface="Arial" pitchFamily="34" charset="-122"/>
                <a:cs typeface="Arial" pitchFamily="34" charset="-120"/>
              </a:rPr>
              <a:t>Microsoft Sentinel</a:t>
            </a:r>
            <a:endParaRPr lang="en-US" sz="1700" dirty="0"/>
          </a:p>
        </p:txBody>
      </p:sp>
      <p:sp>
        <p:nvSpPr>
          <p:cNvPr id="59" name="Text 57"/>
          <p:cNvSpPr/>
          <p:nvPr/>
        </p:nvSpPr>
        <p:spPr>
          <a:xfrm>
            <a:off x="9025128" y="4928616"/>
            <a:ext cx="2350008" cy="155448"/>
          </a:xfrm>
          <a:prstGeom prst="rect">
            <a:avLst/>
          </a:prstGeom>
          <a:noFill/>
          <a:ln/>
        </p:spPr>
        <p:txBody>
          <a:bodyPr wrap="square" lIns="0" tIns="0" rIns="0" bIns="0" rtlCol="0" anchor="ctr">
            <a:normAutofit/>
          </a:bodyPr>
          <a:lstStyle/>
          <a:p>
            <a:pPr indent="0" marL="0">
              <a:buNone/>
            </a:pPr>
            <a:r>
              <a:rPr lang="en-US" sz="1170" dirty="0">
                <a:solidFill>
                  <a:srgbClr val="566D62"/>
                </a:solidFill>
                <a:latin typeface="Arial" pitchFamily="34" charset="0"/>
                <a:ea typeface="Arial" pitchFamily="34" charset="-122"/>
                <a:cs typeface="Arial" pitchFamily="34" charset="-120"/>
              </a:rPr>
              <a:t>Incidents + audit evidence</a:t>
            </a:r>
            <a:endParaRPr lang="en-US" sz="1170" dirty="0"/>
          </a:p>
        </p:txBody>
      </p:sp>
      <p:sp>
        <p:nvSpPr>
          <p:cNvPr id="60" name="Text 58"/>
          <p:cNvSpPr/>
          <p:nvPr/>
        </p:nvSpPr>
        <p:spPr>
          <a:xfrm>
            <a:off x="621792" y="5632704"/>
            <a:ext cx="10972800" cy="356616"/>
          </a:xfrm>
          <a:prstGeom prst="rect">
            <a:avLst/>
          </a:prstGeom>
          <a:noFill/>
          <a:ln/>
        </p:spPr>
        <p:txBody>
          <a:bodyPr wrap="square" lIns="0" tIns="0" rIns="0" bIns="0" rtlCol="0" anchor="ctr">
            <a:normAutofit/>
          </a:bodyPr>
          <a:lstStyle/>
          <a:p>
            <a:pPr indent="0" marL="0">
              <a:buNone/>
            </a:pPr>
            <a:r>
              <a:rPr lang="en-US" sz="1900" b="1" dirty="0">
                <a:solidFill>
                  <a:srgbClr val="17382F"/>
                </a:solidFill>
                <a:latin typeface="Arial" pitchFamily="34" charset="0"/>
                <a:ea typeface="Arial" pitchFamily="34" charset="-122"/>
                <a:cs typeface="Arial" pitchFamily="34" charset="-120"/>
              </a:rPr>
              <a:t>Entra-first identity. Azure-native services. Evidence in Sentinel.</a:t>
            </a:r>
            <a:endParaRPr lang="en-US" sz="1900" dirty="0"/>
          </a:p>
        </p:txBody>
      </p:sp>
      <p:sp>
        <p:nvSpPr>
          <p:cNvPr id="61" name="Text 59"/>
          <p:cNvSpPr/>
          <p:nvPr/>
        </p:nvSpPr>
        <p:spPr>
          <a:xfrm>
            <a:off x="621792" y="6126480"/>
            <a:ext cx="10972800" cy="164592"/>
          </a:xfrm>
          <a:prstGeom prst="rect">
            <a:avLst/>
          </a:prstGeom>
          <a:noFill/>
          <a:ln/>
        </p:spPr>
        <p:txBody>
          <a:bodyPr wrap="square" lIns="0" tIns="0" rIns="0" bIns="0" rtlCol="0" anchor="ctr">
            <a:normAutofit/>
          </a:bodyPr>
          <a:lstStyle/>
          <a:p>
            <a:pPr indent="0" marL="0">
              <a:buNone/>
            </a:pPr>
            <a:r>
              <a:rPr lang="en-US" sz="980" dirty="0">
                <a:solidFill>
                  <a:srgbClr val="566D62"/>
                </a:solidFill>
                <a:latin typeface="Arial" pitchFamily="34" charset="0"/>
                <a:ea typeface="Arial" pitchFamily="34" charset="-122"/>
                <a:cs typeface="Arial" pitchFamily="34" charset="-120"/>
              </a:rPr>
              <a:t>EAM is opt-in; tenant consent, policy and calling prerequisites apply. Graph actions depend on licensing and permissions.</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0"/>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17382F"/>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17382F"/>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17382F"/>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17382F"/>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17382F"/>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17382F"/>
            </a:solidFill>
            <a:prstDash val="solid"/>
            <a:headEnd type="none"/>
            <a:tailEnd type="none"/>
          </a:ln>
        </p:spPr>
      </p:sp>
      <p:sp>
        <p:nvSpPr>
          <p:cNvPr id="8" name="Shape 6"/>
          <p:cNvSpPr/>
          <p:nvPr/>
        </p:nvSpPr>
        <p:spPr>
          <a:xfrm>
            <a:off x="654345" y="394335"/>
            <a:ext cx="8641" cy="61722"/>
          </a:xfrm>
          <a:prstGeom prst="rect">
            <a:avLst/>
          </a:prstGeom>
          <a:solidFill>
            <a:srgbClr val="17382F"/>
          </a:solidFill>
          <a:ln w="10160">
            <a:solidFill>
              <a:srgbClr val="17382F"/>
            </a:solidFill>
            <a:prstDash val="solid"/>
          </a:ln>
        </p:spPr>
      </p:sp>
      <p:sp>
        <p:nvSpPr>
          <p:cNvPr id="9" name="Shape 7"/>
          <p:cNvSpPr/>
          <p:nvPr/>
        </p:nvSpPr>
        <p:spPr>
          <a:xfrm>
            <a:off x="676565" y="372115"/>
            <a:ext cx="8641" cy="106162"/>
          </a:xfrm>
          <a:prstGeom prst="rect">
            <a:avLst/>
          </a:prstGeom>
          <a:solidFill>
            <a:srgbClr val="17382F"/>
          </a:solidFill>
          <a:ln w="10160">
            <a:solidFill>
              <a:srgbClr val="17382F"/>
            </a:solidFill>
            <a:prstDash val="solid"/>
          </a:ln>
        </p:spPr>
      </p:sp>
      <p:sp>
        <p:nvSpPr>
          <p:cNvPr id="10" name="Shape 8"/>
          <p:cNvSpPr/>
          <p:nvPr/>
        </p:nvSpPr>
        <p:spPr>
          <a:xfrm>
            <a:off x="698784" y="351130"/>
            <a:ext cx="8641" cy="148133"/>
          </a:xfrm>
          <a:prstGeom prst="rect">
            <a:avLst/>
          </a:prstGeom>
          <a:solidFill>
            <a:srgbClr val="17382F"/>
          </a:solidFill>
          <a:ln w="10160">
            <a:solidFill>
              <a:srgbClr val="17382F"/>
            </a:solidFill>
            <a:prstDash val="solid"/>
          </a:ln>
        </p:spPr>
      </p:sp>
      <p:sp>
        <p:nvSpPr>
          <p:cNvPr id="11" name="Shape 9"/>
          <p:cNvSpPr/>
          <p:nvPr/>
        </p:nvSpPr>
        <p:spPr>
          <a:xfrm>
            <a:off x="721004" y="375818"/>
            <a:ext cx="8641" cy="98755"/>
          </a:xfrm>
          <a:prstGeom prst="rect">
            <a:avLst/>
          </a:prstGeom>
          <a:solidFill>
            <a:srgbClr val="17382F"/>
          </a:solidFill>
          <a:ln w="10160">
            <a:solidFill>
              <a:srgbClr val="17382F"/>
            </a:solidFill>
            <a:prstDash val="solid"/>
          </a:ln>
        </p:spPr>
      </p:sp>
      <p:sp>
        <p:nvSpPr>
          <p:cNvPr id="12" name="Shape 10"/>
          <p:cNvSpPr/>
          <p:nvPr/>
        </p:nvSpPr>
        <p:spPr>
          <a:xfrm>
            <a:off x="743224" y="398038"/>
            <a:ext cx="8641" cy="54315"/>
          </a:xfrm>
          <a:prstGeom prst="rect">
            <a:avLst/>
          </a:prstGeom>
          <a:solidFill>
            <a:srgbClr val="17382F"/>
          </a:solidFill>
          <a:ln w="10160">
            <a:solidFill>
              <a:srgbClr val="17382F"/>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17382F"/>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566D62"/>
                </a:solidFill>
                <a:latin typeface="Arial" pitchFamily="34" charset="0"/>
                <a:ea typeface="Arial" pitchFamily="34" charset="-122"/>
                <a:cs typeface="Arial" pitchFamily="34" charset="-120"/>
              </a:rPr>
              <a:t>05  /  PRODUCT + DIFFERENTIATION</a:t>
            </a:r>
            <a:endParaRPr lang="en-US" sz="950" dirty="0"/>
          </a:p>
        </p:txBody>
      </p:sp>
      <p:sp>
        <p:nvSpPr>
          <p:cNvPr id="15" name="Shape 13"/>
          <p:cNvSpPr/>
          <p:nvPr/>
        </p:nvSpPr>
        <p:spPr>
          <a:xfrm>
            <a:off x="594360" y="6446520"/>
            <a:ext cx="11000232" cy="0"/>
          </a:xfrm>
          <a:prstGeom prst="line">
            <a:avLst/>
          </a:prstGeom>
          <a:noFill/>
          <a:ln w="8890">
            <a:solidFill>
              <a:srgbClr val="DCE4D6"/>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566D62"/>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566D62"/>
                </a:solidFill>
                <a:latin typeface="Arial" pitchFamily="34" charset="0"/>
                <a:ea typeface="Arial" pitchFamily="34" charset="-122"/>
                <a:cs typeface="Arial" pitchFamily="34" charset="-120"/>
              </a:rPr>
              <a:t>05 / 06</a:t>
            </a:r>
            <a:endParaRPr lang="en-US" sz="900" dirty="0"/>
          </a:p>
        </p:txBody>
      </p:sp>
      <p:sp>
        <p:nvSpPr>
          <p:cNvPr id="18" name="Text 16"/>
          <p:cNvSpPr/>
          <p:nvPr/>
        </p:nvSpPr>
        <p:spPr>
          <a:xfrm>
            <a:off x="594360" y="941832"/>
            <a:ext cx="10972800" cy="1143000"/>
          </a:xfrm>
          <a:prstGeom prst="rect">
            <a:avLst/>
          </a:prstGeom>
          <a:noFill/>
          <a:ln/>
        </p:spPr>
        <p:txBody>
          <a:bodyPr wrap="square" lIns="0" tIns="0" rIns="0" bIns="0" rtlCol="0" anchor="ctr">
            <a:normAutofit/>
          </a:bodyPr>
          <a:lstStyle/>
          <a:p>
            <a:pPr indent="0" marL="0">
              <a:buNone/>
            </a:pPr>
            <a:r>
              <a:rPr lang="en-US" sz="4000" b="1" spc="-100" kern="0" dirty="0">
                <a:solidFill>
                  <a:srgbClr val="17382F"/>
                </a:solidFill>
                <a:latin typeface="Arial" pitchFamily="34" charset="0"/>
                <a:ea typeface="Arial" pitchFamily="34" charset="-122"/>
                <a:cs typeface="Arial" pitchFamily="34" charset="-120"/>
              </a:rPr>
              <a:t>See why access was granted.</a:t>
            </a:r>
            <a:endParaRPr lang="en-US" sz="4000" dirty="0"/>
          </a:p>
          <a:p>
            <a:pPr indent="0" marL="0">
              <a:buNone/>
            </a:pPr>
            <a:r>
              <a:rPr lang="en-US" sz="4000" b="1" spc="-100" kern="0" dirty="0">
                <a:solidFill>
                  <a:srgbClr val="17382F"/>
                </a:solidFill>
                <a:latin typeface="Arial" pitchFamily="34" charset="0"/>
                <a:ea typeface="Arial" pitchFamily="34" charset="-122"/>
                <a:cs typeface="Arial" pitchFamily="34" charset="-120"/>
              </a:rPr>
              <a:t>Or why it was refused.</a:t>
            </a:r>
            <a:endParaRPr lang="en-US" sz="4000" dirty="0"/>
          </a:p>
        </p:txBody>
      </p:sp>
      <p:sp>
        <p:nvSpPr>
          <p:cNvPr id="19" name="Shape 17"/>
          <p:cNvSpPr/>
          <p:nvPr/>
        </p:nvSpPr>
        <p:spPr>
          <a:xfrm>
            <a:off x="585216" y="2459736"/>
            <a:ext cx="6986016" cy="3739896"/>
          </a:xfrm>
          <a:prstGeom prst="rect">
            <a:avLst/>
          </a:prstGeom>
          <a:solidFill>
            <a:srgbClr val="FFFFFF"/>
          </a:solidFill>
          <a:ln w="10160">
            <a:solidFill>
              <a:srgbClr val="DCE4D6"/>
            </a:solidFill>
            <a:prstDash val="solid"/>
          </a:ln>
        </p:spPr>
      </p:sp>
      <p:pic>
        <p:nvPicPr>
          <p:cNvPr id="20" name="Image 0" descr="Contoso Treasury prototype overview; sample financial data, not a real bank ledger.">    </p:cNvPr>
          <p:cNvPicPr>
            <a:picLocks noChangeAspect="1"/>
          </p:cNvPicPr>
          <p:nvPr/>
        </p:nvPicPr>
        <p:blipFill>
          <a:blip r:embed="rId1"/>
          <a:stretch>
            <a:fillRect/>
          </a:stretch>
        </p:blipFill>
        <p:spPr>
          <a:xfrm>
            <a:off x="658368" y="2551176"/>
            <a:ext cx="6839712" cy="3637483"/>
          </a:xfrm>
          <a:prstGeom prst="rect">
            <a:avLst/>
          </a:prstGeom>
        </p:spPr>
      </p:pic>
      <p:sp>
        <p:nvSpPr>
          <p:cNvPr id="21" name="Shape 18"/>
          <p:cNvSpPr/>
          <p:nvPr/>
        </p:nvSpPr>
        <p:spPr>
          <a:xfrm>
            <a:off x="749808" y="2267712"/>
            <a:ext cx="2670048" cy="310896"/>
          </a:xfrm>
          <a:prstGeom prst="roundRect">
            <a:avLst/>
          </a:prstGeom>
          <a:solidFill>
            <a:srgbClr val="17382F"/>
          </a:solidFill>
          <a:ln w="10160">
            <a:solidFill>
              <a:srgbClr val="17382F"/>
            </a:solidFill>
            <a:prstDash val="solid"/>
          </a:ln>
        </p:spPr>
      </p:sp>
      <p:sp>
        <p:nvSpPr>
          <p:cNvPr id="22" name="Text 19"/>
          <p:cNvSpPr/>
          <p:nvPr/>
        </p:nvSpPr>
        <p:spPr>
          <a:xfrm>
            <a:off x="822960" y="2286000"/>
            <a:ext cx="2523744" cy="265176"/>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CONTOSO TREASURY DEMO</a:t>
            </a:r>
            <a:endParaRPr lang="en-US" sz="1000" dirty="0"/>
          </a:p>
        </p:txBody>
      </p:sp>
      <p:sp>
        <p:nvSpPr>
          <p:cNvPr id="23" name="Text 20"/>
          <p:cNvSpPr/>
          <p:nvPr/>
        </p:nvSpPr>
        <p:spPr>
          <a:xfrm>
            <a:off x="7946136" y="2432304"/>
            <a:ext cx="384048" cy="210312"/>
          </a:xfrm>
          <a:prstGeom prst="rect">
            <a:avLst/>
          </a:prstGeom>
          <a:noFill/>
          <a:ln/>
        </p:spPr>
        <p:txBody>
          <a:bodyPr wrap="square" lIns="0" tIns="0" rIns="0" bIns="0" rtlCol="0" anchor="ctr">
            <a:normAutofit/>
          </a:bodyPr>
          <a:lstStyle/>
          <a:p>
            <a:pPr indent="0" marL="0">
              <a:buNone/>
            </a:pPr>
            <a:r>
              <a:rPr lang="en-US" sz="1050" b="1" dirty="0">
                <a:solidFill>
                  <a:srgbClr val="566D62"/>
                </a:solidFill>
                <a:latin typeface="Arial" pitchFamily="34" charset="0"/>
                <a:ea typeface="Arial" pitchFamily="34" charset="-122"/>
                <a:cs typeface="Arial" pitchFamily="34" charset="-120"/>
              </a:rPr>
              <a:t>01</a:t>
            </a:r>
            <a:endParaRPr lang="en-US" sz="1050" dirty="0"/>
          </a:p>
        </p:txBody>
      </p:sp>
      <p:sp>
        <p:nvSpPr>
          <p:cNvPr id="24" name="Shape 21"/>
          <p:cNvSpPr/>
          <p:nvPr/>
        </p:nvSpPr>
        <p:spPr>
          <a:xfrm>
            <a:off x="8430768" y="2542032"/>
            <a:ext cx="3136392" cy="0"/>
          </a:xfrm>
          <a:prstGeom prst="line">
            <a:avLst/>
          </a:prstGeom>
          <a:noFill/>
          <a:ln w="10160">
            <a:solidFill>
              <a:srgbClr val="DCE4D6"/>
            </a:solidFill>
            <a:prstDash val="solid"/>
            <a:headEnd type="none"/>
            <a:tailEnd type="none"/>
          </a:ln>
        </p:spPr>
      </p:sp>
      <p:sp>
        <p:nvSpPr>
          <p:cNvPr id="25" name="Text 22"/>
          <p:cNvSpPr/>
          <p:nvPr/>
        </p:nvSpPr>
        <p:spPr>
          <a:xfrm>
            <a:off x="7946136" y="2706624"/>
            <a:ext cx="3602736" cy="594360"/>
          </a:xfrm>
          <a:prstGeom prst="rect">
            <a:avLst/>
          </a:prstGeom>
          <a:noFill/>
          <a:ln/>
        </p:spPr>
        <p:txBody>
          <a:bodyPr wrap="square" lIns="0" tIns="0" rIns="0" bIns="0" rtlCol="0" anchor="ctr">
            <a:normAutofit/>
          </a:bodyPr>
          <a:lstStyle/>
          <a:p>
            <a:pPr indent="0" marL="0">
              <a:buNone/>
            </a:pPr>
            <a:r>
              <a:rPr lang="en-US" sz="2100" b="1" spc="-25" kern="0" dirty="0">
                <a:solidFill>
                  <a:srgbClr val="17382F"/>
                </a:solidFill>
                <a:latin typeface="Arial" pitchFamily="34" charset="0"/>
                <a:ea typeface="Arial" pitchFamily="34" charset="-122"/>
                <a:cs typeface="Arial" pitchFamily="34" charset="-120"/>
              </a:rPr>
              <a:t>AI advises.</a:t>
            </a:r>
            <a:endParaRPr lang="en-US" sz="2100" dirty="0"/>
          </a:p>
          <a:p>
            <a:pPr indent="0" marL="0">
              <a:buNone/>
            </a:pPr>
            <a:r>
              <a:rPr lang="en-US" sz="2100" b="1" spc="-25" kern="0" dirty="0">
                <a:solidFill>
                  <a:srgbClr val="17382F"/>
                </a:solidFill>
                <a:latin typeface="Arial" pitchFamily="34" charset="0"/>
                <a:ea typeface="Arial" pitchFamily="34" charset="-122"/>
                <a:cs typeface="Arial" pitchFamily="34" charset="-120"/>
              </a:rPr>
              <a:t>Policy decides.</a:t>
            </a:r>
            <a:endParaRPr lang="en-US" sz="2100" dirty="0"/>
          </a:p>
        </p:txBody>
      </p:sp>
      <p:sp>
        <p:nvSpPr>
          <p:cNvPr id="26" name="Text 23"/>
          <p:cNvSpPr/>
          <p:nvPr/>
        </p:nvSpPr>
        <p:spPr>
          <a:xfrm>
            <a:off x="7946136" y="3364992"/>
            <a:ext cx="3602736" cy="393192"/>
          </a:xfrm>
          <a:prstGeom prst="rect">
            <a:avLst/>
          </a:prstGeom>
          <a:noFill/>
          <a:ln/>
        </p:spPr>
        <p:txBody>
          <a:bodyPr wrap="square" lIns="0" tIns="0" rIns="0" bIns="0" rtlCol="0" anchor="ctr">
            <a:normAutofit/>
          </a:bodyPr>
          <a:lstStyle/>
          <a:p>
            <a:pPr indent="0" marL="0">
              <a:buNone/>
            </a:pPr>
            <a:r>
              <a:rPr lang="en-US" sz="1350" dirty="0">
                <a:solidFill>
                  <a:srgbClr val="566D62"/>
                </a:solidFill>
                <a:latin typeface="Arial" pitchFamily="34" charset="0"/>
                <a:ea typeface="Arial" pitchFamily="34" charset="-122"/>
                <a:cs typeface="Arial" pitchFamily="34" charset="-120"/>
              </a:rPr>
              <a:t>A model assessment does not</a:t>
            </a:r>
            <a:endParaRPr lang="en-US" sz="1350" dirty="0"/>
          </a:p>
          <a:p>
            <a:pPr indent="0" marL="0">
              <a:buNone/>
            </a:pPr>
            <a:r>
              <a:rPr lang="en-US" sz="1350" dirty="0">
                <a:solidFill>
                  <a:srgbClr val="566D62"/>
                </a:solidFill>
                <a:latin typeface="Arial" pitchFamily="34" charset="0"/>
                <a:ea typeface="Arial" pitchFamily="34" charset="-122"/>
                <a:cs typeface="Arial" pitchFamily="34" charset="-120"/>
              </a:rPr>
              <a:t>directly grant access or contain users.</a:t>
            </a:r>
            <a:endParaRPr lang="en-US" sz="1350" dirty="0"/>
          </a:p>
        </p:txBody>
      </p:sp>
      <p:sp>
        <p:nvSpPr>
          <p:cNvPr id="27" name="Text 24"/>
          <p:cNvSpPr/>
          <p:nvPr/>
        </p:nvSpPr>
        <p:spPr>
          <a:xfrm>
            <a:off x="7946136" y="3959352"/>
            <a:ext cx="384048" cy="210312"/>
          </a:xfrm>
          <a:prstGeom prst="rect">
            <a:avLst/>
          </a:prstGeom>
          <a:noFill/>
          <a:ln/>
        </p:spPr>
        <p:txBody>
          <a:bodyPr wrap="square" lIns="0" tIns="0" rIns="0" bIns="0" rtlCol="0" anchor="ctr">
            <a:normAutofit/>
          </a:bodyPr>
          <a:lstStyle/>
          <a:p>
            <a:pPr indent="0" marL="0">
              <a:buNone/>
            </a:pPr>
            <a:r>
              <a:rPr lang="en-US" sz="1050" b="1" dirty="0">
                <a:solidFill>
                  <a:srgbClr val="566D62"/>
                </a:solidFill>
                <a:latin typeface="Arial" pitchFamily="34" charset="0"/>
                <a:ea typeface="Arial" pitchFamily="34" charset="-122"/>
                <a:cs typeface="Arial" pitchFamily="34" charset="-120"/>
              </a:rPr>
              <a:t>02</a:t>
            </a:r>
            <a:endParaRPr lang="en-US" sz="1050" dirty="0"/>
          </a:p>
        </p:txBody>
      </p:sp>
      <p:sp>
        <p:nvSpPr>
          <p:cNvPr id="28" name="Shape 25"/>
          <p:cNvSpPr/>
          <p:nvPr/>
        </p:nvSpPr>
        <p:spPr>
          <a:xfrm>
            <a:off x="8430768" y="4069080"/>
            <a:ext cx="3136392" cy="0"/>
          </a:xfrm>
          <a:prstGeom prst="line">
            <a:avLst/>
          </a:prstGeom>
          <a:noFill/>
          <a:ln w="10160">
            <a:solidFill>
              <a:srgbClr val="DCE4D6"/>
            </a:solidFill>
            <a:prstDash val="solid"/>
            <a:headEnd type="none"/>
            <a:tailEnd type="none"/>
          </a:ln>
        </p:spPr>
      </p:sp>
      <p:sp>
        <p:nvSpPr>
          <p:cNvPr id="29" name="Text 26"/>
          <p:cNvSpPr/>
          <p:nvPr/>
        </p:nvSpPr>
        <p:spPr>
          <a:xfrm>
            <a:off x="7946136" y="4233672"/>
            <a:ext cx="3602736" cy="384048"/>
          </a:xfrm>
          <a:prstGeom prst="rect">
            <a:avLst/>
          </a:prstGeom>
          <a:noFill/>
          <a:ln/>
        </p:spPr>
        <p:txBody>
          <a:bodyPr wrap="square" lIns="0" tIns="0" rIns="0" bIns="0" rtlCol="0" anchor="ctr">
            <a:normAutofit/>
          </a:bodyPr>
          <a:lstStyle/>
          <a:p>
            <a:pPr indent="0" marL="0">
              <a:buNone/>
            </a:pPr>
            <a:r>
              <a:rPr lang="en-US" sz="2100" b="1" spc="-25" kern="0" dirty="0">
                <a:solidFill>
                  <a:srgbClr val="17382F"/>
                </a:solidFill>
                <a:latin typeface="Arial" pitchFamily="34" charset="0"/>
                <a:ea typeface="Arial" pitchFamily="34" charset="-122"/>
                <a:cs typeface="Arial" pitchFamily="34" charset="-120"/>
              </a:rPr>
              <a:t>Bind trust to the action.</a:t>
            </a:r>
            <a:endParaRPr lang="en-US" sz="2100" dirty="0"/>
          </a:p>
        </p:txBody>
      </p:sp>
      <p:sp>
        <p:nvSpPr>
          <p:cNvPr id="30" name="Text 27"/>
          <p:cNvSpPr/>
          <p:nvPr/>
        </p:nvSpPr>
        <p:spPr>
          <a:xfrm>
            <a:off x="7946136" y="4690872"/>
            <a:ext cx="3602736" cy="393192"/>
          </a:xfrm>
          <a:prstGeom prst="rect">
            <a:avLst/>
          </a:prstGeom>
          <a:noFill/>
          <a:ln/>
        </p:spPr>
        <p:txBody>
          <a:bodyPr wrap="square" lIns="0" tIns="0" rIns="0" bIns="0" rtlCol="0" anchor="ctr">
            <a:normAutofit/>
          </a:bodyPr>
          <a:lstStyle/>
          <a:p>
            <a:pPr indent="0" marL="0">
              <a:buNone/>
            </a:pPr>
            <a:r>
              <a:rPr lang="en-US" sz="1350" dirty="0">
                <a:solidFill>
                  <a:srgbClr val="566D62"/>
                </a:solidFill>
                <a:latin typeface="Arial" pitchFamily="34" charset="0"/>
                <a:ea typeface="Arial" pitchFamily="34" charset="-122"/>
                <a:cs typeface="Arial" pitchFamily="34" charset="-120"/>
              </a:rPr>
              <a:t>Fresh verification binds to</a:t>
            </a:r>
            <a:endParaRPr lang="en-US" sz="1350" dirty="0"/>
          </a:p>
          <a:p>
            <a:pPr indent="0" marL="0">
              <a:buNone/>
            </a:pPr>
            <a:r>
              <a:rPr lang="en-US" sz="1350" dirty="0">
                <a:solidFill>
                  <a:srgbClr val="566D62"/>
                </a:solidFill>
                <a:latin typeface="Arial" pitchFamily="34" charset="0"/>
                <a:ea typeface="Arial" pitchFamily="34" charset="-122"/>
                <a:cs typeface="Arial" pitchFamily="34" charset="-120"/>
              </a:rPr>
              <a:t>exact demo-payment details.</a:t>
            </a:r>
            <a:endParaRPr lang="en-US" sz="1350" dirty="0"/>
          </a:p>
        </p:txBody>
      </p:sp>
      <p:sp>
        <p:nvSpPr>
          <p:cNvPr id="31" name="Text 28"/>
          <p:cNvSpPr/>
          <p:nvPr/>
        </p:nvSpPr>
        <p:spPr>
          <a:xfrm>
            <a:off x="7946136" y="5230368"/>
            <a:ext cx="384048" cy="210312"/>
          </a:xfrm>
          <a:prstGeom prst="rect">
            <a:avLst/>
          </a:prstGeom>
          <a:noFill/>
          <a:ln/>
        </p:spPr>
        <p:txBody>
          <a:bodyPr wrap="square" lIns="0" tIns="0" rIns="0" bIns="0" rtlCol="0" anchor="ctr">
            <a:normAutofit/>
          </a:bodyPr>
          <a:lstStyle/>
          <a:p>
            <a:pPr indent="0" marL="0">
              <a:buNone/>
            </a:pPr>
            <a:r>
              <a:rPr lang="en-US" sz="1050" b="1" dirty="0">
                <a:solidFill>
                  <a:srgbClr val="566D62"/>
                </a:solidFill>
                <a:latin typeface="Arial" pitchFamily="34" charset="0"/>
                <a:ea typeface="Arial" pitchFamily="34" charset="-122"/>
                <a:cs typeface="Arial" pitchFamily="34" charset="-120"/>
              </a:rPr>
              <a:t>03</a:t>
            </a:r>
            <a:endParaRPr lang="en-US" sz="1050" dirty="0"/>
          </a:p>
        </p:txBody>
      </p:sp>
      <p:sp>
        <p:nvSpPr>
          <p:cNvPr id="32" name="Shape 29"/>
          <p:cNvSpPr/>
          <p:nvPr/>
        </p:nvSpPr>
        <p:spPr>
          <a:xfrm>
            <a:off x="8430768" y="5340096"/>
            <a:ext cx="3136392" cy="0"/>
          </a:xfrm>
          <a:prstGeom prst="line">
            <a:avLst/>
          </a:prstGeom>
          <a:noFill/>
          <a:ln w="10160">
            <a:solidFill>
              <a:srgbClr val="DCE4D6"/>
            </a:solidFill>
            <a:prstDash val="solid"/>
            <a:headEnd type="none"/>
            <a:tailEnd type="none"/>
          </a:ln>
        </p:spPr>
      </p:sp>
      <p:sp>
        <p:nvSpPr>
          <p:cNvPr id="33" name="Text 30"/>
          <p:cNvSpPr/>
          <p:nvPr/>
        </p:nvSpPr>
        <p:spPr>
          <a:xfrm>
            <a:off x="7946136" y="5504688"/>
            <a:ext cx="3602736" cy="384048"/>
          </a:xfrm>
          <a:prstGeom prst="rect">
            <a:avLst/>
          </a:prstGeom>
          <a:noFill/>
          <a:ln/>
        </p:spPr>
        <p:txBody>
          <a:bodyPr wrap="square" lIns="0" tIns="0" rIns="0" bIns="0" rtlCol="0" anchor="ctr">
            <a:normAutofit/>
          </a:bodyPr>
          <a:lstStyle/>
          <a:p>
            <a:pPr indent="0" marL="0">
              <a:buNone/>
            </a:pPr>
            <a:r>
              <a:rPr lang="en-US" sz="2100" b="1" spc="-25" kern="0" dirty="0">
                <a:solidFill>
                  <a:srgbClr val="17382F"/>
                </a:solidFill>
                <a:latin typeface="Arial" pitchFamily="34" charset="0"/>
                <a:ea typeface="Arial" pitchFamily="34" charset="-122"/>
                <a:cs typeface="Arial" pitchFamily="34" charset="-120"/>
              </a:rPr>
              <a:t>Keep an evidence trail.</a:t>
            </a:r>
            <a:endParaRPr lang="en-US" sz="2100" dirty="0"/>
          </a:p>
        </p:txBody>
      </p:sp>
      <p:sp>
        <p:nvSpPr>
          <p:cNvPr id="34" name="Text 31"/>
          <p:cNvSpPr/>
          <p:nvPr/>
        </p:nvSpPr>
        <p:spPr>
          <a:xfrm>
            <a:off x="7946136" y="5961888"/>
            <a:ext cx="3602736" cy="393192"/>
          </a:xfrm>
          <a:prstGeom prst="rect">
            <a:avLst/>
          </a:prstGeom>
          <a:noFill/>
          <a:ln/>
        </p:spPr>
        <p:txBody>
          <a:bodyPr wrap="square" lIns="0" tIns="0" rIns="0" bIns="0" rtlCol="0" anchor="ctr">
            <a:normAutofit/>
          </a:bodyPr>
          <a:lstStyle/>
          <a:p>
            <a:pPr indent="0" marL="0">
              <a:buNone/>
            </a:pPr>
            <a:r>
              <a:rPr lang="en-US" sz="1350" dirty="0">
                <a:solidFill>
                  <a:srgbClr val="566D62"/>
                </a:solidFill>
                <a:latin typeface="Arial" pitchFamily="34" charset="0"/>
                <a:ea typeface="Arial" pitchFamily="34" charset="-122"/>
                <a:cs typeface="Arial" pitchFamily="34" charset="-120"/>
              </a:rPr>
              <a:t>Durable receipts, policy versions</a:t>
            </a:r>
            <a:endParaRPr lang="en-US" sz="1350" dirty="0"/>
          </a:p>
          <a:p>
            <a:pPr indent="0" marL="0">
              <a:buNone/>
            </a:pPr>
            <a:r>
              <a:rPr lang="en-US" sz="1350" dirty="0">
                <a:solidFill>
                  <a:srgbClr val="566D62"/>
                </a:solidFill>
                <a:latin typeface="Arial" pitchFamily="34" charset="0"/>
                <a:ea typeface="Arial" pitchFamily="34" charset="-122"/>
                <a:cs typeface="Arial" pitchFamily="34" charset="-120"/>
              </a:rPr>
              <a:t>and owner-scoped history.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252D"/>
        </a:solidFill>
      </p:bgPr>
    </p:bg>
    <p:spTree>
      <p:nvGrpSpPr>
        <p:cNvPr id="1" name=""/>
        <p:cNvGrpSpPr/>
        <p:nvPr/>
      </p:nvGrpSpPr>
      <p:grpSpPr>
        <a:xfrm>
          <a:off x="0" y="0"/>
          <a:ext cx="0" cy="0"/>
          <a:chOff x="0" y="0"/>
          <a:chExt cx="0" cy="0"/>
        </a:xfrm>
      </p:grpSpPr>
      <p:sp>
        <p:nvSpPr>
          <p:cNvPr id="2" name="Shape 0"/>
          <p:cNvSpPr/>
          <p:nvPr/>
        </p:nvSpPr>
        <p:spPr>
          <a:xfrm>
            <a:off x="708660" y="309159"/>
            <a:ext cx="98755" cy="41971"/>
          </a:xfrm>
          <a:prstGeom prst="line">
            <a:avLst/>
          </a:prstGeom>
          <a:noFill/>
          <a:ln w="22860">
            <a:solidFill>
              <a:srgbClr val="D5EDAE"/>
            </a:solidFill>
            <a:prstDash val="solid"/>
            <a:headEnd type="none"/>
            <a:tailEnd type="none"/>
          </a:ln>
        </p:spPr>
      </p:sp>
      <p:sp>
        <p:nvSpPr>
          <p:cNvPr id="3" name="Shape 1"/>
          <p:cNvSpPr/>
          <p:nvPr/>
        </p:nvSpPr>
        <p:spPr>
          <a:xfrm flipH="1">
            <a:off x="792602" y="351130"/>
            <a:ext cx="14813" cy="106162"/>
          </a:xfrm>
          <a:prstGeom prst="line">
            <a:avLst/>
          </a:prstGeom>
          <a:noFill/>
          <a:ln w="22860">
            <a:solidFill>
              <a:srgbClr val="D5EDAE"/>
            </a:solidFill>
            <a:prstDash val="solid"/>
            <a:headEnd type="none"/>
            <a:tailEnd type="none"/>
          </a:ln>
        </p:spPr>
      </p:sp>
      <p:sp>
        <p:nvSpPr>
          <p:cNvPr id="4" name="Shape 2"/>
          <p:cNvSpPr/>
          <p:nvPr/>
        </p:nvSpPr>
        <p:spPr>
          <a:xfrm flipH="1">
            <a:off x="708660" y="457291"/>
            <a:ext cx="83942" cy="79004"/>
          </a:xfrm>
          <a:prstGeom prst="line">
            <a:avLst/>
          </a:prstGeom>
          <a:noFill/>
          <a:ln w="22860">
            <a:solidFill>
              <a:srgbClr val="D5EDAE"/>
            </a:solidFill>
            <a:prstDash val="solid"/>
            <a:headEnd type="none"/>
            <a:tailEnd type="none"/>
          </a:ln>
        </p:spPr>
      </p:sp>
      <p:sp>
        <p:nvSpPr>
          <p:cNvPr id="5" name="Shape 3"/>
          <p:cNvSpPr/>
          <p:nvPr/>
        </p:nvSpPr>
        <p:spPr>
          <a:xfrm flipH="1" flipV="1">
            <a:off x="624718" y="457291"/>
            <a:ext cx="83942" cy="79004"/>
          </a:xfrm>
          <a:prstGeom prst="line">
            <a:avLst/>
          </a:prstGeom>
          <a:noFill/>
          <a:ln w="22860">
            <a:solidFill>
              <a:srgbClr val="D5EDAE"/>
            </a:solidFill>
            <a:prstDash val="solid"/>
            <a:headEnd type="none"/>
            <a:tailEnd type="none"/>
          </a:ln>
        </p:spPr>
      </p:sp>
      <p:sp>
        <p:nvSpPr>
          <p:cNvPr id="6" name="Shape 4"/>
          <p:cNvSpPr/>
          <p:nvPr/>
        </p:nvSpPr>
        <p:spPr>
          <a:xfrm flipH="1" flipV="1">
            <a:off x="609905" y="351130"/>
            <a:ext cx="14813" cy="106162"/>
          </a:xfrm>
          <a:prstGeom prst="line">
            <a:avLst/>
          </a:prstGeom>
          <a:noFill/>
          <a:ln w="22860">
            <a:solidFill>
              <a:srgbClr val="D5EDAE"/>
            </a:solidFill>
            <a:prstDash val="solid"/>
            <a:headEnd type="none"/>
            <a:tailEnd type="none"/>
          </a:ln>
        </p:spPr>
      </p:sp>
      <p:sp>
        <p:nvSpPr>
          <p:cNvPr id="7" name="Shape 5"/>
          <p:cNvSpPr/>
          <p:nvPr/>
        </p:nvSpPr>
        <p:spPr>
          <a:xfrm flipV="1">
            <a:off x="609905" y="309159"/>
            <a:ext cx="98755" cy="41971"/>
          </a:xfrm>
          <a:prstGeom prst="line">
            <a:avLst/>
          </a:prstGeom>
          <a:noFill/>
          <a:ln w="22860">
            <a:solidFill>
              <a:srgbClr val="D5EDAE"/>
            </a:solidFill>
            <a:prstDash val="solid"/>
            <a:headEnd type="none"/>
            <a:tailEnd type="none"/>
          </a:ln>
        </p:spPr>
      </p:sp>
      <p:sp>
        <p:nvSpPr>
          <p:cNvPr id="8" name="Shape 6"/>
          <p:cNvSpPr/>
          <p:nvPr/>
        </p:nvSpPr>
        <p:spPr>
          <a:xfrm>
            <a:off x="654345" y="394335"/>
            <a:ext cx="8641" cy="61722"/>
          </a:xfrm>
          <a:prstGeom prst="rect">
            <a:avLst/>
          </a:prstGeom>
          <a:solidFill>
            <a:srgbClr val="D5EDAE"/>
          </a:solidFill>
          <a:ln w="10160">
            <a:solidFill>
              <a:srgbClr val="D5EDAE"/>
            </a:solidFill>
            <a:prstDash val="solid"/>
          </a:ln>
        </p:spPr>
      </p:sp>
      <p:sp>
        <p:nvSpPr>
          <p:cNvPr id="9" name="Shape 7"/>
          <p:cNvSpPr/>
          <p:nvPr/>
        </p:nvSpPr>
        <p:spPr>
          <a:xfrm>
            <a:off x="676565" y="372115"/>
            <a:ext cx="8641" cy="106162"/>
          </a:xfrm>
          <a:prstGeom prst="rect">
            <a:avLst/>
          </a:prstGeom>
          <a:solidFill>
            <a:srgbClr val="D5EDAE"/>
          </a:solidFill>
          <a:ln w="10160">
            <a:solidFill>
              <a:srgbClr val="D5EDAE"/>
            </a:solidFill>
            <a:prstDash val="solid"/>
          </a:ln>
        </p:spPr>
      </p:sp>
      <p:sp>
        <p:nvSpPr>
          <p:cNvPr id="10" name="Shape 8"/>
          <p:cNvSpPr/>
          <p:nvPr/>
        </p:nvSpPr>
        <p:spPr>
          <a:xfrm>
            <a:off x="698784" y="351130"/>
            <a:ext cx="8641" cy="148133"/>
          </a:xfrm>
          <a:prstGeom prst="rect">
            <a:avLst/>
          </a:prstGeom>
          <a:solidFill>
            <a:srgbClr val="D5EDAE"/>
          </a:solidFill>
          <a:ln w="10160">
            <a:solidFill>
              <a:srgbClr val="D5EDAE"/>
            </a:solidFill>
            <a:prstDash val="solid"/>
          </a:ln>
        </p:spPr>
      </p:sp>
      <p:sp>
        <p:nvSpPr>
          <p:cNvPr id="11" name="Shape 9"/>
          <p:cNvSpPr/>
          <p:nvPr/>
        </p:nvSpPr>
        <p:spPr>
          <a:xfrm>
            <a:off x="721004" y="375818"/>
            <a:ext cx="8641" cy="98755"/>
          </a:xfrm>
          <a:prstGeom prst="rect">
            <a:avLst/>
          </a:prstGeom>
          <a:solidFill>
            <a:srgbClr val="D5EDAE"/>
          </a:solidFill>
          <a:ln w="10160">
            <a:solidFill>
              <a:srgbClr val="D5EDAE"/>
            </a:solidFill>
            <a:prstDash val="solid"/>
          </a:ln>
        </p:spPr>
      </p:sp>
      <p:sp>
        <p:nvSpPr>
          <p:cNvPr id="12" name="Shape 10"/>
          <p:cNvSpPr/>
          <p:nvPr/>
        </p:nvSpPr>
        <p:spPr>
          <a:xfrm>
            <a:off x="743224" y="398038"/>
            <a:ext cx="8641" cy="54315"/>
          </a:xfrm>
          <a:prstGeom prst="rect">
            <a:avLst/>
          </a:prstGeom>
          <a:solidFill>
            <a:srgbClr val="D5EDAE"/>
          </a:solidFill>
          <a:ln w="10160">
            <a:solidFill>
              <a:srgbClr val="D5EDAE"/>
            </a:solidFill>
            <a:prstDash val="solid"/>
          </a:ln>
        </p:spPr>
      </p:sp>
      <p:sp>
        <p:nvSpPr>
          <p:cNvPr id="13" name="Text 11"/>
          <p:cNvSpPr/>
          <p:nvPr/>
        </p:nvSpPr>
        <p:spPr>
          <a:xfrm>
            <a:off x="932688" y="320040"/>
            <a:ext cx="2103120" cy="228600"/>
          </a:xfrm>
          <a:prstGeom prst="rect">
            <a:avLst/>
          </a:prstGeom>
          <a:noFill/>
          <a:ln/>
        </p:spPr>
        <p:txBody>
          <a:bodyPr wrap="square" lIns="0" tIns="0" rIns="0" bIns="0" rtlCol="0" anchor="ctr">
            <a:normAutofit/>
          </a:bodyPr>
          <a:lstStyle/>
          <a:p>
            <a:pPr indent="0" marL="0">
              <a:buNone/>
            </a:pPr>
            <a:r>
              <a:rPr lang="en-US" sz="1100" b="1" spc="200" kern="0" dirty="0">
                <a:solidFill>
                  <a:srgbClr val="D5EDAE"/>
                </a:solidFill>
                <a:latin typeface="Arial" pitchFamily="34" charset="0"/>
                <a:ea typeface="Arial" pitchFamily="34" charset="-122"/>
                <a:cs typeface="Arial" pitchFamily="34" charset="-120"/>
              </a:rPr>
              <a:t>ENTRAGUARD</a:t>
            </a:r>
            <a:endParaRPr lang="en-US" sz="1100" dirty="0"/>
          </a:p>
        </p:txBody>
      </p:sp>
      <p:sp>
        <p:nvSpPr>
          <p:cNvPr id="14" name="Text 12"/>
          <p:cNvSpPr/>
          <p:nvPr/>
        </p:nvSpPr>
        <p:spPr>
          <a:xfrm>
            <a:off x="7498080" y="329184"/>
            <a:ext cx="4087368" cy="210312"/>
          </a:xfrm>
          <a:prstGeom prst="rect">
            <a:avLst/>
          </a:prstGeom>
          <a:noFill/>
          <a:ln/>
        </p:spPr>
        <p:txBody>
          <a:bodyPr wrap="square" lIns="0" tIns="0" rIns="0" bIns="0" rtlCol="0" anchor="ctr">
            <a:normAutofit/>
          </a:bodyPr>
          <a:lstStyle/>
          <a:p>
            <a:pPr algn="r" indent="0" marL="0">
              <a:buNone/>
            </a:pPr>
            <a:r>
              <a:rPr lang="en-US" sz="950" spc="130" kern="0" dirty="0">
                <a:solidFill>
                  <a:srgbClr val="B4C8BE"/>
                </a:solidFill>
                <a:latin typeface="Arial" pitchFamily="34" charset="0"/>
                <a:ea typeface="Arial" pitchFamily="34" charset="-122"/>
                <a:cs typeface="Arial" pitchFamily="34" charset="-120"/>
              </a:rPr>
              <a:t>06  /  THE NEXT STEP</a:t>
            </a:r>
            <a:endParaRPr lang="en-US" sz="950" dirty="0"/>
          </a:p>
        </p:txBody>
      </p:sp>
      <p:sp>
        <p:nvSpPr>
          <p:cNvPr id="15" name="Shape 13"/>
          <p:cNvSpPr/>
          <p:nvPr/>
        </p:nvSpPr>
        <p:spPr>
          <a:xfrm>
            <a:off x="594360" y="6446520"/>
            <a:ext cx="11000232" cy="0"/>
          </a:xfrm>
          <a:prstGeom prst="line">
            <a:avLst/>
          </a:prstGeom>
          <a:noFill/>
          <a:ln w="8890">
            <a:solidFill>
              <a:srgbClr val="36554E"/>
            </a:solidFill>
            <a:prstDash val="solid"/>
            <a:headEnd type="none"/>
            <a:tailEnd type="none"/>
          </a:ln>
        </p:spPr>
      </p:sp>
      <p:sp>
        <p:nvSpPr>
          <p:cNvPr id="16" name="Text 14"/>
          <p:cNvSpPr/>
          <p:nvPr/>
        </p:nvSpPr>
        <p:spPr>
          <a:xfrm>
            <a:off x="603504" y="6537960"/>
            <a:ext cx="9144000" cy="146304"/>
          </a:xfrm>
          <a:prstGeom prst="rect">
            <a:avLst/>
          </a:prstGeom>
          <a:noFill/>
          <a:ln/>
        </p:spPr>
        <p:txBody>
          <a:bodyPr wrap="square" lIns="0" tIns="0" rIns="0" bIns="0" rtlCol="0" anchor="ctr">
            <a:normAutofit/>
          </a:bodyPr>
          <a:lstStyle/>
          <a:p>
            <a:pPr indent="0" marL="0">
              <a:buNone/>
            </a:pPr>
            <a:r>
              <a:rPr lang="en-US" sz="820" spc="100" kern="0" dirty="0">
                <a:solidFill>
                  <a:srgbClr val="B4C8BE"/>
                </a:solidFill>
                <a:latin typeface="Arial" pitchFamily="34" charset="0"/>
                <a:ea typeface="Arial" pitchFamily="34" charset="-122"/>
                <a:cs typeface="Arial" pitchFamily="34" charset="-120"/>
              </a:rPr>
              <a:t>MICROSOFT GARAGE HACKATHON  /  MVP</a:t>
            </a:r>
            <a:endParaRPr lang="en-US" sz="820" dirty="0"/>
          </a:p>
        </p:txBody>
      </p:sp>
      <p:sp>
        <p:nvSpPr>
          <p:cNvPr id="17" name="Text 15"/>
          <p:cNvSpPr/>
          <p:nvPr/>
        </p:nvSpPr>
        <p:spPr>
          <a:xfrm>
            <a:off x="10881360" y="6519672"/>
            <a:ext cx="704088" cy="182880"/>
          </a:xfrm>
          <a:prstGeom prst="rect">
            <a:avLst/>
          </a:prstGeom>
          <a:noFill/>
          <a:ln/>
        </p:spPr>
        <p:txBody>
          <a:bodyPr wrap="square" lIns="0" tIns="0" rIns="0" bIns="0" rtlCol="0" anchor="ctr">
            <a:normAutofit/>
          </a:bodyPr>
          <a:lstStyle/>
          <a:p>
            <a:pPr algn="r" indent="0" marL="0">
              <a:buNone/>
            </a:pPr>
            <a:r>
              <a:rPr lang="en-US" sz="900" dirty="0">
                <a:solidFill>
                  <a:srgbClr val="B4C8BE"/>
                </a:solidFill>
                <a:latin typeface="Arial" pitchFamily="34" charset="0"/>
                <a:ea typeface="Arial" pitchFamily="34" charset="-122"/>
                <a:cs typeface="Arial" pitchFamily="34" charset="-120"/>
              </a:rPr>
              <a:t>06 / 06</a:t>
            </a:r>
            <a:endParaRPr lang="en-US" sz="900" dirty="0"/>
          </a:p>
        </p:txBody>
      </p:sp>
      <p:sp>
        <p:nvSpPr>
          <p:cNvPr id="18" name="Text 16"/>
          <p:cNvSpPr/>
          <p:nvPr/>
        </p:nvSpPr>
        <p:spPr>
          <a:xfrm>
            <a:off x="594360" y="941832"/>
            <a:ext cx="10972800" cy="594360"/>
          </a:xfrm>
          <a:prstGeom prst="rect">
            <a:avLst/>
          </a:prstGeom>
          <a:noFill/>
          <a:ln/>
        </p:spPr>
        <p:txBody>
          <a:bodyPr wrap="square" lIns="0" tIns="0" rIns="0" bIns="0" rtlCol="0" anchor="ctr">
            <a:normAutofit/>
          </a:bodyPr>
          <a:lstStyle/>
          <a:p>
            <a:pPr indent="0" marL="0">
              <a:buNone/>
            </a:pPr>
            <a:r>
              <a:rPr lang="en-US" sz="4400" b="1" spc="-100" kern="0" dirty="0">
                <a:solidFill>
                  <a:srgbClr val="FFFFFF"/>
                </a:solidFill>
                <a:latin typeface="Arial" pitchFamily="34" charset="0"/>
                <a:ea typeface="Arial" pitchFamily="34" charset="-122"/>
                <a:cs typeface="Arial" pitchFamily="34" charset="-120"/>
              </a:rPr>
              <a:t>Protect the approval.</a:t>
            </a:r>
            <a:endParaRPr lang="en-US" sz="4400" dirty="0"/>
          </a:p>
        </p:txBody>
      </p:sp>
      <p:sp>
        <p:nvSpPr>
          <p:cNvPr id="19" name="Text 17"/>
          <p:cNvSpPr/>
          <p:nvPr/>
        </p:nvSpPr>
        <p:spPr>
          <a:xfrm>
            <a:off x="594360" y="1618488"/>
            <a:ext cx="10972800" cy="594360"/>
          </a:xfrm>
          <a:prstGeom prst="rect">
            <a:avLst/>
          </a:prstGeom>
          <a:noFill/>
          <a:ln/>
        </p:spPr>
        <p:txBody>
          <a:bodyPr wrap="square" lIns="0" tIns="0" rIns="0" bIns="0" rtlCol="0" anchor="ctr">
            <a:normAutofit/>
          </a:bodyPr>
          <a:lstStyle/>
          <a:p>
            <a:pPr indent="0" marL="0">
              <a:buNone/>
            </a:pPr>
            <a:r>
              <a:rPr lang="en-US" sz="4400" b="1" spc="-100" kern="0" dirty="0">
                <a:solidFill>
                  <a:srgbClr val="D5EDAE"/>
                </a:solidFill>
                <a:latin typeface="Arial" pitchFamily="34" charset="0"/>
                <a:ea typeface="Arial" pitchFamily="34" charset="-122"/>
                <a:cs typeface="Arial" pitchFamily="34" charset="-120"/>
              </a:rPr>
              <a:t>Not just the credential.</a:t>
            </a:r>
            <a:endParaRPr lang="en-US" sz="4400" dirty="0"/>
          </a:p>
        </p:txBody>
      </p:sp>
      <p:sp>
        <p:nvSpPr>
          <p:cNvPr id="20" name="Text 18"/>
          <p:cNvSpPr/>
          <p:nvPr/>
        </p:nvSpPr>
        <p:spPr>
          <a:xfrm>
            <a:off x="640080" y="2660904"/>
            <a:ext cx="5303520" cy="219456"/>
          </a:xfrm>
          <a:prstGeom prst="rect">
            <a:avLst/>
          </a:prstGeom>
          <a:noFill/>
          <a:ln/>
        </p:spPr>
        <p:txBody>
          <a:bodyPr wrap="square" lIns="0" tIns="0" rIns="0" bIns="0" rtlCol="0" anchor="ctr">
            <a:normAutofit/>
          </a:bodyPr>
          <a:lstStyle/>
          <a:p>
            <a:pPr indent="0" marL="0">
              <a:buNone/>
            </a:pPr>
            <a:r>
              <a:rPr lang="en-US" sz="1100" b="1" spc="200" kern="0" dirty="0">
                <a:solidFill>
                  <a:srgbClr val="D5EDAE"/>
                </a:solidFill>
                <a:latin typeface="Arial" pitchFamily="34" charset="0"/>
                <a:ea typeface="Arial" pitchFamily="34" charset="-122"/>
                <a:cs typeface="Arial" pitchFamily="34" charset="-120"/>
              </a:rPr>
              <a:t>BUILT</a:t>
            </a:r>
            <a:endParaRPr lang="en-US" sz="1100" dirty="0"/>
          </a:p>
        </p:txBody>
      </p:sp>
      <p:sp>
        <p:nvSpPr>
          <p:cNvPr id="21" name="Shape 19"/>
          <p:cNvSpPr/>
          <p:nvPr/>
        </p:nvSpPr>
        <p:spPr>
          <a:xfrm>
            <a:off x="658368" y="3191256"/>
            <a:ext cx="182880" cy="182880"/>
          </a:xfrm>
          <a:prstGeom prst="ellipse">
            <a:avLst/>
          </a:prstGeom>
          <a:solidFill>
            <a:srgbClr val="D5EDAE"/>
          </a:solidFill>
          <a:ln w="12700">
            <a:solidFill>
              <a:srgbClr val="D5EDAE"/>
            </a:solidFill>
            <a:prstDash val="solid"/>
          </a:ln>
        </p:spPr>
      </p:sp>
      <p:sp>
        <p:nvSpPr>
          <p:cNvPr id="22" name="Text 20"/>
          <p:cNvSpPr/>
          <p:nvPr/>
        </p:nvSpPr>
        <p:spPr>
          <a:xfrm>
            <a:off x="1024128" y="3136392"/>
            <a:ext cx="5212080" cy="29260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Voice-aware verification</a:t>
            </a:r>
            <a:endParaRPr lang="en-US" sz="2100" dirty="0"/>
          </a:p>
        </p:txBody>
      </p:sp>
      <p:sp>
        <p:nvSpPr>
          <p:cNvPr id="23" name="Text 21"/>
          <p:cNvSpPr/>
          <p:nvPr/>
        </p:nvSpPr>
        <p:spPr>
          <a:xfrm>
            <a:off x="1024128" y="3502152"/>
            <a:ext cx="5303520" cy="210312"/>
          </a:xfrm>
          <a:prstGeom prst="rect">
            <a:avLst/>
          </a:prstGeom>
          <a:noFill/>
          <a:ln/>
        </p:spPr>
        <p:txBody>
          <a:bodyPr wrap="square" lIns="0" tIns="0" rIns="0" bIns="0" rtlCol="0" anchor="ctr">
            <a:normAutofit/>
          </a:bodyPr>
          <a:lstStyle/>
          <a:p>
            <a:pPr indent="0" marL="0">
              <a:buNone/>
            </a:pPr>
            <a:r>
              <a:rPr lang="en-US" sz="1450" dirty="0">
                <a:solidFill>
                  <a:srgbClr val="B4C8BE"/>
                </a:solidFill>
                <a:latin typeface="Arial" pitchFamily="34" charset="0"/>
                <a:ea typeface="Arial" pitchFamily="34" charset="-122"/>
                <a:cs typeface="Arial" pitchFamily="34" charset="-120"/>
              </a:rPr>
              <a:t>Calls, context and coercion analysis.</a:t>
            </a:r>
            <a:endParaRPr lang="en-US" sz="1450" dirty="0"/>
          </a:p>
        </p:txBody>
      </p:sp>
      <p:sp>
        <p:nvSpPr>
          <p:cNvPr id="24" name="Shape 22"/>
          <p:cNvSpPr/>
          <p:nvPr/>
        </p:nvSpPr>
        <p:spPr>
          <a:xfrm>
            <a:off x="658368" y="3931920"/>
            <a:ext cx="182880" cy="182880"/>
          </a:xfrm>
          <a:prstGeom prst="ellipse">
            <a:avLst/>
          </a:prstGeom>
          <a:solidFill>
            <a:srgbClr val="D5EDAE"/>
          </a:solidFill>
          <a:ln w="12700">
            <a:solidFill>
              <a:srgbClr val="D5EDAE"/>
            </a:solidFill>
            <a:prstDash val="solid"/>
          </a:ln>
        </p:spPr>
      </p:sp>
      <p:sp>
        <p:nvSpPr>
          <p:cNvPr id="25" name="Text 23"/>
          <p:cNvSpPr/>
          <p:nvPr/>
        </p:nvSpPr>
        <p:spPr>
          <a:xfrm>
            <a:off x="1024128" y="3877056"/>
            <a:ext cx="5212080" cy="29260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Durable trust + policy</a:t>
            </a:r>
            <a:endParaRPr lang="en-US" sz="2100" dirty="0"/>
          </a:p>
        </p:txBody>
      </p:sp>
      <p:sp>
        <p:nvSpPr>
          <p:cNvPr id="26" name="Text 24"/>
          <p:cNvSpPr/>
          <p:nvPr/>
        </p:nvSpPr>
        <p:spPr>
          <a:xfrm>
            <a:off x="1024128" y="4242816"/>
            <a:ext cx="5303520" cy="210312"/>
          </a:xfrm>
          <a:prstGeom prst="rect">
            <a:avLst/>
          </a:prstGeom>
          <a:noFill/>
          <a:ln/>
        </p:spPr>
        <p:txBody>
          <a:bodyPr wrap="square" lIns="0" tIns="0" rIns="0" bIns="0" rtlCol="0" anchor="ctr">
            <a:normAutofit/>
          </a:bodyPr>
          <a:lstStyle/>
          <a:p>
            <a:pPr indent="0" marL="0">
              <a:buNone/>
            </a:pPr>
            <a:r>
              <a:rPr lang="en-US" sz="1450" dirty="0">
                <a:solidFill>
                  <a:srgbClr val="B4C8BE"/>
                </a:solidFill>
                <a:latin typeface="Arial" pitchFamily="34" charset="0"/>
                <a:ea typeface="Arial" pitchFamily="34" charset="-122"/>
                <a:cs typeface="Arial" pitchFamily="34" charset="-120"/>
              </a:rPr>
              <a:t>Sessions, receipts and bound demo approvals.</a:t>
            </a:r>
            <a:endParaRPr lang="en-US" sz="1450" dirty="0"/>
          </a:p>
        </p:txBody>
      </p:sp>
      <p:sp>
        <p:nvSpPr>
          <p:cNvPr id="27" name="Shape 25"/>
          <p:cNvSpPr/>
          <p:nvPr/>
        </p:nvSpPr>
        <p:spPr>
          <a:xfrm>
            <a:off x="658368" y="4672584"/>
            <a:ext cx="182880" cy="182880"/>
          </a:xfrm>
          <a:prstGeom prst="ellipse">
            <a:avLst/>
          </a:prstGeom>
          <a:solidFill>
            <a:srgbClr val="D5EDAE"/>
          </a:solidFill>
          <a:ln w="12700">
            <a:solidFill>
              <a:srgbClr val="D5EDAE"/>
            </a:solidFill>
            <a:prstDash val="solid"/>
          </a:ln>
        </p:spPr>
      </p:sp>
      <p:sp>
        <p:nvSpPr>
          <p:cNvPr id="28" name="Text 26"/>
          <p:cNvSpPr/>
          <p:nvPr/>
        </p:nvSpPr>
        <p:spPr>
          <a:xfrm>
            <a:off x="1024128" y="4617720"/>
            <a:ext cx="5212080" cy="292608"/>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Arial" pitchFamily="34" charset="0"/>
                <a:ea typeface="Arial" pitchFamily="34" charset="-122"/>
                <a:cs typeface="Arial" pitchFamily="34" charset="-120"/>
              </a:rPr>
              <a:t>Two integration routes</a:t>
            </a:r>
            <a:endParaRPr lang="en-US" sz="2100" dirty="0"/>
          </a:p>
        </p:txBody>
      </p:sp>
      <p:sp>
        <p:nvSpPr>
          <p:cNvPr id="29" name="Text 27"/>
          <p:cNvSpPr/>
          <p:nvPr/>
        </p:nvSpPr>
        <p:spPr>
          <a:xfrm>
            <a:off x="1024128" y="4983480"/>
            <a:ext cx="5303520" cy="210312"/>
          </a:xfrm>
          <a:prstGeom prst="rect">
            <a:avLst/>
          </a:prstGeom>
          <a:noFill/>
          <a:ln/>
        </p:spPr>
        <p:txBody>
          <a:bodyPr wrap="square" lIns="0" tIns="0" rIns="0" bIns="0" rtlCol="0" anchor="ctr">
            <a:normAutofit/>
          </a:bodyPr>
          <a:lstStyle/>
          <a:p>
            <a:pPr indent="0" marL="0">
              <a:buNone/>
            </a:pPr>
            <a:r>
              <a:rPr lang="en-US" sz="1450" dirty="0">
                <a:solidFill>
                  <a:srgbClr val="B4C8BE"/>
                </a:solidFill>
                <a:latin typeface="Arial" pitchFamily="34" charset="0"/>
                <a:ea typeface="Arial" pitchFamily="34" charset="-122"/>
                <a:cs typeface="Arial" pitchFamily="34" charset="-120"/>
              </a:rPr>
              <a:t>Application API + opt-in Entra EAM.</a:t>
            </a:r>
            <a:endParaRPr lang="en-US" sz="1450" dirty="0"/>
          </a:p>
        </p:txBody>
      </p:sp>
      <p:sp>
        <p:nvSpPr>
          <p:cNvPr id="30" name="Shape 28"/>
          <p:cNvSpPr/>
          <p:nvPr/>
        </p:nvSpPr>
        <p:spPr>
          <a:xfrm>
            <a:off x="7178040" y="2624328"/>
            <a:ext cx="4407408" cy="2715768"/>
          </a:xfrm>
          <a:prstGeom prst="roundRect">
            <a:avLst/>
          </a:prstGeom>
          <a:solidFill>
            <a:srgbClr val="163A3B"/>
          </a:solidFill>
          <a:ln w="10160">
            <a:solidFill>
              <a:srgbClr val="36554E"/>
            </a:solidFill>
            <a:prstDash val="solid"/>
          </a:ln>
        </p:spPr>
      </p:sp>
      <p:sp>
        <p:nvSpPr>
          <p:cNvPr id="31" name="Text 29"/>
          <p:cNvSpPr/>
          <p:nvPr/>
        </p:nvSpPr>
        <p:spPr>
          <a:xfrm>
            <a:off x="7461504" y="2926080"/>
            <a:ext cx="3831336" cy="292608"/>
          </a:xfrm>
          <a:prstGeom prst="rect">
            <a:avLst/>
          </a:prstGeom>
          <a:noFill/>
          <a:ln/>
        </p:spPr>
        <p:txBody>
          <a:bodyPr wrap="square" lIns="0" tIns="0" rIns="0" bIns="0" rtlCol="0" anchor="ctr">
            <a:normAutofit/>
          </a:bodyPr>
          <a:lstStyle/>
          <a:p>
            <a:pPr indent="0" marL="0">
              <a:buNone/>
            </a:pPr>
            <a:r>
              <a:rPr lang="en-US" sz="1200" b="1" spc="50" kern="0" dirty="0">
                <a:solidFill>
                  <a:srgbClr val="D5EDAE"/>
                </a:solidFill>
                <a:latin typeface="Arial" pitchFamily="34" charset="0"/>
                <a:ea typeface="Arial" pitchFamily="34" charset="-122"/>
                <a:cs typeface="Arial" pitchFamily="34" charset="-120"/>
              </a:rPr>
              <a:t>NEXT: A CONTROLLED TENANT PILOT</a:t>
            </a:r>
            <a:endParaRPr lang="en-US" sz="1200" dirty="0"/>
          </a:p>
        </p:txBody>
      </p:sp>
      <p:sp>
        <p:nvSpPr>
          <p:cNvPr id="32" name="Shape 30"/>
          <p:cNvSpPr/>
          <p:nvPr/>
        </p:nvSpPr>
        <p:spPr>
          <a:xfrm>
            <a:off x="7488936" y="3657600"/>
            <a:ext cx="100584" cy="100584"/>
          </a:xfrm>
          <a:prstGeom prst="ellipse">
            <a:avLst/>
          </a:prstGeom>
          <a:solidFill>
            <a:srgbClr val="163A3B"/>
          </a:solidFill>
          <a:ln w="12700">
            <a:solidFill>
              <a:srgbClr val="D5EDAE"/>
            </a:solidFill>
            <a:prstDash val="solid"/>
          </a:ln>
        </p:spPr>
      </p:sp>
      <p:sp>
        <p:nvSpPr>
          <p:cNvPr id="33" name="Text 31"/>
          <p:cNvSpPr/>
          <p:nvPr/>
        </p:nvSpPr>
        <p:spPr>
          <a:xfrm>
            <a:off x="7754112" y="3584448"/>
            <a:ext cx="3456432" cy="274320"/>
          </a:xfrm>
          <a:prstGeom prst="rect">
            <a:avLst/>
          </a:prstGeom>
          <a:noFill/>
          <a:ln/>
        </p:spPr>
        <p:txBody>
          <a:bodyPr wrap="square" lIns="0" tIns="0" rIns="0" bIns="0" rtlCol="0" anchor="ctr">
            <a:normAutofit/>
          </a:bodyPr>
          <a:lstStyle/>
          <a:p>
            <a:pPr indent="0" marL="0">
              <a:buNone/>
            </a:pPr>
            <a:r>
              <a:rPr lang="en-US" sz="1900" dirty="0">
                <a:solidFill>
                  <a:srgbClr val="FFFFFF"/>
                </a:solidFill>
                <a:latin typeface="Arial" pitchFamily="34" charset="0"/>
                <a:ea typeface="Arial" pitchFamily="34" charset="-122"/>
                <a:cs typeface="Arial" pitchFamily="34" charset="-120"/>
              </a:rPr>
              <a:t>Completion rate</a:t>
            </a:r>
            <a:endParaRPr lang="en-US" sz="1900" dirty="0"/>
          </a:p>
        </p:txBody>
      </p:sp>
      <p:sp>
        <p:nvSpPr>
          <p:cNvPr id="34" name="Shape 32"/>
          <p:cNvSpPr/>
          <p:nvPr/>
        </p:nvSpPr>
        <p:spPr>
          <a:xfrm>
            <a:off x="7488936" y="4105656"/>
            <a:ext cx="100584" cy="100584"/>
          </a:xfrm>
          <a:prstGeom prst="ellipse">
            <a:avLst/>
          </a:prstGeom>
          <a:solidFill>
            <a:srgbClr val="163A3B"/>
          </a:solidFill>
          <a:ln w="12700">
            <a:solidFill>
              <a:srgbClr val="D5EDAE"/>
            </a:solidFill>
            <a:prstDash val="solid"/>
          </a:ln>
        </p:spPr>
      </p:sp>
      <p:sp>
        <p:nvSpPr>
          <p:cNvPr id="35" name="Text 33"/>
          <p:cNvSpPr/>
          <p:nvPr/>
        </p:nvSpPr>
        <p:spPr>
          <a:xfrm>
            <a:off x="7754112" y="4032504"/>
            <a:ext cx="3456432" cy="274320"/>
          </a:xfrm>
          <a:prstGeom prst="rect">
            <a:avLst/>
          </a:prstGeom>
          <a:noFill/>
          <a:ln/>
        </p:spPr>
        <p:txBody>
          <a:bodyPr wrap="square" lIns="0" tIns="0" rIns="0" bIns="0" rtlCol="0" anchor="ctr">
            <a:normAutofit/>
          </a:bodyPr>
          <a:lstStyle/>
          <a:p>
            <a:pPr indent="0" marL="0">
              <a:buNone/>
            </a:pPr>
            <a:r>
              <a:rPr lang="en-US" sz="1900" dirty="0">
                <a:solidFill>
                  <a:srgbClr val="FFFFFF"/>
                </a:solidFill>
                <a:latin typeface="Arial" pitchFamily="34" charset="0"/>
                <a:ea typeface="Arial" pitchFamily="34" charset="-122"/>
                <a:cs typeface="Arial" pitchFamily="34" charset="-120"/>
              </a:rPr>
              <a:t>False refusals</a:t>
            </a:r>
            <a:endParaRPr lang="en-US" sz="1900" dirty="0"/>
          </a:p>
        </p:txBody>
      </p:sp>
      <p:sp>
        <p:nvSpPr>
          <p:cNvPr id="36" name="Shape 34"/>
          <p:cNvSpPr/>
          <p:nvPr/>
        </p:nvSpPr>
        <p:spPr>
          <a:xfrm>
            <a:off x="7488936" y="4553712"/>
            <a:ext cx="100584" cy="100584"/>
          </a:xfrm>
          <a:prstGeom prst="ellipse">
            <a:avLst/>
          </a:prstGeom>
          <a:solidFill>
            <a:srgbClr val="163A3B"/>
          </a:solidFill>
          <a:ln w="12700">
            <a:solidFill>
              <a:srgbClr val="D5EDAE"/>
            </a:solidFill>
            <a:prstDash val="solid"/>
          </a:ln>
        </p:spPr>
      </p:sp>
      <p:sp>
        <p:nvSpPr>
          <p:cNvPr id="37" name="Text 35"/>
          <p:cNvSpPr/>
          <p:nvPr/>
        </p:nvSpPr>
        <p:spPr>
          <a:xfrm>
            <a:off x="7754112" y="4480560"/>
            <a:ext cx="3456432" cy="274320"/>
          </a:xfrm>
          <a:prstGeom prst="rect">
            <a:avLst/>
          </a:prstGeom>
          <a:noFill/>
          <a:ln/>
        </p:spPr>
        <p:txBody>
          <a:bodyPr wrap="square" lIns="0" tIns="0" rIns="0" bIns="0" rtlCol="0" anchor="ctr">
            <a:normAutofit/>
          </a:bodyPr>
          <a:lstStyle/>
          <a:p>
            <a:pPr indent="0" marL="0">
              <a:buNone/>
            </a:pPr>
            <a:r>
              <a:rPr lang="en-US" sz="1900" dirty="0">
                <a:solidFill>
                  <a:srgbClr val="FFFFFF"/>
                </a:solidFill>
                <a:latin typeface="Arial" pitchFamily="34" charset="0"/>
                <a:ea typeface="Arial" pitchFamily="34" charset="-122"/>
                <a:cs typeface="Arial" pitchFamily="34" charset="-120"/>
              </a:rPr>
              <a:t>Time to intervention</a:t>
            </a:r>
            <a:endParaRPr lang="en-US" sz="1900" dirty="0"/>
          </a:p>
        </p:txBody>
      </p:sp>
      <p:sp>
        <p:nvSpPr>
          <p:cNvPr id="38" name="Text 36"/>
          <p:cNvSpPr/>
          <p:nvPr/>
        </p:nvSpPr>
        <p:spPr>
          <a:xfrm>
            <a:off x="7461504" y="5056632"/>
            <a:ext cx="3822192" cy="182880"/>
          </a:xfrm>
          <a:prstGeom prst="rect">
            <a:avLst/>
          </a:prstGeom>
          <a:noFill/>
          <a:ln/>
        </p:spPr>
        <p:txBody>
          <a:bodyPr wrap="square" lIns="0" tIns="0" rIns="0" bIns="0" rtlCol="0" anchor="ctr">
            <a:normAutofit/>
          </a:bodyPr>
          <a:lstStyle/>
          <a:p>
            <a:pPr indent="0" marL="0">
              <a:buNone/>
            </a:pPr>
            <a:r>
              <a:rPr lang="en-US" sz="1250" dirty="0">
                <a:solidFill>
                  <a:srgbClr val="B4C8BE"/>
                </a:solidFill>
                <a:latin typeface="Arial" pitchFamily="34" charset="0"/>
                <a:ea typeface="Arial" pitchFamily="34" charset="-122"/>
                <a:cs typeface="Arial" pitchFamily="34" charset="-120"/>
              </a:rPr>
              <a:t>Measure on real calling channels.</a:t>
            </a:r>
            <a:endParaRPr lang="en-US" sz="1250" dirty="0"/>
          </a:p>
        </p:txBody>
      </p:sp>
      <p:sp>
        <p:nvSpPr>
          <p:cNvPr id="39" name="Text 37"/>
          <p:cNvSpPr/>
          <p:nvPr/>
        </p:nvSpPr>
        <p:spPr>
          <a:xfrm>
            <a:off x="640080" y="5504688"/>
            <a:ext cx="10927080" cy="201168"/>
          </a:xfrm>
          <a:prstGeom prst="rect">
            <a:avLst/>
          </a:prstGeom>
          <a:noFill/>
          <a:ln/>
        </p:spPr>
        <p:txBody>
          <a:bodyPr wrap="square" lIns="0" tIns="0" rIns="0" bIns="0" rtlCol="0" anchor="ctr">
            <a:normAutofit/>
          </a:bodyPr>
          <a:lstStyle/>
          <a:p>
            <a:pPr indent="0" marL="0">
              <a:buNone/>
            </a:pPr>
            <a:r>
              <a:rPr lang="en-US" sz="1000" dirty="0">
                <a:solidFill>
                  <a:srgbClr val="B4C8BE"/>
                </a:solidFill>
                <a:latin typeface="Arial" pitchFamily="34" charset="0"/>
                <a:ea typeface="Arial" pitchFamily="34" charset="-122"/>
                <a:cs typeface="Arial" pitchFamily="34" charset="-120"/>
              </a:rPr>
              <a:t>MVP · Demo ledger only · Voice scoring observes by default · No voice-clone / PAD claim</a:t>
            </a:r>
            <a:endParaRPr lang="en-US" sz="1000" dirty="0"/>
          </a:p>
        </p:txBody>
      </p:sp>
      <p:sp>
        <p:nvSpPr>
          <p:cNvPr id="40" name="Text 38"/>
          <p:cNvSpPr/>
          <p:nvPr/>
        </p:nvSpPr>
        <p:spPr>
          <a:xfrm>
            <a:off x="640080" y="5852160"/>
            <a:ext cx="8138160" cy="448056"/>
          </a:xfrm>
          <a:prstGeom prst="rect">
            <a:avLst/>
          </a:prstGeom>
          <a:noFill/>
          <a:ln/>
        </p:spPr>
        <p:txBody>
          <a:bodyPr wrap="square" lIns="0" tIns="0" rIns="0" bIns="0" rtlCol="0" anchor="ctr">
            <a:normAutofit/>
          </a:bodyPr>
          <a:lstStyle/>
          <a:p>
            <a:pPr indent="0" marL="0">
              <a:buNone/>
            </a:pPr>
            <a:r>
              <a:rPr lang="en-US" sz="1900" b="1" dirty="0">
                <a:solidFill>
                  <a:srgbClr val="D5EDAE"/>
                </a:solidFill>
                <a:latin typeface="Arial" pitchFamily="34" charset="0"/>
                <a:ea typeface="Arial" pitchFamily="34" charset="-122"/>
                <a:cs typeface="Arial" pitchFamily="34" charset="-120"/>
              </a:rPr>
              <a:t>Looking for an identity / SOC partner</a:t>
            </a:r>
            <a:endParaRPr lang="en-US" sz="1900" dirty="0"/>
          </a:p>
          <a:p>
            <a:pPr indent="0" marL="0">
              <a:buNone/>
            </a:pPr>
            <a:r>
              <a:rPr lang="en-US" sz="1900" b="1" dirty="0">
                <a:solidFill>
                  <a:srgbClr val="D5EDAE"/>
                </a:solidFill>
                <a:latin typeface="Arial" pitchFamily="34" charset="0"/>
                <a:ea typeface="Arial" pitchFamily="34" charset="-122"/>
                <a:cs typeface="Arial" pitchFamily="34" charset="-120"/>
              </a:rPr>
              <a:t>and a test tenant.</a:t>
            </a:r>
            <a:endParaRPr lang="en-US" sz="1900" dirty="0"/>
          </a:p>
        </p:txBody>
      </p:sp>
      <p:pic>
        <p:nvPicPr>
          <p:cNvPr id="41" name="Image 0" descr="QR code linking to the EntraGuard handbook at https://docs.entraguard.my">
            <a:hlinkClick r:id="rId2" tooltip=""/>
          </p:cNvPr>
          <p:cNvPicPr>
            <a:picLocks noChangeAspect="1"/>
          </p:cNvPicPr>
          <p:nvPr/>
        </p:nvPicPr>
        <p:blipFill>
          <a:blip r:embed="rId1"/>
          <a:stretch>
            <a:fillRect/>
          </a:stretch>
        </p:blipFill>
        <p:spPr>
          <a:xfrm>
            <a:off x="10789920" y="5577840"/>
            <a:ext cx="777240" cy="777240"/>
          </a:xfrm>
          <a:prstGeom prst="rect">
            <a:avLst/>
          </a:prstGeom>
        </p:spPr>
      </p:pic>
      <p:sp>
        <p:nvSpPr>
          <p:cNvPr id="42" name="Text 39"/>
          <p:cNvSpPr/>
          <p:nvPr/>
        </p:nvSpPr>
        <p:spPr>
          <a:xfrm>
            <a:off x="8366760" y="5833872"/>
            <a:ext cx="2185416" cy="201168"/>
          </a:xfrm>
          <a:prstGeom prst="rect">
            <a:avLst/>
          </a:prstGeom>
          <a:noFill/>
          <a:ln/>
        </p:spPr>
        <p:txBody>
          <a:bodyPr wrap="square" lIns="0" tIns="0" rIns="0" bIns="0" rtlCol="0" anchor="ctr">
            <a:normAutofit/>
          </a:bodyPr>
          <a:lstStyle/>
          <a:p>
            <a:pPr algn="r" indent="0" marL="0">
              <a:buNone/>
            </a:pPr>
            <a:r>
              <a:rPr lang="en-US" sz="1100" dirty="0">
                <a:solidFill>
                  <a:srgbClr val="FFFFFF"/>
                </a:solidFill>
                <a:latin typeface="Arial" pitchFamily="34" charset="0"/>
                <a:ea typeface="Arial" pitchFamily="34" charset="-122"/>
                <a:cs typeface="Arial" pitchFamily="34" charset="-120"/>
              </a:rPr>
              <a:t>Explore the solution</a:t>
            </a:r>
            <a:endParaRPr lang="en-US" sz="1100" dirty="0"/>
          </a:p>
        </p:txBody>
      </p:sp>
      <p:sp>
        <p:nvSpPr>
          <p:cNvPr id="43" name="Text 40"/>
          <p:cNvSpPr/>
          <p:nvPr/>
        </p:nvSpPr>
        <p:spPr>
          <a:xfrm>
            <a:off x="8366760" y="6126480"/>
            <a:ext cx="2185416" cy="192024"/>
          </a:xfrm>
          <a:prstGeom prst="rect">
            <a:avLst/>
          </a:prstGeom>
          <a:noFill/>
          <a:ln/>
        </p:spPr>
        <p:txBody>
          <a:bodyPr wrap="square" lIns="0" tIns="0" rIns="0" bIns="0" rtlCol="0" anchor="ctr">
            <a:normAutofit/>
          </a:bodyPr>
          <a:lstStyle/>
          <a:p>
            <a:pPr algn="r" indent="0" marL="0">
              <a:buNone/>
            </a:pPr>
            <a:r>
              <a:rPr lang="en-US" sz="1200" dirty="0">
                <a:solidFill>
                  <a:srgbClr val="D5EDAE"/>
                </a:solidFill>
                <a:latin typeface="Arial" pitchFamily="34" charset="0"/>
                <a:ea typeface="Arial" pitchFamily="34" charset="-122"/>
                <a:cs typeface="Arial" pitchFamily="34" charset="-120"/>
              </a:rPr>
              <a:t>docs.entraguard.my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EntraGuard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EntraGuard — The code can be right. The situation can be wrong.</dc:title>
  <dc:subject>Hackathon pitch: voice-aware identity verification and social-engineering defence</dc:subject>
  <dc:creator>EntraGuard</dc:creator>
  <cp:lastModifiedBy>EntraGuard</cp:lastModifiedBy>
  <cp:revision>1</cp:revision>
  <dcterms:created xsi:type="dcterms:W3CDTF">2026-09-19T21:54:29Z</dcterms:created>
  <dcterms:modified xsi:type="dcterms:W3CDTF">2026-09-19T21:54:29Z</dcterms:modified>
</cp:coreProperties>
</file>
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seconds
0.4s: The code is correct. The person has the phone. But someone pretending to be IT is telling them what to do.
VISUAL
Polished opening slide; the number and scenario are illustrative.
FINAL EDIT
Use this title slide. No claim of a recorded incident.
Claims checked against the current source architecture. Demo sections are storyboard placeholders, not recorded evidence. Voice scoring observes by default. Treasury is a demo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10–18 seconds
10.3s: Meet EntraGuard: verification that combines work identity, recent activity, and evidence from the conversation.
VISUAL
Three signals: work identity, available activity, conversation evidence.
FINAL EDIT
Use the solution slide; cut before it turns into a feature inventory.
Claims checked against the current source architecture. Demo sections are storyboard placeholders, not recorded evidence. Voice scoring observes by default. Treasury is a demo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18–48 seconds
18.6s: In our Contoso Treasury demo, a user signs in with Microsoft Entra ID and starts a verification call.
32s: They match the number on screen, then answer questions drawn from available recent activity. A separate server check decides whether the application grants access.
VISUAL
Reference Treasury screenshot and shot list until actual footage arrives.
FINAL EDIT
Replace the entire storyboard slate with recorded sign-in, number match, one question and the actual result. Keep 4–6 seconds of original call audio.
Claims checked against the current source architecture. Demo sections are storyboard placeholders, not recorded evidence. Voice scoring observes by default. Treasury is a demo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48–88 seconds
49s: Now consider a controlled coaching test. The user can enter the right number while someone else guides their answers.
65s: EntraGuard analyses the transcript for manipulation. When coaching is detected with sufficient confidence, verification can be refused, even when the code is correct.
81s: The operator can inspect the assessment, evidence, and recorded verification outcome.
VISUAL
Conceptual evidence-to-decision sequence, explicitly not a recorded result.
FINAL EDIT
Replace with the controlled coaching test. Show correct code, a short coaching excerpt, actual assessment, returned result and reason. Keep 6–8 seconds of original audio. If no refusal occurred, revise the story rather than inventing a result.
Claims checked against the current source architecture. Demo sections are storyboard placeholders, not recorded evidence. Voice scoring observes by default. Treasury is a demo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88–105 seconds
88.5s: Azure Communication Services carries the call. Speech transcribes it. Azure OpenAI assesses risk. Deterministic code controls the outcome. Microsoft Graph provides context, and Azure monitoring records the evidence.
VISUAL
Simple four-stage architecture using official Azure service icons.
FINAL EDIT
Use this simplified architecture slide instead of the dense engineering diagrams.
Claims checked against the current source architecture. Demo sections are storyboard placeholders, not recorded evidence. Voice scoring observes by default. Treasury is a demo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105–115 seconds
105.4s: EntraGuard. The right code should not be the only question. Bring conversation evidence into the verification decision.
VISUAL
EntraGuard closing title and a controlled-pilot next step.
FINAL EDIT
Use this closing slide. Leave a short clean tail; do not add a long logo animation.
Claims checked against the current source architecture. Demo sections are storyboard placeholders, not recorded evidence. Voice scoring observes by default. Treasury is a demo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52D"/>
        </a:solidFill>
      </p:bgPr>
    </p:bg>
    <p:spTree>
      <p:nvGrpSpPr>
        <p:cNvPr id="1" name=""/>
        <p:cNvGrpSpPr/>
        <p:nvPr/>
      </p:nvGrpSpPr>
      <p:grpSpPr>
        <a:xfrm>
          <a:off x="0" y="0"/>
          <a:ext cx="0" cy="0"/>
          <a:chOff x="0" y="0"/>
          <a:chExt cx="0" cy="0"/>
        </a:xfrm>
      </p:grpSpPr>
      <p:sp>
        <p:nvSpPr>
          <p:cNvPr id="2" name="Text 0"/>
          <p:cNvSpPr/>
          <p:nvPr/>
        </p:nvSpPr>
        <p:spPr>
          <a:xfrm>
            <a:off x="609600" y="330200"/>
            <a:ext cx="4445000" cy="195263"/>
          </a:xfrm>
          <a:prstGeom prst="rect">
            <a:avLst/>
          </a:prstGeom>
          <a:noFill/>
          <a:ln/>
        </p:spPr>
        <p:txBody>
          <a:bodyPr wrap="square" lIns="0" tIns="0" rIns="0" bIns="0" rtlCol="0" anchor="t">
            <a:normAutofit/>
          </a:bodyPr>
          <a:lstStyle/>
          <a:p>
            <a:pPr algn="l" indent="0" marL="0">
              <a:buNone/>
            </a:pPr>
            <a:r>
              <a:rPr lang="en-US" sz="1250" b="1" dirty="0">
                <a:solidFill>
                  <a:srgbClr val="D5EDAE"/>
                </a:solidFill>
                <a:latin typeface="Arial" pitchFamily="34" charset="0"/>
                <a:ea typeface="Arial" pitchFamily="34" charset="-122"/>
                <a:cs typeface="Arial" pitchFamily="34" charset="-120"/>
              </a:rPr>
              <a:t>ENTRAGUARD</a:t>
            </a:r>
            <a:endParaRPr lang="en-US" sz="1250" dirty="0"/>
          </a:p>
        </p:txBody>
      </p:sp>
      <p:sp>
        <p:nvSpPr>
          <p:cNvPr id="3" name="Text 1"/>
          <p:cNvSpPr/>
          <p:nvPr/>
        </p:nvSpPr>
        <p:spPr>
          <a:xfrm>
            <a:off x="7874000" y="349250"/>
            <a:ext cx="3683000" cy="148400"/>
          </a:xfrm>
          <a:prstGeom prst="rect">
            <a:avLst/>
          </a:prstGeom>
          <a:noFill/>
          <a:ln/>
        </p:spPr>
        <p:txBody>
          <a:bodyPr wrap="square" lIns="0" tIns="0" rIns="0" bIns="0" rtlCol="0" anchor="t">
            <a:normAutofit/>
          </a:bodyPr>
          <a:lstStyle/>
          <a:p>
            <a:pPr algn="r" indent="0" marL="0">
              <a:buNone/>
            </a:pPr>
            <a:r>
              <a:rPr lang="en-US" sz="950" dirty="0">
                <a:solidFill>
                  <a:srgbClr val="B4C8BE"/>
                </a:solidFill>
                <a:latin typeface="Arial" pitchFamily="34" charset="0"/>
                <a:ea typeface="Arial" pitchFamily="34" charset="-122"/>
                <a:cs typeface="Arial" pitchFamily="34" charset="-120"/>
              </a:rPr>
              <a:t>00–10s  /  HACKATHON FILM</a:t>
            </a:r>
            <a:endParaRPr lang="en-US" sz="950" dirty="0"/>
          </a:p>
        </p:txBody>
      </p:sp>
      <p:sp>
        <p:nvSpPr>
          <p:cNvPr id="4" name="Shape 2"/>
          <p:cNvSpPr/>
          <p:nvPr/>
        </p:nvSpPr>
        <p:spPr>
          <a:xfrm>
            <a:off x="609600" y="6400800"/>
            <a:ext cx="10972800" cy="0"/>
          </a:xfrm>
          <a:prstGeom prst="line">
            <a:avLst/>
          </a:prstGeom>
          <a:noFill/>
          <a:ln w="19050">
            <a:solidFill>
              <a:srgbClr val="36554E"/>
            </a:solidFill>
            <a:prstDash val="solid"/>
            <a:tailEnd type="none"/>
          </a:ln>
        </p:spPr>
      </p:sp>
      <p:sp>
        <p:nvSpPr>
          <p:cNvPr id="5" name="Text 3"/>
          <p:cNvSpPr/>
          <p:nvPr/>
        </p:nvSpPr>
        <p:spPr>
          <a:xfrm>
            <a:off x="609600" y="6540500"/>
            <a:ext cx="7620000" cy="132779"/>
          </a:xfrm>
          <a:prstGeom prst="rect">
            <a:avLst/>
          </a:prstGeom>
          <a:noFill/>
          <a:ln/>
        </p:spPr>
        <p:txBody>
          <a:bodyPr wrap="square" lIns="0" tIns="0" rIns="0" bIns="0" rtlCol="0" anchor="t">
            <a:normAutofit/>
          </a:bodyPr>
          <a:lstStyle/>
          <a:p>
            <a:pPr algn="l" indent="0" marL="0">
              <a:buNone/>
            </a:pPr>
            <a:r>
              <a:rPr lang="en-US" sz="850" dirty="0">
                <a:solidFill>
                  <a:srgbClr val="B4C8BE"/>
                </a:solidFill>
                <a:latin typeface="Arial" pitchFamily="34" charset="0"/>
                <a:ea typeface="Arial" pitchFamily="34" charset="-122"/>
                <a:cs typeface="Arial" pitchFamily="34" charset="-120"/>
              </a:rPr>
              <a:t>MICROSOFT GARAGE HACKATHON</a:t>
            </a:r>
            <a:endParaRPr lang="en-US" sz="850" dirty="0"/>
          </a:p>
        </p:txBody>
      </p:sp>
      <p:sp>
        <p:nvSpPr>
          <p:cNvPr id="6" name="Text 4"/>
          <p:cNvSpPr/>
          <p:nvPr/>
        </p:nvSpPr>
        <p:spPr>
          <a:xfrm>
            <a:off x="10604500" y="6540500"/>
            <a:ext cx="977900" cy="132779"/>
          </a:xfrm>
          <a:prstGeom prst="rect">
            <a:avLst/>
          </a:prstGeom>
          <a:noFill/>
          <a:ln/>
        </p:spPr>
        <p:txBody>
          <a:bodyPr wrap="square" lIns="0" tIns="0" rIns="0" bIns="0" rtlCol="0" anchor="t">
            <a:normAutofit/>
          </a:bodyPr>
          <a:lstStyle/>
          <a:p>
            <a:pPr algn="r" indent="0" marL="0">
              <a:buNone/>
            </a:pPr>
            <a:r>
              <a:rPr lang="en-US" sz="850" dirty="0">
                <a:solidFill>
                  <a:srgbClr val="B4C8BE"/>
                </a:solidFill>
                <a:latin typeface="Arial" pitchFamily="34" charset="0"/>
                <a:ea typeface="Arial" pitchFamily="34" charset="-122"/>
                <a:cs typeface="Arial" pitchFamily="34" charset="-120"/>
              </a:rPr>
              <a:t>01 / 06</a:t>
            </a:r>
            <a:endParaRPr lang="en-US" sz="850" dirty="0"/>
          </a:p>
        </p:txBody>
      </p:sp>
      <p:sp>
        <p:nvSpPr>
          <p:cNvPr id="8" name="Text 5"/>
          <p:cNvSpPr/>
          <p:nvPr/>
        </p:nvSpPr>
        <p:spPr>
          <a:xfrm>
            <a:off x="609600" y="1492250"/>
            <a:ext cx="6858000" cy="1343406"/>
          </a:xfrm>
          <a:prstGeom prst="rect">
            <a:avLst/>
          </a:prstGeom>
          <a:noFill/>
          <a:ln/>
        </p:spPr>
        <p:txBody>
          <a:bodyPr wrap="square" lIns="0" tIns="0" rIns="0" bIns="0" rtlCol="0" anchor="t">
            <a:normAutofit/>
          </a:bodyPr>
          <a:lstStyle/>
          <a:p>
            <a:pPr algn="l" indent="0" marL="0">
              <a:buNone/>
            </a:pPr>
            <a:r>
              <a:rPr lang="en-US" sz="4300" b="1" dirty="0">
                <a:solidFill>
                  <a:srgbClr val="FFFFFF"/>
                </a:solidFill>
                <a:latin typeface="Arial" pitchFamily="34" charset="0"/>
                <a:ea typeface="Arial" pitchFamily="34" charset="-122"/>
                <a:cs typeface="Arial" pitchFamily="34" charset="-120"/>
              </a:rPr>
              <a:t>The code is right.</a:t>
            </a:r>
            <a:endParaRPr lang="en-US" sz="4300" dirty="0"/>
          </a:p>
          <a:p>
            <a:pPr algn="l" indent="0" marL="0">
              <a:buNone/>
            </a:pPr>
            <a:r>
              <a:rPr lang="en-US" sz="4300" b="1" dirty="0">
                <a:solidFill>
                  <a:srgbClr val="FFFFFF"/>
                </a:solidFill>
                <a:latin typeface="Arial" pitchFamily="34" charset="0"/>
                <a:ea typeface="Arial" pitchFamily="34" charset="-122"/>
                <a:cs typeface="Arial" pitchFamily="34" charset="-120"/>
              </a:rPr>
              <a:t>The situation isn’t.</a:t>
            </a:r>
            <a:endParaRPr lang="en-US" sz="4300" dirty="0"/>
          </a:p>
        </p:txBody>
      </p:sp>
      <p:sp>
        <p:nvSpPr>
          <p:cNvPr id="9" name="Text 6"/>
          <p:cNvSpPr/>
          <p:nvPr/>
        </p:nvSpPr>
        <p:spPr>
          <a:xfrm>
            <a:off x="635000" y="3175000"/>
            <a:ext cx="6350000" cy="609219"/>
          </a:xfrm>
          <a:prstGeom prst="rect">
            <a:avLst/>
          </a:prstGeom>
          <a:noFill/>
          <a:ln/>
        </p:spPr>
        <p:txBody>
          <a:bodyPr wrap="square" lIns="0" tIns="0" rIns="0" bIns="0" rtlCol="0" anchor="t">
            <a:normAutofit/>
          </a:bodyPr>
          <a:lstStyle/>
          <a:p>
            <a:pPr algn="l" indent="0" marL="0">
              <a:buNone/>
            </a:pPr>
            <a:r>
              <a:rPr lang="en-US" sz="1950" dirty="0">
                <a:solidFill>
                  <a:srgbClr val="B4C8BE"/>
                </a:solidFill>
                <a:latin typeface="Arial" pitchFamily="34" charset="0"/>
                <a:ea typeface="Arial" pitchFamily="34" charset="-122"/>
                <a:cs typeface="Arial" pitchFamily="34" charset="-120"/>
              </a:rPr>
              <a:t>A valid credential can still hide</a:t>
            </a:r>
            <a:endParaRPr lang="en-US" sz="1950" dirty="0"/>
          </a:p>
          <a:p>
            <a:pPr algn="l" indent="0" marL="0">
              <a:buNone/>
            </a:pPr>
            <a:r>
              <a:rPr lang="en-US" sz="1950" dirty="0">
                <a:solidFill>
                  <a:srgbClr val="B4C8BE"/>
                </a:solidFill>
                <a:latin typeface="Arial" pitchFamily="34" charset="0"/>
                <a:ea typeface="Arial" pitchFamily="34" charset="-122"/>
                <a:cs typeface="Arial" pitchFamily="34" charset="-120"/>
              </a:rPr>
              <a:t>a coached approval.</a:t>
            </a:r>
            <a:endParaRPr lang="en-US" sz="1950" dirty="0"/>
          </a:p>
        </p:txBody>
      </p:sp>
      <p:sp>
        <p:nvSpPr>
          <p:cNvPr id="10" name="Shape 7"/>
          <p:cNvSpPr/>
          <p:nvPr/>
        </p:nvSpPr>
        <p:spPr>
          <a:xfrm>
            <a:off x="622300" y="5067300"/>
            <a:ext cx="5334000" cy="266700"/>
          </a:xfrm>
          <a:prstGeom prst="roundRect">
            <a:avLst>
              <a:gd name="adj" fmla="val 19048"/>
            </a:avLst>
          </a:prstGeom>
          <a:solidFill>
            <a:srgbClr val="163A3B"/>
          </a:solidFill>
          <a:ln w="6350">
            <a:solidFill>
              <a:srgbClr val="163A3B"/>
            </a:solidFill>
            <a:prstDash val="solid"/>
          </a:ln>
        </p:spPr>
      </p:sp>
      <p:sp>
        <p:nvSpPr>
          <p:cNvPr id="11" name="Text 8"/>
          <p:cNvSpPr/>
          <p:nvPr/>
        </p:nvSpPr>
        <p:spPr>
          <a:xfrm>
            <a:off x="698500" y="5124450"/>
            <a:ext cx="5181600" cy="148400"/>
          </a:xfrm>
          <a:prstGeom prst="rect">
            <a:avLst/>
          </a:prstGeom>
          <a:noFill/>
          <a:ln/>
        </p:spPr>
        <p:txBody>
          <a:bodyPr wrap="square" lIns="0" tIns="0" rIns="0" bIns="0" rtlCol="0" anchor="t">
            <a:normAutofit/>
          </a:bodyPr>
          <a:lstStyle/>
          <a:p>
            <a:pPr algn="l" indent="0" marL="0">
              <a:buNone/>
            </a:pPr>
            <a:r>
              <a:rPr lang="en-US" sz="950" b="1" dirty="0">
                <a:solidFill>
                  <a:srgbClr val="D5EDAE"/>
                </a:solidFill>
                <a:latin typeface="Arial" pitchFamily="34" charset="0"/>
                <a:ea typeface="Arial" pitchFamily="34" charset="-122"/>
                <a:cs typeface="Arial" pitchFamily="34" charset="-120"/>
              </a:rPr>
              <a:t>VERIFY THE PERSON. ASSESS THE PRESSURE.</a:t>
            </a:r>
            <a:endParaRPr lang="en-US" sz="950" dirty="0"/>
          </a:p>
        </p:txBody>
      </p:sp>
      <p:sp>
        <p:nvSpPr>
          <p:cNvPr id="12" name="Shape 9"/>
          <p:cNvSpPr/>
          <p:nvPr/>
        </p:nvSpPr>
        <p:spPr>
          <a:xfrm>
            <a:off x="7747000" y="1384300"/>
            <a:ext cx="3746500" cy="4127500"/>
          </a:xfrm>
          <a:prstGeom prst="roundRect">
            <a:avLst>
              <a:gd name="adj" fmla="val 4746"/>
            </a:avLst>
          </a:prstGeom>
          <a:solidFill>
            <a:srgbClr val="163A3B"/>
          </a:solidFill>
          <a:ln w="6350">
            <a:solidFill>
              <a:srgbClr val="36554E"/>
            </a:solidFill>
            <a:prstDash val="solid"/>
          </a:ln>
        </p:spPr>
      </p:sp>
      <p:sp>
        <p:nvSpPr>
          <p:cNvPr id="13" name="Text 10"/>
          <p:cNvSpPr/>
          <p:nvPr/>
        </p:nvSpPr>
        <p:spPr>
          <a:xfrm>
            <a:off x="8064500" y="1752600"/>
            <a:ext cx="3111500" cy="171831"/>
          </a:xfrm>
          <a:prstGeom prst="rect">
            <a:avLst/>
          </a:prstGeom>
          <a:noFill/>
          <a:ln/>
        </p:spPr>
        <p:txBody>
          <a:bodyPr wrap="square" lIns="0" tIns="0" rIns="0" bIns="0" rtlCol="0" anchor="t">
            <a:normAutofit/>
          </a:bodyPr>
          <a:lstStyle/>
          <a:p>
            <a:pPr algn="ctr" indent="0" marL="0">
              <a:buNone/>
            </a:pPr>
            <a:r>
              <a:rPr lang="en-US" sz="1100" b="1" dirty="0">
                <a:solidFill>
                  <a:srgbClr val="B4C8BE"/>
                </a:solidFill>
                <a:latin typeface="Arial" pitchFamily="34" charset="0"/>
                <a:ea typeface="Arial" pitchFamily="34" charset="-122"/>
                <a:cs typeface="Arial" pitchFamily="34" charset="-120"/>
              </a:rPr>
              <a:t>NUMBER MATCH</a:t>
            </a:r>
            <a:endParaRPr lang="en-US" sz="1100" dirty="0"/>
          </a:p>
        </p:txBody>
      </p:sp>
      <p:sp>
        <p:nvSpPr>
          <p:cNvPr id="14" name="Shape 11"/>
          <p:cNvSpPr/>
          <p:nvPr/>
        </p:nvSpPr>
        <p:spPr>
          <a:xfrm>
            <a:off x="8382000" y="2190750"/>
            <a:ext cx="2476500" cy="1346200"/>
          </a:xfrm>
          <a:prstGeom prst="roundRect">
            <a:avLst>
              <a:gd name="adj" fmla="val 11321"/>
            </a:avLst>
          </a:prstGeom>
          <a:solidFill>
            <a:srgbClr val="F5F6F0"/>
          </a:solidFill>
          <a:ln w="6350">
            <a:solidFill>
              <a:srgbClr val="F5F6F0"/>
            </a:solidFill>
            <a:prstDash val="solid"/>
          </a:ln>
        </p:spPr>
      </p:sp>
      <p:sp>
        <p:nvSpPr>
          <p:cNvPr id="15" name="Text 12"/>
          <p:cNvSpPr/>
          <p:nvPr/>
        </p:nvSpPr>
        <p:spPr>
          <a:xfrm>
            <a:off x="8445500" y="2266950"/>
            <a:ext cx="2349500" cy="1171575"/>
          </a:xfrm>
          <a:prstGeom prst="rect">
            <a:avLst/>
          </a:prstGeom>
          <a:noFill/>
          <a:ln/>
        </p:spPr>
        <p:txBody>
          <a:bodyPr wrap="square" lIns="0" tIns="0" rIns="0" bIns="0" rtlCol="0" anchor="t">
            <a:normAutofit/>
          </a:bodyPr>
          <a:lstStyle/>
          <a:p>
            <a:pPr algn="ctr" indent="0" marL="0">
              <a:buNone/>
            </a:pPr>
            <a:r>
              <a:rPr lang="en-US" sz="7500" b="1" dirty="0">
                <a:solidFill>
                  <a:srgbClr val="17382F"/>
                </a:solidFill>
                <a:latin typeface="Arial" pitchFamily="34" charset="0"/>
                <a:ea typeface="Arial" pitchFamily="34" charset="-122"/>
                <a:cs typeface="Arial" pitchFamily="34" charset="-120"/>
              </a:rPr>
              <a:t>47</a:t>
            </a:r>
            <a:endParaRPr lang="en-US" sz="7500" dirty="0"/>
          </a:p>
        </p:txBody>
      </p:sp>
      <p:sp>
        <p:nvSpPr>
          <p:cNvPr id="16" name="Text 13"/>
          <p:cNvSpPr/>
          <p:nvPr/>
        </p:nvSpPr>
        <p:spPr>
          <a:xfrm>
            <a:off x="8064500" y="3937000"/>
            <a:ext cx="3111500" cy="546735"/>
          </a:xfrm>
          <a:prstGeom prst="rect">
            <a:avLst/>
          </a:prstGeom>
          <a:noFill/>
          <a:ln/>
        </p:spPr>
        <p:txBody>
          <a:bodyPr wrap="square" lIns="0" tIns="0" rIns="0" bIns="0" rtlCol="0" anchor="t">
            <a:normAutofit/>
          </a:bodyPr>
          <a:lstStyle/>
          <a:p>
            <a:pPr algn="ctr" indent="0" marL="0">
              <a:buNone/>
            </a:pPr>
            <a:r>
              <a:rPr lang="en-US" sz="1750" dirty="0">
                <a:solidFill>
                  <a:srgbClr val="FFD0B8"/>
                </a:solidFill>
                <a:latin typeface="Arial" pitchFamily="34" charset="0"/>
                <a:ea typeface="Arial" pitchFamily="34" charset="-122"/>
                <a:cs typeface="Arial" pitchFamily="34" charset="-120"/>
              </a:rPr>
              <a:t>“Just enter the number.</a:t>
            </a:r>
            <a:endParaRPr lang="en-US" sz="1750" dirty="0"/>
          </a:p>
          <a:p>
            <a:pPr algn="ctr" indent="0" marL="0">
              <a:buNone/>
            </a:pPr>
            <a:r>
              <a:rPr lang="en-US" sz="1750" dirty="0">
                <a:solidFill>
                  <a:srgbClr val="FFD0B8"/>
                </a:solidFill>
                <a:latin typeface="Arial" pitchFamily="34" charset="0"/>
                <a:ea typeface="Arial" pitchFamily="34" charset="-122"/>
                <a:cs typeface="Arial" pitchFamily="34" charset="-120"/>
              </a:rPr>
              <a:t>I’ll stay on the line.”</a:t>
            </a:r>
            <a:endParaRPr lang="en-US" sz="1750" dirty="0"/>
          </a:p>
        </p:txBody>
      </p:sp>
      <p:sp>
        <p:nvSpPr>
          <p:cNvPr id="17" name="Text 14"/>
          <p:cNvSpPr/>
          <p:nvPr/>
        </p:nvSpPr>
        <p:spPr>
          <a:xfrm>
            <a:off x="8064500" y="5067300"/>
            <a:ext cx="3111500" cy="156210"/>
          </a:xfrm>
          <a:prstGeom prst="rect">
            <a:avLst/>
          </a:prstGeom>
          <a:noFill/>
          <a:ln/>
        </p:spPr>
        <p:txBody>
          <a:bodyPr wrap="square" lIns="0" tIns="0" rIns="0" bIns="0" rtlCol="0" anchor="t">
            <a:normAutofit/>
          </a:bodyPr>
          <a:lstStyle/>
          <a:p>
            <a:pPr algn="ctr" indent="0" marL="0">
              <a:buNone/>
            </a:pPr>
            <a:r>
              <a:rPr lang="en-US" sz="1000" dirty="0">
                <a:solidFill>
                  <a:srgbClr val="B4C8BE"/>
                </a:solidFill>
                <a:latin typeface="Arial" pitchFamily="34" charset="0"/>
                <a:ea typeface="Arial" pitchFamily="34" charset="-122"/>
                <a:cs typeface="Arial" pitchFamily="34" charset="-120"/>
              </a:rPr>
              <a:t>Illustrative scenario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0"/>
        </a:solidFill>
      </p:bgPr>
    </p:bg>
    <p:spTree>
      <p:nvGrpSpPr>
        <p:cNvPr id="1" name=""/>
        <p:cNvGrpSpPr/>
        <p:nvPr/>
      </p:nvGrpSpPr>
      <p:grpSpPr>
        <a:xfrm>
          <a:off x="0" y="0"/>
          <a:ext cx="0" cy="0"/>
          <a:chOff x="0" y="0"/>
          <a:chExt cx="0" cy="0"/>
        </a:xfrm>
      </p:grpSpPr>
      <p:sp>
        <p:nvSpPr>
          <p:cNvPr id="2" name="Text 0"/>
          <p:cNvSpPr/>
          <p:nvPr/>
        </p:nvSpPr>
        <p:spPr>
          <a:xfrm>
            <a:off x="609600" y="330200"/>
            <a:ext cx="4445000" cy="195263"/>
          </a:xfrm>
          <a:prstGeom prst="rect">
            <a:avLst/>
          </a:prstGeom>
          <a:noFill/>
          <a:ln/>
        </p:spPr>
        <p:txBody>
          <a:bodyPr wrap="square" lIns="0" tIns="0" rIns="0" bIns="0" rtlCol="0" anchor="t">
            <a:normAutofit/>
          </a:bodyPr>
          <a:lstStyle/>
          <a:p>
            <a:pPr algn="l" indent="0" marL="0">
              <a:buNone/>
            </a:pPr>
            <a:r>
              <a:rPr lang="en-US" sz="1250" b="1" dirty="0">
                <a:solidFill>
                  <a:srgbClr val="17382F"/>
                </a:solidFill>
                <a:latin typeface="Arial" pitchFamily="34" charset="0"/>
                <a:ea typeface="Arial" pitchFamily="34" charset="-122"/>
                <a:cs typeface="Arial" pitchFamily="34" charset="-120"/>
              </a:rPr>
              <a:t>ENTRAGUARD</a:t>
            </a:r>
            <a:endParaRPr lang="en-US" sz="1250" dirty="0"/>
          </a:p>
        </p:txBody>
      </p:sp>
      <p:sp>
        <p:nvSpPr>
          <p:cNvPr id="3" name="Text 1"/>
          <p:cNvSpPr/>
          <p:nvPr/>
        </p:nvSpPr>
        <p:spPr>
          <a:xfrm>
            <a:off x="7874000" y="349250"/>
            <a:ext cx="3683000" cy="148400"/>
          </a:xfrm>
          <a:prstGeom prst="rect">
            <a:avLst/>
          </a:prstGeom>
          <a:noFill/>
          <a:ln/>
        </p:spPr>
        <p:txBody>
          <a:bodyPr wrap="square" lIns="0" tIns="0" rIns="0" bIns="0" rtlCol="0" anchor="t">
            <a:normAutofit/>
          </a:bodyPr>
          <a:lstStyle/>
          <a:p>
            <a:pPr algn="r" indent="0" marL="0">
              <a:buNone/>
            </a:pPr>
            <a:r>
              <a:rPr lang="en-US" sz="950" dirty="0">
                <a:solidFill>
                  <a:srgbClr val="566D62"/>
                </a:solidFill>
                <a:latin typeface="Arial" pitchFamily="34" charset="0"/>
                <a:ea typeface="Arial" pitchFamily="34" charset="-122"/>
                <a:cs typeface="Arial" pitchFamily="34" charset="-120"/>
              </a:rPr>
              <a:t>10–18s  /  HACKATHON FILM</a:t>
            </a:r>
            <a:endParaRPr lang="en-US" sz="950" dirty="0"/>
          </a:p>
        </p:txBody>
      </p:sp>
      <p:sp>
        <p:nvSpPr>
          <p:cNvPr id="4" name="Shape 2"/>
          <p:cNvSpPr/>
          <p:nvPr/>
        </p:nvSpPr>
        <p:spPr>
          <a:xfrm>
            <a:off x="609600" y="6400800"/>
            <a:ext cx="10972800" cy="0"/>
          </a:xfrm>
          <a:prstGeom prst="line">
            <a:avLst/>
          </a:prstGeom>
          <a:noFill/>
          <a:ln w="19050">
            <a:solidFill>
              <a:srgbClr val="DCE4D6"/>
            </a:solidFill>
            <a:prstDash val="solid"/>
            <a:tailEnd type="none"/>
          </a:ln>
        </p:spPr>
      </p:sp>
      <p:sp>
        <p:nvSpPr>
          <p:cNvPr id="5" name="Text 3"/>
          <p:cNvSpPr/>
          <p:nvPr/>
        </p:nvSpPr>
        <p:spPr>
          <a:xfrm>
            <a:off x="609600" y="6540500"/>
            <a:ext cx="7620000" cy="132779"/>
          </a:xfrm>
          <a:prstGeom prst="rect">
            <a:avLst/>
          </a:prstGeom>
          <a:noFill/>
          <a:ln/>
        </p:spPr>
        <p:txBody>
          <a:bodyPr wrap="square" lIns="0" tIns="0" rIns="0" bIns="0" rtlCol="0" anchor="t">
            <a:normAutofit/>
          </a:bodyPr>
          <a:lstStyle/>
          <a:p>
            <a:pPr algn="l" indent="0" marL="0">
              <a:buNone/>
            </a:pPr>
            <a:r>
              <a:rPr lang="en-US" sz="850" dirty="0">
                <a:solidFill>
                  <a:srgbClr val="566D62"/>
                </a:solidFill>
                <a:latin typeface="Arial" pitchFamily="34" charset="0"/>
                <a:ea typeface="Arial" pitchFamily="34" charset="-122"/>
                <a:cs typeface="Arial" pitchFamily="34" charset="-120"/>
              </a:rPr>
              <a:t>MICROSOFT GARAGE HACKATHON</a:t>
            </a:r>
            <a:endParaRPr lang="en-US" sz="850" dirty="0"/>
          </a:p>
        </p:txBody>
      </p:sp>
      <p:sp>
        <p:nvSpPr>
          <p:cNvPr id="6" name="Text 4"/>
          <p:cNvSpPr/>
          <p:nvPr/>
        </p:nvSpPr>
        <p:spPr>
          <a:xfrm>
            <a:off x="10604500" y="6540500"/>
            <a:ext cx="977900" cy="132779"/>
          </a:xfrm>
          <a:prstGeom prst="rect">
            <a:avLst/>
          </a:prstGeom>
          <a:noFill/>
          <a:ln/>
        </p:spPr>
        <p:txBody>
          <a:bodyPr wrap="square" lIns="0" tIns="0" rIns="0" bIns="0" rtlCol="0" anchor="t">
            <a:normAutofit/>
          </a:bodyPr>
          <a:lstStyle/>
          <a:p>
            <a:pPr algn="r" indent="0" marL="0">
              <a:buNone/>
            </a:pPr>
            <a:r>
              <a:rPr lang="en-US" sz="850" dirty="0">
                <a:solidFill>
                  <a:srgbClr val="566D62"/>
                </a:solidFill>
                <a:latin typeface="Arial" pitchFamily="34" charset="0"/>
                <a:ea typeface="Arial" pitchFamily="34" charset="-122"/>
                <a:cs typeface="Arial" pitchFamily="34" charset="-120"/>
              </a:rPr>
              <a:t>02 / 06</a:t>
            </a:r>
            <a:endParaRPr lang="en-US" sz="850" dirty="0"/>
          </a:p>
        </p:txBody>
      </p:sp>
      <p:sp>
        <p:nvSpPr>
          <p:cNvPr id="8" name="Text 5"/>
          <p:cNvSpPr/>
          <p:nvPr/>
        </p:nvSpPr>
        <p:spPr>
          <a:xfrm>
            <a:off x="609600" y="1155700"/>
            <a:ext cx="10985500" cy="1187196"/>
          </a:xfrm>
          <a:prstGeom prst="rect">
            <a:avLst/>
          </a:prstGeom>
          <a:noFill/>
          <a:ln/>
        </p:spPr>
        <p:txBody>
          <a:bodyPr wrap="square" lIns="0" tIns="0" rIns="0" bIns="0" rtlCol="0" anchor="t">
            <a:normAutofit/>
          </a:bodyPr>
          <a:lstStyle/>
          <a:p>
            <a:pPr algn="l" indent="0" marL="0">
              <a:buNone/>
            </a:pPr>
            <a:r>
              <a:rPr lang="en-US" sz="3800" b="1" dirty="0">
                <a:solidFill>
                  <a:srgbClr val="17382F"/>
                </a:solidFill>
                <a:latin typeface="Arial" pitchFamily="34" charset="0"/>
                <a:ea typeface="Arial" pitchFamily="34" charset="-122"/>
                <a:cs typeface="Arial" pitchFamily="34" charset="-120"/>
              </a:rPr>
              <a:t>Verify the person.</a:t>
            </a:r>
            <a:endParaRPr lang="en-US" sz="3800" dirty="0"/>
          </a:p>
          <a:p>
            <a:pPr algn="l" indent="0" marL="0">
              <a:buNone/>
            </a:pPr>
            <a:r>
              <a:rPr lang="en-US" sz="3800" b="1" dirty="0">
                <a:solidFill>
                  <a:srgbClr val="17382F"/>
                </a:solidFill>
                <a:latin typeface="Arial" pitchFamily="34" charset="0"/>
                <a:ea typeface="Arial" pitchFamily="34" charset="-122"/>
                <a:cs typeface="Arial" pitchFamily="34" charset="-120"/>
              </a:rPr>
              <a:t>Assess the pressure.</a:t>
            </a:r>
            <a:endParaRPr lang="en-US" sz="3800" dirty="0"/>
          </a:p>
        </p:txBody>
      </p:sp>
      <p:sp>
        <p:nvSpPr>
          <p:cNvPr id="9" name="Shape 6"/>
          <p:cNvSpPr/>
          <p:nvPr/>
        </p:nvSpPr>
        <p:spPr>
          <a:xfrm>
            <a:off x="609600" y="2882900"/>
            <a:ext cx="3454400" cy="2095500"/>
          </a:xfrm>
          <a:prstGeom prst="roundRect">
            <a:avLst>
              <a:gd name="adj" fmla="val 7273"/>
            </a:avLst>
          </a:prstGeom>
          <a:solidFill>
            <a:srgbClr val="FFFFFF"/>
          </a:solidFill>
          <a:ln w="6350">
            <a:solidFill>
              <a:srgbClr val="DCE4D6"/>
            </a:solidFill>
            <a:prstDash val="solid"/>
          </a:ln>
        </p:spPr>
      </p:sp>
      <p:pic>
        <p:nvPicPr>
          <p:cNvPr id="10" name="Image 0" descr="entra-id.svg">    </p:cNvPr>
          <p:cNvPicPr>
            <a:picLocks noChangeAspect="1"/>
          </p:cNvPicPr>
          <p:nvPr/>
        </p:nvPicPr>
        <p:blipFill>
          <a:blip r:embed="rId1"/>
          <a:stretch>
            <a:fillRect/>
          </a:stretch>
        </p:blipFill>
        <p:spPr>
          <a:xfrm>
            <a:off x="825500" y="3117850"/>
            <a:ext cx="444500" cy="444500"/>
          </a:xfrm>
          <a:prstGeom prst="rect">
            <a:avLst/>
          </a:prstGeom>
        </p:spPr>
      </p:pic>
      <p:sp>
        <p:nvSpPr>
          <p:cNvPr id="11" name="Text 7"/>
          <p:cNvSpPr/>
          <p:nvPr/>
        </p:nvSpPr>
        <p:spPr>
          <a:xfrm>
            <a:off x="825500" y="3803650"/>
            <a:ext cx="3022600" cy="296799"/>
          </a:xfrm>
          <a:prstGeom prst="rect">
            <a:avLst/>
          </a:prstGeom>
          <a:noFill/>
          <a:ln/>
        </p:spPr>
        <p:txBody>
          <a:bodyPr wrap="square" lIns="0" tIns="0" rIns="0" bIns="0" rtlCol="0" anchor="t">
            <a:normAutofit/>
          </a:bodyPr>
          <a:lstStyle/>
          <a:p>
            <a:pPr algn="l" indent="0" marL="0">
              <a:buNone/>
            </a:pPr>
            <a:r>
              <a:rPr lang="en-US" sz="1900" b="1" dirty="0">
                <a:solidFill>
                  <a:srgbClr val="17382F"/>
                </a:solidFill>
                <a:latin typeface="Arial" pitchFamily="34" charset="0"/>
                <a:ea typeface="Arial" pitchFamily="34" charset="-122"/>
                <a:cs typeface="Arial" pitchFamily="34" charset="-120"/>
              </a:rPr>
              <a:t>Work identity</a:t>
            </a:r>
            <a:endParaRPr lang="en-US" sz="1900" dirty="0"/>
          </a:p>
        </p:txBody>
      </p:sp>
      <p:sp>
        <p:nvSpPr>
          <p:cNvPr id="12" name="Text 8"/>
          <p:cNvSpPr/>
          <p:nvPr/>
        </p:nvSpPr>
        <p:spPr>
          <a:xfrm>
            <a:off x="825500" y="4330700"/>
            <a:ext cx="3111500" cy="210884"/>
          </a:xfrm>
          <a:prstGeom prst="rect">
            <a:avLst/>
          </a:prstGeom>
          <a:noFill/>
          <a:ln/>
        </p:spPr>
        <p:txBody>
          <a:bodyPr wrap="square" lIns="0" tIns="0" rIns="0" bIns="0" rtlCol="0" anchor="t">
            <a:normAutofit/>
          </a:bodyPr>
          <a:lstStyle/>
          <a:p>
            <a:pPr algn="l" indent="0" marL="0">
              <a:buNone/>
            </a:pPr>
            <a:r>
              <a:rPr lang="en-US" sz="1350" dirty="0">
                <a:solidFill>
                  <a:srgbClr val="566D62"/>
                </a:solidFill>
                <a:latin typeface="Arial" pitchFamily="34" charset="0"/>
                <a:ea typeface="Arial" pitchFamily="34" charset="-122"/>
                <a:cs typeface="Arial" pitchFamily="34" charset="-120"/>
              </a:rPr>
              <a:t>Start with Microsoft Entra ID.</a:t>
            </a:r>
            <a:endParaRPr lang="en-US" sz="1350" dirty="0"/>
          </a:p>
        </p:txBody>
      </p:sp>
      <p:sp>
        <p:nvSpPr>
          <p:cNvPr id="13" name="Shape 9"/>
          <p:cNvSpPr/>
          <p:nvPr/>
        </p:nvSpPr>
        <p:spPr>
          <a:xfrm>
            <a:off x="4368800" y="2882900"/>
            <a:ext cx="3454400" cy="2095500"/>
          </a:xfrm>
          <a:prstGeom prst="roundRect">
            <a:avLst>
              <a:gd name="adj" fmla="val 7273"/>
            </a:avLst>
          </a:prstGeom>
          <a:solidFill>
            <a:srgbClr val="FFFFFF"/>
          </a:solidFill>
          <a:ln w="6350">
            <a:solidFill>
              <a:srgbClr val="DCE4D6"/>
            </a:solidFill>
            <a:prstDash val="solid"/>
          </a:ln>
        </p:spPr>
      </p:sp>
      <p:pic>
        <p:nvPicPr>
          <p:cNvPr id="14" name="Image 1" descr="code.svg">    </p:cNvPr>
          <p:cNvPicPr>
            <a:picLocks noChangeAspect="1"/>
          </p:cNvPicPr>
          <p:nvPr/>
        </p:nvPicPr>
        <p:blipFill>
          <a:blip r:embed="rId2"/>
          <a:stretch>
            <a:fillRect/>
          </a:stretch>
        </p:blipFill>
        <p:spPr>
          <a:xfrm>
            <a:off x="4584700" y="3117850"/>
            <a:ext cx="444500" cy="444500"/>
          </a:xfrm>
          <a:prstGeom prst="rect">
            <a:avLst/>
          </a:prstGeom>
        </p:spPr>
      </p:pic>
      <p:sp>
        <p:nvSpPr>
          <p:cNvPr id="15" name="Text 10"/>
          <p:cNvSpPr/>
          <p:nvPr/>
        </p:nvSpPr>
        <p:spPr>
          <a:xfrm>
            <a:off x="4584700" y="3803650"/>
            <a:ext cx="3022600" cy="296799"/>
          </a:xfrm>
          <a:prstGeom prst="rect">
            <a:avLst/>
          </a:prstGeom>
          <a:noFill/>
          <a:ln/>
        </p:spPr>
        <p:txBody>
          <a:bodyPr wrap="square" lIns="0" tIns="0" rIns="0" bIns="0" rtlCol="0" anchor="t">
            <a:normAutofit/>
          </a:bodyPr>
          <a:lstStyle/>
          <a:p>
            <a:pPr algn="l" indent="0" marL="0">
              <a:buNone/>
            </a:pPr>
            <a:r>
              <a:rPr lang="en-US" sz="1900" b="1" dirty="0">
                <a:solidFill>
                  <a:srgbClr val="17382F"/>
                </a:solidFill>
                <a:latin typeface="Arial" pitchFamily="34" charset="0"/>
                <a:ea typeface="Arial" pitchFamily="34" charset="-122"/>
                <a:cs typeface="Arial" pitchFamily="34" charset="-120"/>
              </a:rPr>
              <a:t>Available context</a:t>
            </a:r>
            <a:endParaRPr lang="en-US" sz="1900" dirty="0"/>
          </a:p>
        </p:txBody>
      </p:sp>
      <p:sp>
        <p:nvSpPr>
          <p:cNvPr id="16" name="Text 11"/>
          <p:cNvSpPr/>
          <p:nvPr/>
        </p:nvSpPr>
        <p:spPr>
          <a:xfrm>
            <a:off x="4584700" y="4330700"/>
            <a:ext cx="3111500" cy="210884"/>
          </a:xfrm>
          <a:prstGeom prst="rect">
            <a:avLst/>
          </a:prstGeom>
          <a:noFill/>
          <a:ln/>
        </p:spPr>
        <p:txBody>
          <a:bodyPr wrap="square" lIns="0" tIns="0" rIns="0" bIns="0" rtlCol="0" anchor="t">
            <a:normAutofit/>
          </a:bodyPr>
          <a:lstStyle/>
          <a:p>
            <a:pPr algn="l" indent="0" marL="0">
              <a:buNone/>
            </a:pPr>
            <a:r>
              <a:rPr lang="en-US" sz="1350" dirty="0">
                <a:solidFill>
                  <a:srgbClr val="566D62"/>
                </a:solidFill>
                <a:latin typeface="Arial" pitchFamily="34" charset="0"/>
                <a:ea typeface="Arial" pitchFamily="34" charset="-122"/>
                <a:cs typeface="Arial" pitchFamily="34" charset="-120"/>
              </a:rPr>
              <a:t>Ask about recent activity.</a:t>
            </a:r>
            <a:endParaRPr lang="en-US" sz="1350" dirty="0"/>
          </a:p>
        </p:txBody>
      </p:sp>
      <p:sp>
        <p:nvSpPr>
          <p:cNvPr id="17" name="Shape 12"/>
          <p:cNvSpPr/>
          <p:nvPr/>
        </p:nvSpPr>
        <p:spPr>
          <a:xfrm>
            <a:off x="8128000" y="2882900"/>
            <a:ext cx="3454400" cy="2095500"/>
          </a:xfrm>
          <a:prstGeom prst="roundRect">
            <a:avLst>
              <a:gd name="adj" fmla="val 7273"/>
            </a:avLst>
          </a:prstGeom>
          <a:solidFill>
            <a:srgbClr val="FFFFFF"/>
          </a:solidFill>
          <a:ln w="6350">
            <a:solidFill>
              <a:srgbClr val="DCE4D6"/>
            </a:solidFill>
            <a:prstDash val="solid"/>
          </a:ln>
        </p:spPr>
      </p:sp>
      <p:pic>
        <p:nvPicPr>
          <p:cNvPr id="18" name="Image 2" descr="openai.svg">    </p:cNvPr>
          <p:cNvPicPr>
            <a:picLocks noChangeAspect="1"/>
          </p:cNvPicPr>
          <p:nvPr/>
        </p:nvPicPr>
        <p:blipFill>
          <a:blip r:embed="rId3"/>
          <a:stretch>
            <a:fillRect/>
          </a:stretch>
        </p:blipFill>
        <p:spPr>
          <a:xfrm>
            <a:off x="8343900" y="3117850"/>
            <a:ext cx="444500" cy="444500"/>
          </a:xfrm>
          <a:prstGeom prst="rect">
            <a:avLst/>
          </a:prstGeom>
        </p:spPr>
      </p:pic>
      <p:sp>
        <p:nvSpPr>
          <p:cNvPr id="19" name="Text 13"/>
          <p:cNvSpPr/>
          <p:nvPr/>
        </p:nvSpPr>
        <p:spPr>
          <a:xfrm>
            <a:off x="8343900" y="3803650"/>
            <a:ext cx="3022600" cy="296799"/>
          </a:xfrm>
          <a:prstGeom prst="rect">
            <a:avLst/>
          </a:prstGeom>
          <a:noFill/>
          <a:ln/>
        </p:spPr>
        <p:txBody>
          <a:bodyPr wrap="square" lIns="0" tIns="0" rIns="0" bIns="0" rtlCol="0" anchor="t">
            <a:normAutofit/>
          </a:bodyPr>
          <a:lstStyle/>
          <a:p>
            <a:pPr algn="l" indent="0" marL="0">
              <a:buNone/>
            </a:pPr>
            <a:r>
              <a:rPr lang="en-US" sz="1900" b="1" dirty="0">
                <a:solidFill>
                  <a:srgbClr val="17382F"/>
                </a:solidFill>
                <a:latin typeface="Arial" pitchFamily="34" charset="0"/>
                <a:ea typeface="Arial" pitchFamily="34" charset="-122"/>
                <a:cs typeface="Arial" pitchFamily="34" charset="-120"/>
              </a:rPr>
              <a:t>Conversation evidence</a:t>
            </a:r>
            <a:endParaRPr lang="en-US" sz="1900" dirty="0"/>
          </a:p>
        </p:txBody>
      </p:sp>
      <p:sp>
        <p:nvSpPr>
          <p:cNvPr id="20" name="Text 14"/>
          <p:cNvSpPr/>
          <p:nvPr/>
        </p:nvSpPr>
        <p:spPr>
          <a:xfrm>
            <a:off x="8343900" y="4330700"/>
            <a:ext cx="3111500" cy="210884"/>
          </a:xfrm>
          <a:prstGeom prst="rect">
            <a:avLst/>
          </a:prstGeom>
          <a:noFill/>
          <a:ln/>
        </p:spPr>
        <p:txBody>
          <a:bodyPr wrap="square" lIns="0" tIns="0" rIns="0" bIns="0" rtlCol="0" anchor="t">
            <a:normAutofit/>
          </a:bodyPr>
          <a:lstStyle/>
          <a:p>
            <a:pPr algn="l" indent="0" marL="0">
              <a:buNone/>
            </a:pPr>
            <a:r>
              <a:rPr lang="en-US" sz="1350" dirty="0">
                <a:solidFill>
                  <a:srgbClr val="566D62"/>
                </a:solidFill>
                <a:latin typeface="Arial" pitchFamily="34" charset="0"/>
                <a:ea typeface="Arial" pitchFamily="34" charset="-122"/>
                <a:cs typeface="Arial" pitchFamily="34" charset="-120"/>
              </a:rPr>
              <a:t>Assess signs of coaching.</a:t>
            </a:r>
            <a:endParaRPr lang="en-US" sz="1350" dirty="0"/>
          </a:p>
        </p:txBody>
      </p:sp>
      <p:sp>
        <p:nvSpPr>
          <p:cNvPr id="21" name="Shape 15"/>
          <p:cNvSpPr/>
          <p:nvPr/>
        </p:nvSpPr>
        <p:spPr>
          <a:xfrm>
            <a:off x="609600" y="5410200"/>
            <a:ext cx="10972800" cy="469900"/>
          </a:xfrm>
          <a:prstGeom prst="rect">
            <a:avLst/>
          </a:prstGeom>
          <a:solidFill>
            <a:srgbClr val="17382F"/>
          </a:solidFill>
          <a:ln w="6350">
            <a:solidFill>
              <a:srgbClr val="17382F"/>
            </a:solidFill>
            <a:prstDash val="solid"/>
          </a:ln>
        </p:spPr>
      </p:sp>
      <p:sp>
        <p:nvSpPr>
          <p:cNvPr id="22" name="Text 16"/>
          <p:cNvSpPr/>
          <p:nvPr/>
        </p:nvSpPr>
        <p:spPr>
          <a:xfrm>
            <a:off x="825500" y="5524500"/>
            <a:ext cx="10541000" cy="265557"/>
          </a:xfrm>
          <a:prstGeom prst="rect">
            <a:avLst/>
          </a:prstGeom>
          <a:noFill/>
          <a:ln/>
        </p:spPr>
        <p:txBody>
          <a:bodyPr wrap="square" lIns="0" tIns="0" rIns="0" bIns="0" rtlCol="0" anchor="t">
            <a:normAutofit/>
          </a:bodyPr>
          <a:lstStyle/>
          <a:p>
            <a:pPr algn="l" indent="0" marL="0">
              <a:buNone/>
            </a:pPr>
            <a:r>
              <a:rPr lang="en-US" sz="1700" b="1" dirty="0">
                <a:solidFill>
                  <a:srgbClr val="FFFFFF"/>
                </a:solidFill>
                <a:latin typeface="Arial" pitchFamily="34" charset="0"/>
                <a:ea typeface="Arial" pitchFamily="34" charset="-122"/>
                <a:cs typeface="Arial" pitchFamily="34" charset="-120"/>
              </a:rPr>
              <a:t>AI supplies evidence. Code controls the outcome.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0"/>
        </a:solidFill>
      </p:bgPr>
    </p:bg>
    <p:spTree>
      <p:nvGrpSpPr>
        <p:cNvPr id="1" name=""/>
        <p:cNvGrpSpPr/>
        <p:nvPr/>
      </p:nvGrpSpPr>
      <p:grpSpPr>
        <a:xfrm>
          <a:off x="0" y="0"/>
          <a:ext cx="0" cy="0"/>
          <a:chOff x="0" y="0"/>
          <a:chExt cx="0" cy="0"/>
        </a:xfrm>
      </p:grpSpPr>
      <p:sp>
        <p:nvSpPr>
          <p:cNvPr id="2" name="Text 0"/>
          <p:cNvSpPr/>
          <p:nvPr/>
        </p:nvSpPr>
        <p:spPr>
          <a:xfrm>
            <a:off x="609600" y="330200"/>
            <a:ext cx="4445000" cy="195263"/>
          </a:xfrm>
          <a:prstGeom prst="rect">
            <a:avLst/>
          </a:prstGeom>
          <a:noFill/>
          <a:ln/>
        </p:spPr>
        <p:txBody>
          <a:bodyPr wrap="square" lIns="0" tIns="0" rIns="0" bIns="0" rtlCol="0" anchor="t">
            <a:normAutofit/>
          </a:bodyPr>
          <a:lstStyle/>
          <a:p>
            <a:pPr algn="l" indent="0" marL="0">
              <a:buNone/>
            </a:pPr>
            <a:r>
              <a:rPr lang="en-US" sz="1250" b="1" dirty="0">
                <a:solidFill>
                  <a:srgbClr val="17382F"/>
                </a:solidFill>
                <a:latin typeface="Arial" pitchFamily="34" charset="0"/>
                <a:ea typeface="Arial" pitchFamily="34" charset="-122"/>
                <a:cs typeface="Arial" pitchFamily="34" charset="-120"/>
              </a:rPr>
              <a:t>ENTRAGUARD</a:t>
            </a:r>
            <a:endParaRPr lang="en-US" sz="1250" dirty="0"/>
          </a:p>
        </p:txBody>
      </p:sp>
      <p:sp>
        <p:nvSpPr>
          <p:cNvPr id="3" name="Text 1"/>
          <p:cNvSpPr/>
          <p:nvPr/>
        </p:nvSpPr>
        <p:spPr>
          <a:xfrm>
            <a:off x="7874000" y="349250"/>
            <a:ext cx="3683000" cy="148400"/>
          </a:xfrm>
          <a:prstGeom prst="rect">
            <a:avLst/>
          </a:prstGeom>
          <a:noFill/>
          <a:ln/>
        </p:spPr>
        <p:txBody>
          <a:bodyPr wrap="square" lIns="0" tIns="0" rIns="0" bIns="0" rtlCol="0" anchor="t">
            <a:normAutofit/>
          </a:bodyPr>
          <a:lstStyle/>
          <a:p>
            <a:pPr algn="r" indent="0" marL="0">
              <a:buNone/>
            </a:pPr>
            <a:r>
              <a:rPr lang="en-US" sz="950" dirty="0">
                <a:solidFill>
                  <a:srgbClr val="566D62"/>
                </a:solidFill>
                <a:latin typeface="Arial" pitchFamily="34" charset="0"/>
                <a:ea typeface="Arial" pitchFamily="34" charset="-122"/>
                <a:cs typeface="Arial" pitchFamily="34" charset="-120"/>
              </a:rPr>
              <a:t>18–48s  /  HACKATHON FILM</a:t>
            </a:r>
            <a:endParaRPr lang="en-US" sz="950" dirty="0"/>
          </a:p>
        </p:txBody>
      </p:sp>
      <p:sp>
        <p:nvSpPr>
          <p:cNvPr id="4" name="Shape 2"/>
          <p:cNvSpPr/>
          <p:nvPr/>
        </p:nvSpPr>
        <p:spPr>
          <a:xfrm>
            <a:off x="609600" y="6400800"/>
            <a:ext cx="10972800" cy="0"/>
          </a:xfrm>
          <a:prstGeom prst="line">
            <a:avLst/>
          </a:prstGeom>
          <a:noFill/>
          <a:ln w="19050">
            <a:solidFill>
              <a:srgbClr val="DCE4D6"/>
            </a:solidFill>
            <a:prstDash val="solid"/>
            <a:tailEnd type="none"/>
          </a:ln>
        </p:spPr>
      </p:sp>
      <p:sp>
        <p:nvSpPr>
          <p:cNvPr id="5" name="Text 3"/>
          <p:cNvSpPr/>
          <p:nvPr/>
        </p:nvSpPr>
        <p:spPr>
          <a:xfrm>
            <a:off x="609600" y="6540500"/>
            <a:ext cx="7620000" cy="132779"/>
          </a:xfrm>
          <a:prstGeom prst="rect">
            <a:avLst/>
          </a:prstGeom>
          <a:noFill/>
          <a:ln/>
        </p:spPr>
        <p:txBody>
          <a:bodyPr wrap="square" lIns="0" tIns="0" rIns="0" bIns="0" rtlCol="0" anchor="t">
            <a:normAutofit/>
          </a:bodyPr>
          <a:lstStyle/>
          <a:p>
            <a:pPr algn="l" indent="0" marL="0">
              <a:buNone/>
            </a:pPr>
            <a:r>
              <a:rPr lang="en-US" sz="850" dirty="0">
                <a:solidFill>
                  <a:srgbClr val="566D62"/>
                </a:solidFill>
                <a:latin typeface="Arial" pitchFamily="34" charset="0"/>
                <a:ea typeface="Arial" pitchFamily="34" charset="-122"/>
                <a:cs typeface="Arial" pitchFamily="34" charset="-120"/>
              </a:rPr>
              <a:t>MICROSOFT GARAGE HACKATHON</a:t>
            </a:r>
            <a:endParaRPr lang="en-US" sz="850" dirty="0"/>
          </a:p>
        </p:txBody>
      </p:sp>
      <p:sp>
        <p:nvSpPr>
          <p:cNvPr id="6" name="Text 4"/>
          <p:cNvSpPr/>
          <p:nvPr/>
        </p:nvSpPr>
        <p:spPr>
          <a:xfrm>
            <a:off x="10604500" y="6540500"/>
            <a:ext cx="977900" cy="132779"/>
          </a:xfrm>
          <a:prstGeom prst="rect">
            <a:avLst/>
          </a:prstGeom>
          <a:noFill/>
          <a:ln/>
        </p:spPr>
        <p:txBody>
          <a:bodyPr wrap="square" lIns="0" tIns="0" rIns="0" bIns="0" rtlCol="0" anchor="t">
            <a:normAutofit/>
          </a:bodyPr>
          <a:lstStyle/>
          <a:p>
            <a:pPr algn="r" indent="0" marL="0">
              <a:buNone/>
            </a:pPr>
            <a:r>
              <a:rPr lang="en-US" sz="850" dirty="0">
                <a:solidFill>
                  <a:srgbClr val="566D62"/>
                </a:solidFill>
                <a:latin typeface="Arial" pitchFamily="34" charset="0"/>
                <a:ea typeface="Arial" pitchFamily="34" charset="-122"/>
                <a:cs typeface="Arial" pitchFamily="34" charset="-120"/>
              </a:rPr>
              <a:t>03 / 06</a:t>
            </a:r>
            <a:endParaRPr lang="en-US" sz="850" dirty="0"/>
          </a:p>
        </p:txBody>
      </p:sp>
      <p:sp>
        <p:nvSpPr>
          <p:cNvPr id="8" name="Text 5"/>
          <p:cNvSpPr/>
          <p:nvPr/>
        </p:nvSpPr>
        <p:spPr>
          <a:xfrm>
            <a:off x="609600" y="984250"/>
            <a:ext cx="11049000" cy="476440"/>
          </a:xfrm>
          <a:prstGeom prst="rect">
            <a:avLst/>
          </a:prstGeom>
          <a:noFill/>
          <a:ln/>
        </p:spPr>
        <p:txBody>
          <a:bodyPr wrap="square" lIns="0" tIns="0" rIns="0" bIns="0" rtlCol="0" anchor="t">
            <a:normAutofit/>
          </a:bodyPr>
          <a:lstStyle/>
          <a:p>
            <a:pPr algn="l" indent="0" marL="0">
              <a:buNone/>
            </a:pPr>
            <a:r>
              <a:rPr lang="en-US" sz="3050" b="1" dirty="0">
                <a:solidFill>
                  <a:srgbClr val="17382F"/>
                </a:solidFill>
                <a:latin typeface="Arial" pitchFamily="34" charset="0"/>
                <a:ea typeface="Arial" pitchFamily="34" charset="-122"/>
                <a:cs typeface="Arial" pitchFamily="34" charset="-120"/>
              </a:rPr>
              <a:t>A familiar sign-in. A richer verification.</a:t>
            </a:r>
            <a:endParaRPr lang="en-US" sz="3050" dirty="0"/>
          </a:p>
        </p:txBody>
      </p:sp>
      <p:sp>
        <p:nvSpPr>
          <p:cNvPr id="9" name="Shape 6"/>
          <p:cNvSpPr/>
          <p:nvPr/>
        </p:nvSpPr>
        <p:spPr>
          <a:xfrm>
            <a:off x="609600" y="1638300"/>
            <a:ext cx="3365500" cy="266700"/>
          </a:xfrm>
          <a:prstGeom prst="roundRect">
            <a:avLst>
              <a:gd name="adj" fmla="val 19048"/>
            </a:avLst>
          </a:prstGeom>
          <a:solidFill>
            <a:srgbClr val="17382F"/>
          </a:solidFill>
          <a:ln w="6350">
            <a:solidFill>
              <a:srgbClr val="17382F"/>
            </a:solidFill>
            <a:prstDash val="solid"/>
          </a:ln>
        </p:spPr>
      </p:sp>
      <p:sp>
        <p:nvSpPr>
          <p:cNvPr id="10" name="Text 7"/>
          <p:cNvSpPr/>
          <p:nvPr/>
        </p:nvSpPr>
        <p:spPr>
          <a:xfrm>
            <a:off x="685800" y="1695450"/>
            <a:ext cx="3213100" cy="148400"/>
          </a:xfrm>
          <a:prstGeom prst="rect">
            <a:avLst/>
          </a:prstGeom>
          <a:noFill/>
          <a:ln/>
        </p:spPr>
        <p:txBody>
          <a:bodyPr wrap="square" lIns="0" tIns="0" rIns="0" bIns="0" rtlCol="0" anchor="t">
            <a:normAutofit/>
          </a:bodyPr>
          <a:lstStyle/>
          <a:p>
            <a:pPr algn="l" indent="0" marL="0">
              <a:buNone/>
            </a:pPr>
            <a:r>
              <a:rPr lang="en-US" sz="950" b="1" dirty="0">
                <a:solidFill>
                  <a:srgbClr val="FFFFFF"/>
                </a:solidFill>
                <a:latin typeface="Arial" pitchFamily="34" charset="0"/>
                <a:ea typeface="Arial" pitchFamily="34" charset="-122"/>
                <a:cs typeface="Arial" pitchFamily="34" charset="-120"/>
              </a:rPr>
              <a:t>DEMO INSERT  /  00:18–00:48</a:t>
            </a:r>
            <a:endParaRPr lang="en-US" sz="950" dirty="0"/>
          </a:p>
        </p:txBody>
      </p:sp>
      <p:sp>
        <p:nvSpPr>
          <p:cNvPr id="11" name="Shape 8"/>
          <p:cNvSpPr/>
          <p:nvPr/>
        </p:nvSpPr>
        <p:spPr>
          <a:xfrm>
            <a:off x="609600" y="2095500"/>
            <a:ext cx="7874000" cy="4191000"/>
          </a:xfrm>
          <a:prstGeom prst="roundRect">
            <a:avLst>
              <a:gd name="adj" fmla="val 1212"/>
            </a:avLst>
          </a:prstGeom>
          <a:solidFill>
            <a:srgbClr val="FFFFFF"/>
          </a:solidFill>
          <a:ln w="6350">
            <a:solidFill>
              <a:srgbClr val="DCE4D6"/>
            </a:solidFill>
            <a:prstDash val="solid"/>
          </a:ln>
        </p:spPr>
      </p:sp>
      <p:pic>
        <p:nvPicPr>
          <p:cNvPr id="12" name="Image 0" descr="treasury-workspace.png">    </p:cNvPr>
          <p:cNvPicPr>
            <a:picLocks noChangeAspect="1"/>
          </p:cNvPicPr>
          <p:nvPr/>
        </p:nvPicPr>
        <p:blipFill>
          <a:blip r:embed="rId1"/>
          <a:stretch>
            <a:fillRect/>
          </a:stretch>
        </p:blipFill>
        <p:spPr>
          <a:xfrm>
            <a:off x="660400" y="2146300"/>
            <a:ext cx="7772400" cy="4127500"/>
          </a:xfrm>
          <a:prstGeom prst="rect">
            <a:avLst/>
          </a:prstGeom>
        </p:spPr>
      </p:pic>
      <p:sp>
        <p:nvSpPr>
          <p:cNvPr id="13" name="Shape 9"/>
          <p:cNvSpPr/>
          <p:nvPr/>
        </p:nvSpPr>
        <p:spPr>
          <a:xfrm>
            <a:off x="8826500" y="2095500"/>
            <a:ext cx="2755900" cy="3619500"/>
          </a:xfrm>
          <a:prstGeom prst="roundRect">
            <a:avLst>
              <a:gd name="adj" fmla="val 4608"/>
            </a:avLst>
          </a:prstGeom>
          <a:solidFill>
            <a:srgbClr val="17382F"/>
          </a:solidFill>
          <a:ln w="6350">
            <a:solidFill>
              <a:srgbClr val="17382F"/>
            </a:solidFill>
            <a:prstDash val="solid"/>
          </a:ln>
        </p:spPr>
      </p:sp>
      <p:sp>
        <p:nvSpPr>
          <p:cNvPr id="14" name="Text 10"/>
          <p:cNvSpPr/>
          <p:nvPr/>
        </p:nvSpPr>
        <p:spPr>
          <a:xfrm>
            <a:off x="9017000" y="2368550"/>
            <a:ext cx="2374900" cy="171831"/>
          </a:xfrm>
          <a:prstGeom prst="rect">
            <a:avLst/>
          </a:prstGeom>
          <a:noFill/>
          <a:ln/>
        </p:spPr>
        <p:txBody>
          <a:bodyPr wrap="square" lIns="0" tIns="0" rIns="0" bIns="0" rtlCol="0" anchor="t">
            <a:normAutofit/>
          </a:bodyPr>
          <a:lstStyle/>
          <a:p>
            <a:pPr algn="l" indent="0" marL="0">
              <a:buNone/>
            </a:pPr>
            <a:r>
              <a:rPr lang="en-US" sz="1100" b="1" dirty="0">
                <a:solidFill>
                  <a:srgbClr val="D5EDAE"/>
                </a:solidFill>
                <a:latin typeface="Arial" pitchFamily="34" charset="0"/>
                <a:ea typeface="Arial" pitchFamily="34" charset="-122"/>
                <a:cs typeface="Arial" pitchFamily="34" charset="-120"/>
              </a:rPr>
              <a:t>RECORD THESE MOMENTS</a:t>
            </a:r>
            <a:endParaRPr lang="en-US" sz="1100" dirty="0"/>
          </a:p>
        </p:txBody>
      </p:sp>
      <p:sp>
        <p:nvSpPr>
          <p:cNvPr id="15" name="Text 11"/>
          <p:cNvSpPr/>
          <p:nvPr/>
        </p:nvSpPr>
        <p:spPr>
          <a:xfrm>
            <a:off x="9017000" y="2908300"/>
            <a:ext cx="2413000" cy="195263"/>
          </a:xfrm>
          <a:prstGeom prst="rect">
            <a:avLst/>
          </a:prstGeom>
          <a:noFill/>
          <a:ln/>
        </p:spPr>
        <p:txBody>
          <a:bodyPr wrap="square" lIns="0" tIns="0" rIns="0" bIns="0" rtlCol="0" anchor="t">
            <a:normAutofit/>
          </a:bodyPr>
          <a:lstStyle/>
          <a:p>
            <a:pPr algn="l" indent="0" marL="0">
              <a:buNone/>
            </a:pPr>
            <a:r>
              <a:rPr lang="en-US" sz="1250" b="1" dirty="0">
                <a:solidFill>
                  <a:srgbClr val="FFFFFF"/>
                </a:solidFill>
                <a:latin typeface="Arial" pitchFamily="34" charset="0"/>
                <a:ea typeface="Arial" pitchFamily="34" charset="-122"/>
                <a:cs typeface="Arial" pitchFamily="34" charset="-120"/>
              </a:rPr>
              <a:t>01  Work-account sign-in</a:t>
            </a:r>
            <a:endParaRPr lang="en-US" sz="1250" dirty="0"/>
          </a:p>
        </p:txBody>
      </p:sp>
      <p:sp>
        <p:nvSpPr>
          <p:cNvPr id="16" name="Text 12"/>
          <p:cNvSpPr/>
          <p:nvPr/>
        </p:nvSpPr>
        <p:spPr>
          <a:xfrm>
            <a:off x="9017000" y="3460750"/>
            <a:ext cx="2413000" cy="195263"/>
          </a:xfrm>
          <a:prstGeom prst="rect">
            <a:avLst/>
          </a:prstGeom>
          <a:noFill/>
          <a:ln/>
        </p:spPr>
        <p:txBody>
          <a:bodyPr wrap="square" lIns="0" tIns="0" rIns="0" bIns="0" rtlCol="0" anchor="t">
            <a:normAutofit/>
          </a:bodyPr>
          <a:lstStyle/>
          <a:p>
            <a:pPr algn="l" indent="0" marL="0">
              <a:buNone/>
            </a:pPr>
            <a:r>
              <a:rPr lang="en-US" sz="1250" b="1" dirty="0">
                <a:solidFill>
                  <a:srgbClr val="FFFFFF"/>
                </a:solidFill>
                <a:latin typeface="Arial" pitchFamily="34" charset="0"/>
                <a:ea typeface="Arial" pitchFamily="34" charset="-122"/>
                <a:cs typeface="Arial" pitchFamily="34" charset="-120"/>
              </a:rPr>
              <a:t>02  Match the number</a:t>
            </a:r>
            <a:endParaRPr lang="en-US" sz="1250" dirty="0"/>
          </a:p>
        </p:txBody>
      </p:sp>
      <p:sp>
        <p:nvSpPr>
          <p:cNvPr id="17" name="Text 13"/>
          <p:cNvSpPr/>
          <p:nvPr/>
        </p:nvSpPr>
        <p:spPr>
          <a:xfrm>
            <a:off x="9017000" y="4013200"/>
            <a:ext cx="2413000" cy="195263"/>
          </a:xfrm>
          <a:prstGeom prst="rect">
            <a:avLst/>
          </a:prstGeom>
          <a:noFill/>
          <a:ln/>
        </p:spPr>
        <p:txBody>
          <a:bodyPr wrap="square" lIns="0" tIns="0" rIns="0" bIns="0" rtlCol="0" anchor="t">
            <a:normAutofit/>
          </a:bodyPr>
          <a:lstStyle/>
          <a:p>
            <a:pPr algn="l" indent="0" marL="0">
              <a:buNone/>
            </a:pPr>
            <a:r>
              <a:rPr lang="en-US" sz="1250" b="1" dirty="0">
                <a:solidFill>
                  <a:srgbClr val="FFFFFF"/>
                </a:solidFill>
                <a:latin typeface="Arial" pitchFamily="34" charset="0"/>
                <a:ea typeface="Arial" pitchFamily="34" charset="-122"/>
                <a:cs typeface="Arial" pitchFamily="34" charset="-120"/>
              </a:rPr>
              <a:t>03  One contextual question</a:t>
            </a:r>
            <a:endParaRPr lang="en-US" sz="1250" dirty="0"/>
          </a:p>
        </p:txBody>
      </p:sp>
      <p:sp>
        <p:nvSpPr>
          <p:cNvPr id="18" name="Text 14"/>
          <p:cNvSpPr/>
          <p:nvPr/>
        </p:nvSpPr>
        <p:spPr>
          <a:xfrm>
            <a:off x="9017000" y="4565650"/>
            <a:ext cx="2413000" cy="195263"/>
          </a:xfrm>
          <a:prstGeom prst="rect">
            <a:avLst/>
          </a:prstGeom>
          <a:noFill/>
          <a:ln/>
        </p:spPr>
        <p:txBody>
          <a:bodyPr wrap="square" lIns="0" tIns="0" rIns="0" bIns="0" rtlCol="0" anchor="t">
            <a:normAutofit/>
          </a:bodyPr>
          <a:lstStyle/>
          <a:p>
            <a:pPr algn="l" indent="0" marL="0">
              <a:buNone/>
            </a:pPr>
            <a:r>
              <a:rPr lang="en-US" sz="1250" b="1" dirty="0">
                <a:solidFill>
                  <a:srgbClr val="FFFFFF"/>
                </a:solidFill>
                <a:latin typeface="Arial" pitchFamily="34" charset="0"/>
                <a:ea typeface="Arial" pitchFamily="34" charset="-122"/>
                <a:cs typeface="Arial" pitchFamily="34" charset="-120"/>
              </a:rPr>
              <a:t>04  Result + server grant</a:t>
            </a:r>
            <a:endParaRPr lang="en-US" sz="1250" dirty="0"/>
          </a:p>
        </p:txBody>
      </p:sp>
      <p:sp>
        <p:nvSpPr>
          <p:cNvPr id="19" name="Text 15"/>
          <p:cNvSpPr/>
          <p:nvPr/>
        </p:nvSpPr>
        <p:spPr>
          <a:xfrm>
            <a:off x="8839200" y="5854700"/>
            <a:ext cx="2730500" cy="359283"/>
          </a:xfrm>
          <a:prstGeom prst="rect">
            <a:avLst/>
          </a:prstGeom>
          <a:noFill/>
          <a:ln/>
        </p:spPr>
        <p:txBody>
          <a:bodyPr wrap="square" lIns="0" tIns="0" rIns="0" bIns="0" rtlCol="0" anchor="t">
            <a:normAutofit/>
          </a:bodyPr>
          <a:lstStyle/>
          <a:p>
            <a:pPr algn="l" indent="0" marL="0">
              <a:buNone/>
            </a:pPr>
            <a:r>
              <a:rPr lang="en-US" sz="1150" dirty="0">
                <a:solidFill>
                  <a:srgbClr val="566D62"/>
                </a:solidFill>
                <a:latin typeface="Arial" pitchFamily="34" charset="0"/>
                <a:ea typeface="Arial" pitchFamily="34" charset="-122"/>
                <a:cs typeface="Arial" pitchFamily="34" charset="-120"/>
              </a:rPr>
              <a:t>Reference screenshot.</a:t>
            </a:r>
            <a:endParaRPr lang="en-US" sz="1150" dirty="0"/>
          </a:p>
          <a:p>
            <a:pPr algn="l" indent="0" marL="0">
              <a:buNone/>
            </a:pPr>
            <a:r>
              <a:rPr lang="en-US" sz="1150" dirty="0">
                <a:solidFill>
                  <a:srgbClr val="566D62"/>
                </a:solidFill>
                <a:latin typeface="Arial" pitchFamily="34" charset="0"/>
                <a:ea typeface="Arial" pitchFamily="34" charset="-122"/>
                <a:cs typeface="Arial" pitchFamily="34" charset="-120"/>
              </a:rPr>
              <a:t>Replace with actual footage.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252D"/>
        </a:solidFill>
      </p:bgPr>
    </p:bg>
    <p:spTree>
      <p:nvGrpSpPr>
        <p:cNvPr id="1" name=""/>
        <p:cNvGrpSpPr/>
        <p:nvPr/>
      </p:nvGrpSpPr>
      <p:grpSpPr>
        <a:xfrm>
          <a:off x="0" y="0"/>
          <a:ext cx="0" cy="0"/>
          <a:chOff x="0" y="0"/>
          <a:chExt cx="0" cy="0"/>
        </a:xfrm>
      </p:grpSpPr>
      <p:sp>
        <p:nvSpPr>
          <p:cNvPr id="2" name="Text 0"/>
          <p:cNvSpPr/>
          <p:nvPr/>
        </p:nvSpPr>
        <p:spPr>
          <a:xfrm>
            <a:off x="609600" y="330200"/>
            <a:ext cx="4445000" cy="195263"/>
          </a:xfrm>
          <a:prstGeom prst="rect">
            <a:avLst/>
          </a:prstGeom>
          <a:noFill/>
          <a:ln/>
        </p:spPr>
        <p:txBody>
          <a:bodyPr wrap="square" lIns="0" tIns="0" rIns="0" bIns="0" rtlCol="0" anchor="t">
            <a:normAutofit/>
          </a:bodyPr>
          <a:lstStyle/>
          <a:p>
            <a:pPr algn="l" indent="0" marL="0">
              <a:buNone/>
            </a:pPr>
            <a:r>
              <a:rPr lang="en-US" sz="1250" b="1" dirty="0">
                <a:solidFill>
                  <a:srgbClr val="D5EDAE"/>
                </a:solidFill>
                <a:latin typeface="Arial" pitchFamily="34" charset="0"/>
                <a:ea typeface="Arial" pitchFamily="34" charset="-122"/>
                <a:cs typeface="Arial" pitchFamily="34" charset="-120"/>
              </a:rPr>
              <a:t>ENTRAGUARD</a:t>
            </a:r>
            <a:endParaRPr lang="en-US" sz="1250" dirty="0"/>
          </a:p>
        </p:txBody>
      </p:sp>
      <p:sp>
        <p:nvSpPr>
          <p:cNvPr id="3" name="Text 1"/>
          <p:cNvSpPr/>
          <p:nvPr/>
        </p:nvSpPr>
        <p:spPr>
          <a:xfrm>
            <a:off x="7874000" y="349250"/>
            <a:ext cx="3683000" cy="148400"/>
          </a:xfrm>
          <a:prstGeom prst="rect">
            <a:avLst/>
          </a:prstGeom>
          <a:noFill/>
          <a:ln/>
        </p:spPr>
        <p:txBody>
          <a:bodyPr wrap="square" lIns="0" tIns="0" rIns="0" bIns="0" rtlCol="0" anchor="t">
            <a:normAutofit/>
          </a:bodyPr>
          <a:lstStyle/>
          <a:p>
            <a:pPr algn="r" indent="0" marL="0">
              <a:buNone/>
            </a:pPr>
            <a:r>
              <a:rPr lang="en-US" sz="950" dirty="0">
                <a:solidFill>
                  <a:srgbClr val="B4C8BE"/>
                </a:solidFill>
                <a:latin typeface="Arial" pitchFamily="34" charset="0"/>
                <a:ea typeface="Arial" pitchFamily="34" charset="-122"/>
                <a:cs typeface="Arial" pitchFamily="34" charset="-120"/>
              </a:rPr>
              <a:t>48–88s  /  HACKATHON FILM</a:t>
            </a:r>
            <a:endParaRPr lang="en-US" sz="950" dirty="0"/>
          </a:p>
        </p:txBody>
      </p:sp>
      <p:sp>
        <p:nvSpPr>
          <p:cNvPr id="4" name="Shape 2"/>
          <p:cNvSpPr/>
          <p:nvPr/>
        </p:nvSpPr>
        <p:spPr>
          <a:xfrm>
            <a:off x="609600" y="6400800"/>
            <a:ext cx="10972800" cy="0"/>
          </a:xfrm>
          <a:prstGeom prst="line">
            <a:avLst/>
          </a:prstGeom>
          <a:noFill/>
          <a:ln w="19050">
            <a:solidFill>
              <a:srgbClr val="36554E"/>
            </a:solidFill>
            <a:prstDash val="solid"/>
            <a:tailEnd type="none"/>
          </a:ln>
        </p:spPr>
      </p:sp>
      <p:sp>
        <p:nvSpPr>
          <p:cNvPr id="5" name="Text 3"/>
          <p:cNvSpPr/>
          <p:nvPr/>
        </p:nvSpPr>
        <p:spPr>
          <a:xfrm>
            <a:off x="609600" y="6540500"/>
            <a:ext cx="7620000" cy="132779"/>
          </a:xfrm>
          <a:prstGeom prst="rect">
            <a:avLst/>
          </a:prstGeom>
          <a:noFill/>
          <a:ln/>
        </p:spPr>
        <p:txBody>
          <a:bodyPr wrap="square" lIns="0" tIns="0" rIns="0" bIns="0" rtlCol="0" anchor="t">
            <a:normAutofit/>
          </a:bodyPr>
          <a:lstStyle/>
          <a:p>
            <a:pPr algn="l" indent="0" marL="0">
              <a:buNone/>
            </a:pPr>
            <a:r>
              <a:rPr lang="en-US" sz="850" dirty="0">
                <a:solidFill>
                  <a:srgbClr val="B4C8BE"/>
                </a:solidFill>
                <a:latin typeface="Arial" pitchFamily="34" charset="0"/>
                <a:ea typeface="Arial" pitchFamily="34" charset="-122"/>
                <a:cs typeface="Arial" pitchFamily="34" charset="-120"/>
              </a:rPr>
              <a:t>MICROSOFT GARAGE HACKATHON</a:t>
            </a:r>
            <a:endParaRPr lang="en-US" sz="850" dirty="0"/>
          </a:p>
        </p:txBody>
      </p:sp>
      <p:sp>
        <p:nvSpPr>
          <p:cNvPr id="6" name="Text 4"/>
          <p:cNvSpPr/>
          <p:nvPr/>
        </p:nvSpPr>
        <p:spPr>
          <a:xfrm>
            <a:off x="10604500" y="6540500"/>
            <a:ext cx="977900" cy="132779"/>
          </a:xfrm>
          <a:prstGeom prst="rect">
            <a:avLst/>
          </a:prstGeom>
          <a:noFill/>
          <a:ln/>
        </p:spPr>
        <p:txBody>
          <a:bodyPr wrap="square" lIns="0" tIns="0" rIns="0" bIns="0" rtlCol="0" anchor="t">
            <a:normAutofit/>
          </a:bodyPr>
          <a:lstStyle/>
          <a:p>
            <a:pPr algn="r" indent="0" marL="0">
              <a:buNone/>
            </a:pPr>
            <a:r>
              <a:rPr lang="en-US" sz="850" dirty="0">
                <a:solidFill>
                  <a:srgbClr val="B4C8BE"/>
                </a:solidFill>
                <a:latin typeface="Arial" pitchFamily="34" charset="0"/>
                <a:ea typeface="Arial" pitchFamily="34" charset="-122"/>
                <a:cs typeface="Arial" pitchFamily="34" charset="-120"/>
              </a:rPr>
              <a:t>04 / 06</a:t>
            </a:r>
            <a:endParaRPr lang="en-US" sz="850" dirty="0"/>
          </a:p>
        </p:txBody>
      </p:sp>
      <p:sp>
        <p:nvSpPr>
          <p:cNvPr id="8" name="Text 5"/>
          <p:cNvSpPr/>
          <p:nvPr/>
        </p:nvSpPr>
        <p:spPr>
          <a:xfrm>
            <a:off x="609600" y="1060450"/>
            <a:ext cx="10985500" cy="1187196"/>
          </a:xfrm>
          <a:prstGeom prst="rect">
            <a:avLst/>
          </a:prstGeom>
          <a:noFill/>
          <a:ln/>
        </p:spPr>
        <p:txBody>
          <a:bodyPr wrap="square" lIns="0" tIns="0" rIns="0" bIns="0" rtlCol="0" anchor="t">
            <a:normAutofit/>
          </a:bodyPr>
          <a:lstStyle/>
          <a:p>
            <a:pPr algn="l" indent="0" marL="0">
              <a:buNone/>
            </a:pPr>
            <a:r>
              <a:rPr lang="en-US" sz="3800" b="1" dirty="0">
                <a:solidFill>
                  <a:srgbClr val="FFFFFF"/>
                </a:solidFill>
                <a:latin typeface="Arial" pitchFamily="34" charset="0"/>
                <a:ea typeface="Arial" pitchFamily="34" charset="-122"/>
                <a:cs typeface="Arial" pitchFamily="34" charset="-120"/>
              </a:rPr>
              <a:t>Correct digits.</a:t>
            </a:r>
            <a:endParaRPr lang="en-US" sz="3800" dirty="0"/>
          </a:p>
          <a:p>
            <a:pPr algn="l" indent="0" marL="0">
              <a:buNone/>
            </a:pPr>
            <a:r>
              <a:rPr lang="en-US" sz="3800" b="1" dirty="0">
                <a:solidFill>
                  <a:srgbClr val="FFFFFF"/>
                </a:solidFill>
                <a:latin typeface="Arial" pitchFamily="34" charset="0"/>
                <a:ea typeface="Arial" pitchFamily="34" charset="-122"/>
                <a:cs typeface="Arial" pitchFamily="34" charset="-120"/>
              </a:rPr>
              <a:t>Coaching still matters.</a:t>
            </a:r>
            <a:endParaRPr lang="en-US" sz="3800" dirty="0"/>
          </a:p>
        </p:txBody>
      </p:sp>
      <p:sp>
        <p:nvSpPr>
          <p:cNvPr id="9" name="Shape 6"/>
          <p:cNvSpPr/>
          <p:nvPr/>
        </p:nvSpPr>
        <p:spPr>
          <a:xfrm>
            <a:off x="622300" y="2508250"/>
            <a:ext cx="3365500" cy="266700"/>
          </a:xfrm>
          <a:prstGeom prst="roundRect">
            <a:avLst>
              <a:gd name="adj" fmla="val 19048"/>
            </a:avLst>
          </a:prstGeom>
          <a:solidFill>
            <a:srgbClr val="163A3B"/>
          </a:solidFill>
          <a:ln w="6350">
            <a:solidFill>
              <a:srgbClr val="163A3B"/>
            </a:solidFill>
            <a:prstDash val="solid"/>
          </a:ln>
        </p:spPr>
      </p:sp>
      <p:sp>
        <p:nvSpPr>
          <p:cNvPr id="10" name="Text 7"/>
          <p:cNvSpPr/>
          <p:nvPr/>
        </p:nvSpPr>
        <p:spPr>
          <a:xfrm>
            <a:off x="698500" y="2565400"/>
            <a:ext cx="3213100" cy="148400"/>
          </a:xfrm>
          <a:prstGeom prst="rect">
            <a:avLst/>
          </a:prstGeom>
          <a:noFill/>
          <a:ln/>
        </p:spPr>
        <p:txBody>
          <a:bodyPr wrap="square" lIns="0" tIns="0" rIns="0" bIns="0" rtlCol="0" anchor="t">
            <a:normAutofit/>
          </a:bodyPr>
          <a:lstStyle/>
          <a:p>
            <a:pPr algn="l" indent="0" marL="0">
              <a:buNone/>
            </a:pPr>
            <a:r>
              <a:rPr lang="en-US" sz="950" b="1" dirty="0">
                <a:solidFill>
                  <a:srgbClr val="D5EDAE"/>
                </a:solidFill>
                <a:latin typeface="Arial" pitchFamily="34" charset="0"/>
                <a:ea typeface="Arial" pitchFamily="34" charset="-122"/>
                <a:cs typeface="Arial" pitchFamily="34" charset="-120"/>
              </a:rPr>
              <a:t>DEMO INSERT  /  00:48–01:28</a:t>
            </a:r>
            <a:endParaRPr lang="en-US" sz="950" dirty="0"/>
          </a:p>
        </p:txBody>
      </p:sp>
      <p:sp>
        <p:nvSpPr>
          <p:cNvPr id="11" name="Shape 8"/>
          <p:cNvSpPr/>
          <p:nvPr/>
        </p:nvSpPr>
        <p:spPr>
          <a:xfrm>
            <a:off x="609600" y="3079750"/>
            <a:ext cx="3454400" cy="1866900"/>
          </a:xfrm>
          <a:prstGeom prst="roundRect">
            <a:avLst>
              <a:gd name="adj" fmla="val 7483"/>
            </a:avLst>
          </a:prstGeom>
          <a:solidFill>
            <a:srgbClr val="163A3B"/>
          </a:solidFill>
          <a:ln w="6350">
            <a:solidFill>
              <a:srgbClr val="36554E"/>
            </a:solidFill>
            <a:prstDash val="solid"/>
          </a:ln>
        </p:spPr>
      </p:sp>
      <p:sp>
        <p:nvSpPr>
          <p:cNvPr id="12" name="Shape 9"/>
          <p:cNvSpPr/>
          <p:nvPr/>
        </p:nvSpPr>
        <p:spPr>
          <a:xfrm>
            <a:off x="812800" y="3270250"/>
            <a:ext cx="546100" cy="546100"/>
          </a:xfrm>
          <a:prstGeom prst="roundRect">
            <a:avLst>
              <a:gd name="adj" fmla="val 16279"/>
            </a:avLst>
          </a:prstGeom>
          <a:solidFill>
            <a:srgbClr val="F5F6F0"/>
          </a:solidFill>
          <a:ln w="6350">
            <a:solidFill>
              <a:srgbClr val="F5F6F0"/>
            </a:solidFill>
            <a:prstDash val="solid"/>
          </a:ln>
        </p:spPr>
      </p:sp>
      <p:pic>
        <p:nvPicPr>
          <p:cNvPr id="13" name="Image 0" descr="speech.svg">    </p:cNvPr>
          <p:cNvPicPr>
            <a:picLocks noChangeAspect="1"/>
          </p:cNvPicPr>
          <p:nvPr/>
        </p:nvPicPr>
        <p:blipFill>
          <a:blip r:embed="rId1"/>
          <a:stretch>
            <a:fillRect/>
          </a:stretch>
        </p:blipFill>
        <p:spPr>
          <a:xfrm>
            <a:off x="882650" y="3340100"/>
            <a:ext cx="406400" cy="406400"/>
          </a:xfrm>
          <a:prstGeom prst="rect">
            <a:avLst/>
          </a:prstGeom>
        </p:spPr>
      </p:pic>
      <p:sp>
        <p:nvSpPr>
          <p:cNvPr id="14" name="Text 10"/>
          <p:cNvSpPr/>
          <p:nvPr/>
        </p:nvSpPr>
        <p:spPr>
          <a:xfrm>
            <a:off x="812800" y="3962400"/>
            <a:ext cx="3022600" cy="304610"/>
          </a:xfrm>
          <a:prstGeom prst="rect">
            <a:avLst/>
          </a:prstGeom>
          <a:noFill/>
          <a:ln/>
        </p:spPr>
        <p:txBody>
          <a:bodyPr wrap="square" lIns="0" tIns="0" rIns="0" bIns="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Conversation</a:t>
            </a:r>
            <a:endParaRPr lang="en-US" sz="1950" dirty="0"/>
          </a:p>
        </p:txBody>
      </p:sp>
      <p:sp>
        <p:nvSpPr>
          <p:cNvPr id="15" name="Text 11"/>
          <p:cNvSpPr/>
          <p:nvPr/>
        </p:nvSpPr>
        <p:spPr>
          <a:xfrm>
            <a:off x="812800" y="4432300"/>
            <a:ext cx="3022600" cy="226505"/>
          </a:xfrm>
          <a:prstGeom prst="rect">
            <a:avLst/>
          </a:prstGeom>
          <a:noFill/>
          <a:ln/>
        </p:spPr>
        <p:txBody>
          <a:bodyPr wrap="square" lIns="0" tIns="0" rIns="0" bIns="0" rtlCol="0" anchor="t">
            <a:normAutofit/>
          </a:bodyPr>
          <a:lstStyle/>
          <a:p>
            <a:pPr algn="l" indent="0" marL="0">
              <a:buNone/>
            </a:pPr>
            <a:r>
              <a:rPr lang="en-US" sz="1450" dirty="0">
                <a:solidFill>
                  <a:srgbClr val="B4C8BE"/>
                </a:solidFill>
                <a:latin typeface="Arial" pitchFamily="34" charset="0"/>
                <a:ea typeface="Arial" pitchFamily="34" charset="-122"/>
                <a:cs typeface="Arial" pitchFamily="34" charset="-120"/>
              </a:rPr>
              <a:t>Coaching evidence</a:t>
            </a:r>
            <a:endParaRPr lang="en-US" sz="1450" dirty="0"/>
          </a:p>
        </p:txBody>
      </p:sp>
      <p:sp>
        <p:nvSpPr>
          <p:cNvPr id="16" name="Shape 12"/>
          <p:cNvSpPr/>
          <p:nvPr/>
        </p:nvSpPr>
        <p:spPr>
          <a:xfrm>
            <a:off x="4089400" y="3987800"/>
            <a:ext cx="241300" cy="0"/>
          </a:xfrm>
          <a:prstGeom prst="line">
            <a:avLst/>
          </a:prstGeom>
          <a:noFill/>
          <a:ln w="19050">
            <a:solidFill>
              <a:srgbClr val="B4C8BE"/>
            </a:solidFill>
            <a:prstDash val="solid"/>
            <a:tailEnd type="triangle"/>
          </a:ln>
        </p:spPr>
      </p:sp>
      <p:sp>
        <p:nvSpPr>
          <p:cNvPr id="17" name="Shape 13"/>
          <p:cNvSpPr/>
          <p:nvPr/>
        </p:nvSpPr>
        <p:spPr>
          <a:xfrm>
            <a:off x="4368800" y="3079750"/>
            <a:ext cx="3454400" cy="1866900"/>
          </a:xfrm>
          <a:prstGeom prst="roundRect">
            <a:avLst>
              <a:gd name="adj" fmla="val 7483"/>
            </a:avLst>
          </a:prstGeom>
          <a:solidFill>
            <a:srgbClr val="163A3B"/>
          </a:solidFill>
          <a:ln w="6350">
            <a:solidFill>
              <a:srgbClr val="36554E"/>
            </a:solidFill>
            <a:prstDash val="solid"/>
          </a:ln>
        </p:spPr>
      </p:sp>
      <p:sp>
        <p:nvSpPr>
          <p:cNvPr id="18" name="Shape 14"/>
          <p:cNvSpPr/>
          <p:nvPr/>
        </p:nvSpPr>
        <p:spPr>
          <a:xfrm>
            <a:off x="4572000" y="3270250"/>
            <a:ext cx="546100" cy="546100"/>
          </a:xfrm>
          <a:prstGeom prst="roundRect">
            <a:avLst>
              <a:gd name="adj" fmla="val 16279"/>
            </a:avLst>
          </a:prstGeom>
          <a:solidFill>
            <a:srgbClr val="F5F6F0"/>
          </a:solidFill>
          <a:ln w="6350">
            <a:solidFill>
              <a:srgbClr val="F5F6F0"/>
            </a:solidFill>
            <a:prstDash val="solid"/>
          </a:ln>
        </p:spPr>
      </p:sp>
      <p:pic>
        <p:nvPicPr>
          <p:cNvPr id="19" name="Image 1" descr="openai.svg">    </p:cNvPr>
          <p:cNvPicPr>
            <a:picLocks noChangeAspect="1"/>
          </p:cNvPicPr>
          <p:nvPr/>
        </p:nvPicPr>
        <p:blipFill>
          <a:blip r:embed="rId2"/>
          <a:stretch>
            <a:fillRect/>
          </a:stretch>
        </p:blipFill>
        <p:spPr>
          <a:xfrm>
            <a:off x="4641850" y="3340100"/>
            <a:ext cx="406400" cy="406400"/>
          </a:xfrm>
          <a:prstGeom prst="rect">
            <a:avLst/>
          </a:prstGeom>
        </p:spPr>
      </p:pic>
      <p:sp>
        <p:nvSpPr>
          <p:cNvPr id="20" name="Text 15"/>
          <p:cNvSpPr/>
          <p:nvPr/>
        </p:nvSpPr>
        <p:spPr>
          <a:xfrm>
            <a:off x="4572000" y="3962400"/>
            <a:ext cx="3022600" cy="304610"/>
          </a:xfrm>
          <a:prstGeom prst="rect">
            <a:avLst/>
          </a:prstGeom>
          <a:noFill/>
          <a:ln/>
        </p:spPr>
        <p:txBody>
          <a:bodyPr wrap="square" lIns="0" tIns="0" rIns="0" bIns="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Analysis</a:t>
            </a:r>
            <a:endParaRPr lang="en-US" sz="1950" dirty="0"/>
          </a:p>
        </p:txBody>
      </p:sp>
      <p:sp>
        <p:nvSpPr>
          <p:cNvPr id="21" name="Text 16"/>
          <p:cNvSpPr/>
          <p:nvPr/>
        </p:nvSpPr>
        <p:spPr>
          <a:xfrm>
            <a:off x="4572000" y="4432300"/>
            <a:ext cx="3022600" cy="226505"/>
          </a:xfrm>
          <a:prstGeom prst="rect">
            <a:avLst/>
          </a:prstGeom>
          <a:noFill/>
          <a:ln/>
        </p:spPr>
        <p:txBody>
          <a:bodyPr wrap="square" lIns="0" tIns="0" rIns="0" bIns="0" rtlCol="0" anchor="t">
            <a:normAutofit/>
          </a:bodyPr>
          <a:lstStyle/>
          <a:p>
            <a:pPr algn="l" indent="0" marL="0">
              <a:buNone/>
            </a:pPr>
            <a:r>
              <a:rPr lang="en-US" sz="1450" dirty="0">
                <a:solidFill>
                  <a:srgbClr val="B4C8BE"/>
                </a:solidFill>
                <a:latin typeface="Arial" pitchFamily="34" charset="0"/>
                <a:ea typeface="Arial" pitchFamily="34" charset="-122"/>
                <a:cs typeface="Arial" pitchFamily="34" charset="-120"/>
              </a:rPr>
              <a:t>Risk + confidence</a:t>
            </a:r>
            <a:endParaRPr lang="en-US" sz="1450" dirty="0"/>
          </a:p>
        </p:txBody>
      </p:sp>
      <p:sp>
        <p:nvSpPr>
          <p:cNvPr id="22" name="Shape 17"/>
          <p:cNvSpPr/>
          <p:nvPr/>
        </p:nvSpPr>
        <p:spPr>
          <a:xfrm>
            <a:off x="7848600" y="3987800"/>
            <a:ext cx="241300" cy="0"/>
          </a:xfrm>
          <a:prstGeom prst="line">
            <a:avLst/>
          </a:prstGeom>
          <a:noFill/>
          <a:ln w="19050">
            <a:solidFill>
              <a:srgbClr val="B4C8BE"/>
            </a:solidFill>
            <a:prstDash val="solid"/>
            <a:tailEnd type="triangle"/>
          </a:ln>
        </p:spPr>
      </p:sp>
      <p:sp>
        <p:nvSpPr>
          <p:cNvPr id="23" name="Shape 18"/>
          <p:cNvSpPr/>
          <p:nvPr/>
        </p:nvSpPr>
        <p:spPr>
          <a:xfrm>
            <a:off x="8128000" y="3079750"/>
            <a:ext cx="3454400" cy="1866900"/>
          </a:xfrm>
          <a:prstGeom prst="roundRect">
            <a:avLst>
              <a:gd name="adj" fmla="val 7483"/>
            </a:avLst>
          </a:prstGeom>
          <a:solidFill>
            <a:srgbClr val="163A3B"/>
          </a:solidFill>
          <a:ln w="6350">
            <a:solidFill>
              <a:srgbClr val="36554E"/>
            </a:solidFill>
            <a:prstDash val="solid"/>
          </a:ln>
        </p:spPr>
      </p:sp>
      <p:sp>
        <p:nvSpPr>
          <p:cNvPr id="24" name="Shape 19"/>
          <p:cNvSpPr/>
          <p:nvPr/>
        </p:nvSpPr>
        <p:spPr>
          <a:xfrm>
            <a:off x="8331200" y="3270250"/>
            <a:ext cx="546100" cy="546100"/>
          </a:xfrm>
          <a:prstGeom prst="roundRect">
            <a:avLst>
              <a:gd name="adj" fmla="val 16279"/>
            </a:avLst>
          </a:prstGeom>
          <a:solidFill>
            <a:srgbClr val="F5F6F0"/>
          </a:solidFill>
          <a:ln w="6350">
            <a:solidFill>
              <a:srgbClr val="F5F6F0"/>
            </a:solidFill>
            <a:prstDash val="solid"/>
          </a:ln>
        </p:spPr>
      </p:sp>
      <p:pic>
        <p:nvPicPr>
          <p:cNvPr id="25" name="Image 2" descr="code.svg">    </p:cNvPr>
          <p:cNvPicPr>
            <a:picLocks noChangeAspect="1"/>
          </p:cNvPicPr>
          <p:nvPr/>
        </p:nvPicPr>
        <p:blipFill>
          <a:blip r:embed="rId3"/>
          <a:stretch>
            <a:fillRect/>
          </a:stretch>
        </p:blipFill>
        <p:spPr>
          <a:xfrm>
            <a:off x="8401050" y="3340100"/>
            <a:ext cx="406400" cy="406400"/>
          </a:xfrm>
          <a:prstGeom prst="rect">
            <a:avLst/>
          </a:prstGeom>
        </p:spPr>
      </p:pic>
      <p:sp>
        <p:nvSpPr>
          <p:cNvPr id="26" name="Text 20"/>
          <p:cNvSpPr/>
          <p:nvPr/>
        </p:nvSpPr>
        <p:spPr>
          <a:xfrm>
            <a:off x="8331200" y="3962400"/>
            <a:ext cx="3022600" cy="304610"/>
          </a:xfrm>
          <a:prstGeom prst="rect">
            <a:avLst/>
          </a:prstGeom>
          <a:noFill/>
          <a:ln/>
        </p:spPr>
        <p:txBody>
          <a:bodyPr wrap="square" lIns="0" tIns="0" rIns="0" bIns="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Decision</a:t>
            </a:r>
            <a:endParaRPr lang="en-US" sz="1950" dirty="0"/>
          </a:p>
        </p:txBody>
      </p:sp>
      <p:sp>
        <p:nvSpPr>
          <p:cNvPr id="27" name="Text 21"/>
          <p:cNvSpPr/>
          <p:nvPr/>
        </p:nvSpPr>
        <p:spPr>
          <a:xfrm>
            <a:off x="8331200" y="4432300"/>
            <a:ext cx="3022600" cy="226505"/>
          </a:xfrm>
          <a:prstGeom prst="rect">
            <a:avLst/>
          </a:prstGeom>
          <a:noFill/>
          <a:ln/>
        </p:spPr>
        <p:txBody>
          <a:bodyPr wrap="square" lIns="0" tIns="0" rIns="0" bIns="0" rtlCol="0" anchor="t">
            <a:normAutofit/>
          </a:bodyPr>
          <a:lstStyle/>
          <a:p>
            <a:pPr algn="l" indent="0" marL="0">
              <a:buNone/>
            </a:pPr>
            <a:r>
              <a:rPr lang="en-US" sz="1450" dirty="0">
                <a:solidFill>
                  <a:srgbClr val="B4C8BE"/>
                </a:solidFill>
                <a:latin typeface="Arial" pitchFamily="34" charset="0"/>
                <a:ea typeface="Arial" pitchFamily="34" charset="-122"/>
                <a:cs typeface="Arial" pitchFamily="34" charset="-120"/>
              </a:rPr>
              <a:t>Can refuse verification</a:t>
            </a:r>
            <a:endParaRPr lang="en-US" sz="1450" dirty="0"/>
          </a:p>
        </p:txBody>
      </p:sp>
      <p:sp>
        <p:nvSpPr>
          <p:cNvPr id="28" name="Text 22"/>
          <p:cNvSpPr/>
          <p:nvPr/>
        </p:nvSpPr>
        <p:spPr>
          <a:xfrm>
            <a:off x="622300" y="5346700"/>
            <a:ext cx="10731500" cy="328041"/>
          </a:xfrm>
          <a:prstGeom prst="rect">
            <a:avLst/>
          </a:prstGeom>
          <a:noFill/>
          <a:ln/>
        </p:spPr>
        <p:txBody>
          <a:bodyPr wrap="square" lIns="0" tIns="0" rIns="0" bIns="0" rtlCol="0" anchor="t">
            <a:normAutofit/>
          </a:bodyPr>
          <a:lstStyle/>
          <a:p>
            <a:pPr algn="l" indent="0" marL="0">
              <a:buNone/>
            </a:pPr>
            <a:r>
              <a:rPr lang="en-US" sz="2100" b="1" dirty="0">
                <a:solidFill>
                  <a:srgbClr val="D5EDAE"/>
                </a:solidFill>
                <a:latin typeface="Arial" pitchFamily="34" charset="0"/>
                <a:ea typeface="Arial" pitchFamily="34" charset="-122"/>
                <a:cs typeface="Arial" pitchFamily="34" charset="-120"/>
              </a:rPr>
              <a:t>Show the actual returned result and reason.</a:t>
            </a:r>
            <a:endParaRPr lang="en-US" sz="2100" dirty="0"/>
          </a:p>
        </p:txBody>
      </p:sp>
      <p:sp>
        <p:nvSpPr>
          <p:cNvPr id="29" name="Text 23"/>
          <p:cNvSpPr/>
          <p:nvPr/>
        </p:nvSpPr>
        <p:spPr>
          <a:xfrm>
            <a:off x="635000" y="5854700"/>
            <a:ext cx="10477500" cy="195263"/>
          </a:xfrm>
          <a:prstGeom prst="rect">
            <a:avLst/>
          </a:prstGeom>
          <a:noFill/>
          <a:ln/>
        </p:spPr>
        <p:txBody>
          <a:bodyPr wrap="square" lIns="0" tIns="0" rIns="0" bIns="0" rtlCol="0" anchor="t">
            <a:normAutofit/>
          </a:bodyPr>
          <a:lstStyle/>
          <a:p>
            <a:pPr algn="l" indent="0" marL="0">
              <a:buNone/>
            </a:pPr>
            <a:r>
              <a:rPr lang="en-US" sz="1250" dirty="0">
                <a:solidFill>
                  <a:srgbClr val="B4C8BE"/>
                </a:solidFill>
                <a:latin typeface="Arial" pitchFamily="34" charset="0"/>
                <a:ea typeface="Arial" pitchFamily="34" charset="-122"/>
                <a:cs typeface="Arial" pitchFamily="34" charset="-120"/>
              </a:rPr>
              <a:t>Conceptual sequence — not a recorded detection or result.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0"/>
        </a:solidFill>
      </p:bgPr>
    </p:bg>
    <p:spTree>
      <p:nvGrpSpPr>
        <p:cNvPr id="1" name=""/>
        <p:cNvGrpSpPr/>
        <p:nvPr/>
      </p:nvGrpSpPr>
      <p:grpSpPr>
        <a:xfrm>
          <a:off x="0" y="0"/>
          <a:ext cx="0" cy="0"/>
          <a:chOff x="0" y="0"/>
          <a:chExt cx="0" cy="0"/>
        </a:xfrm>
      </p:grpSpPr>
      <p:sp>
        <p:nvSpPr>
          <p:cNvPr id="2" name="Text 0"/>
          <p:cNvSpPr/>
          <p:nvPr/>
        </p:nvSpPr>
        <p:spPr>
          <a:xfrm>
            <a:off x="609600" y="330200"/>
            <a:ext cx="4445000" cy="195263"/>
          </a:xfrm>
          <a:prstGeom prst="rect">
            <a:avLst/>
          </a:prstGeom>
          <a:noFill/>
          <a:ln/>
        </p:spPr>
        <p:txBody>
          <a:bodyPr wrap="square" lIns="0" tIns="0" rIns="0" bIns="0" rtlCol="0" anchor="t">
            <a:normAutofit/>
          </a:bodyPr>
          <a:lstStyle/>
          <a:p>
            <a:pPr algn="l" indent="0" marL="0">
              <a:buNone/>
            </a:pPr>
            <a:r>
              <a:rPr lang="en-US" sz="1250" b="1" dirty="0">
                <a:solidFill>
                  <a:srgbClr val="17382F"/>
                </a:solidFill>
                <a:latin typeface="Arial" pitchFamily="34" charset="0"/>
                <a:ea typeface="Arial" pitchFamily="34" charset="-122"/>
                <a:cs typeface="Arial" pitchFamily="34" charset="-120"/>
              </a:rPr>
              <a:t>ENTRAGUARD</a:t>
            </a:r>
            <a:endParaRPr lang="en-US" sz="1250" dirty="0"/>
          </a:p>
        </p:txBody>
      </p:sp>
      <p:sp>
        <p:nvSpPr>
          <p:cNvPr id="3" name="Text 1"/>
          <p:cNvSpPr/>
          <p:nvPr/>
        </p:nvSpPr>
        <p:spPr>
          <a:xfrm>
            <a:off x="7874000" y="349250"/>
            <a:ext cx="3683000" cy="148400"/>
          </a:xfrm>
          <a:prstGeom prst="rect">
            <a:avLst/>
          </a:prstGeom>
          <a:noFill/>
          <a:ln/>
        </p:spPr>
        <p:txBody>
          <a:bodyPr wrap="square" lIns="0" tIns="0" rIns="0" bIns="0" rtlCol="0" anchor="t">
            <a:normAutofit/>
          </a:bodyPr>
          <a:lstStyle/>
          <a:p>
            <a:pPr algn="r" indent="0" marL="0">
              <a:buNone/>
            </a:pPr>
            <a:r>
              <a:rPr lang="en-US" sz="950" dirty="0">
                <a:solidFill>
                  <a:srgbClr val="566D62"/>
                </a:solidFill>
                <a:latin typeface="Arial" pitchFamily="34" charset="0"/>
                <a:ea typeface="Arial" pitchFamily="34" charset="-122"/>
                <a:cs typeface="Arial" pitchFamily="34" charset="-120"/>
              </a:rPr>
              <a:t>88–105s  /  HACKATHON FILM</a:t>
            </a:r>
            <a:endParaRPr lang="en-US" sz="950" dirty="0"/>
          </a:p>
        </p:txBody>
      </p:sp>
      <p:sp>
        <p:nvSpPr>
          <p:cNvPr id="4" name="Shape 2"/>
          <p:cNvSpPr/>
          <p:nvPr/>
        </p:nvSpPr>
        <p:spPr>
          <a:xfrm>
            <a:off x="609600" y="6400800"/>
            <a:ext cx="10972800" cy="0"/>
          </a:xfrm>
          <a:prstGeom prst="line">
            <a:avLst/>
          </a:prstGeom>
          <a:noFill/>
          <a:ln w="19050">
            <a:solidFill>
              <a:srgbClr val="DCE4D6"/>
            </a:solidFill>
            <a:prstDash val="solid"/>
            <a:tailEnd type="none"/>
          </a:ln>
        </p:spPr>
      </p:sp>
      <p:sp>
        <p:nvSpPr>
          <p:cNvPr id="5" name="Text 3"/>
          <p:cNvSpPr/>
          <p:nvPr/>
        </p:nvSpPr>
        <p:spPr>
          <a:xfrm>
            <a:off x="609600" y="6540500"/>
            <a:ext cx="7620000" cy="132779"/>
          </a:xfrm>
          <a:prstGeom prst="rect">
            <a:avLst/>
          </a:prstGeom>
          <a:noFill/>
          <a:ln/>
        </p:spPr>
        <p:txBody>
          <a:bodyPr wrap="square" lIns="0" tIns="0" rIns="0" bIns="0" rtlCol="0" anchor="t">
            <a:normAutofit/>
          </a:bodyPr>
          <a:lstStyle/>
          <a:p>
            <a:pPr algn="l" indent="0" marL="0">
              <a:buNone/>
            </a:pPr>
            <a:r>
              <a:rPr lang="en-US" sz="850" dirty="0">
                <a:solidFill>
                  <a:srgbClr val="566D62"/>
                </a:solidFill>
                <a:latin typeface="Arial" pitchFamily="34" charset="0"/>
                <a:ea typeface="Arial" pitchFamily="34" charset="-122"/>
                <a:cs typeface="Arial" pitchFamily="34" charset="-120"/>
              </a:rPr>
              <a:t>MICROSOFT GARAGE HACKATHON</a:t>
            </a:r>
            <a:endParaRPr lang="en-US" sz="850" dirty="0"/>
          </a:p>
        </p:txBody>
      </p:sp>
      <p:sp>
        <p:nvSpPr>
          <p:cNvPr id="6" name="Text 4"/>
          <p:cNvSpPr/>
          <p:nvPr/>
        </p:nvSpPr>
        <p:spPr>
          <a:xfrm>
            <a:off x="10604500" y="6540500"/>
            <a:ext cx="977900" cy="132779"/>
          </a:xfrm>
          <a:prstGeom prst="rect">
            <a:avLst/>
          </a:prstGeom>
          <a:noFill/>
          <a:ln/>
        </p:spPr>
        <p:txBody>
          <a:bodyPr wrap="square" lIns="0" tIns="0" rIns="0" bIns="0" rtlCol="0" anchor="t">
            <a:normAutofit/>
          </a:bodyPr>
          <a:lstStyle/>
          <a:p>
            <a:pPr algn="r" indent="0" marL="0">
              <a:buNone/>
            </a:pPr>
            <a:r>
              <a:rPr lang="en-US" sz="850" dirty="0">
                <a:solidFill>
                  <a:srgbClr val="566D62"/>
                </a:solidFill>
                <a:latin typeface="Arial" pitchFamily="34" charset="0"/>
                <a:ea typeface="Arial" pitchFamily="34" charset="-122"/>
                <a:cs typeface="Arial" pitchFamily="34" charset="-120"/>
              </a:rPr>
              <a:t>05 / 06</a:t>
            </a:r>
            <a:endParaRPr lang="en-US" sz="850" dirty="0"/>
          </a:p>
        </p:txBody>
      </p:sp>
      <p:sp>
        <p:nvSpPr>
          <p:cNvPr id="8" name="Text 5"/>
          <p:cNvSpPr/>
          <p:nvPr/>
        </p:nvSpPr>
        <p:spPr>
          <a:xfrm>
            <a:off x="609600" y="996950"/>
            <a:ext cx="10985500" cy="1124712"/>
          </a:xfrm>
          <a:prstGeom prst="rect">
            <a:avLst/>
          </a:prstGeom>
          <a:noFill/>
          <a:ln/>
        </p:spPr>
        <p:txBody>
          <a:bodyPr wrap="square" lIns="0" tIns="0" rIns="0" bIns="0" rtlCol="0" anchor="t">
            <a:normAutofit/>
          </a:bodyPr>
          <a:lstStyle/>
          <a:p>
            <a:pPr algn="l" indent="0" marL="0">
              <a:buNone/>
            </a:pPr>
            <a:r>
              <a:rPr lang="en-US" sz="3600" b="1" dirty="0">
                <a:solidFill>
                  <a:srgbClr val="17382F"/>
                </a:solidFill>
                <a:latin typeface="Arial" pitchFamily="34" charset="0"/>
                <a:ea typeface="Arial" pitchFamily="34" charset="-122"/>
                <a:cs typeface="Arial" pitchFamily="34" charset="-120"/>
              </a:rPr>
              <a:t>AI supplies evidence.</a:t>
            </a:r>
            <a:endParaRPr lang="en-US" sz="3600" dirty="0"/>
          </a:p>
          <a:p>
            <a:pPr algn="l" indent="0" marL="0">
              <a:buNone/>
            </a:pPr>
            <a:r>
              <a:rPr lang="en-US" sz="3600" b="1" dirty="0">
                <a:solidFill>
                  <a:srgbClr val="17382F"/>
                </a:solidFill>
                <a:latin typeface="Arial" pitchFamily="34" charset="0"/>
                <a:ea typeface="Arial" pitchFamily="34" charset="-122"/>
                <a:cs typeface="Arial" pitchFamily="34" charset="-120"/>
              </a:rPr>
              <a:t>Code owns the decision.</a:t>
            </a:r>
            <a:endParaRPr lang="en-US" sz="3600" dirty="0"/>
          </a:p>
        </p:txBody>
      </p:sp>
      <p:sp>
        <p:nvSpPr>
          <p:cNvPr id="9" name="Shape 6"/>
          <p:cNvSpPr/>
          <p:nvPr/>
        </p:nvSpPr>
        <p:spPr>
          <a:xfrm>
            <a:off x="609600" y="2698750"/>
            <a:ext cx="2590800" cy="2203450"/>
          </a:xfrm>
          <a:prstGeom prst="roundRect">
            <a:avLst>
              <a:gd name="adj" fmla="val 6340"/>
            </a:avLst>
          </a:prstGeom>
          <a:solidFill>
            <a:srgbClr val="FFFFFF"/>
          </a:solidFill>
          <a:ln w="6350">
            <a:solidFill>
              <a:srgbClr val="DCE4D6"/>
            </a:solidFill>
            <a:prstDash val="solid"/>
          </a:ln>
        </p:spPr>
      </p:sp>
      <p:pic>
        <p:nvPicPr>
          <p:cNvPr id="10" name="Image 0" descr="communication-services.svg">    </p:cNvPr>
          <p:cNvPicPr>
            <a:picLocks noChangeAspect="1"/>
          </p:cNvPicPr>
          <p:nvPr/>
        </p:nvPicPr>
        <p:blipFill>
          <a:blip r:embed="rId1"/>
          <a:stretch>
            <a:fillRect/>
          </a:stretch>
        </p:blipFill>
        <p:spPr>
          <a:xfrm>
            <a:off x="800100" y="2927350"/>
            <a:ext cx="482600" cy="482600"/>
          </a:xfrm>
          <a:prstGeom prst="rect">
            <a:avLst/>
          </a:prstGeom>
        </p:spPr>
      </p:pic>
      <p:sp>
        <p:nvSpPr>
          <p:cNvPr id="11" name="Text 7"/>
          <p:cNvSpPr/>
          <p:nvPr/>
        </p:nvSpPr>
        <p:spPr>
          <a:xfrm>
            <a:off x="800100" y="3683000"/>
            <a:ext cx="2222500" cy="320231"/>
          </a:xfrm>
          <a:prstGeom prst="rect">
            <a:avLst/>
          </a:prstGeom>
          <a:noFill/>
          <a:ln/>
        </p:spPr>
        <p:txBody>
          <a:bodyPr wrap="square" lIns="0" tIns="0" rIns="0" bIns="0" rtlCol="0" anchor="t">
            <a:normAutofit/>
          </a:bodyPr>
          <a:lstStyle/>
          <a:p>
            <a:pPr algn="l" indent="0" marL="0">
              <a:buNone/>
            </a:pPr>
            <a:r>
              <a:rPr lang="en-US" sz="2050" b="1" dirty="0">
                <a:solidFill>
                  <a:srgbClr val="17382F"/>
                </a:solidFill>
                <a:latin typeface="Arial" pitchFamily="34" charset="0"/>
                <a:ea typeface="Arial" pitchFamily="34" charset="-122"/>
                <a:cs typeface="Arial" pitchFamily="34" charset="-120"/>
              </a:rPr>
              <a:t>Call</a:t>
            </a:r>
            <a:endParaRPr lang="en-US" sz="2050" dirty="0"/>
          </a:p>
        </p:txBody>
      </p:sp>
      <p:sp>
        <p:nvSpPr>
          <p:cNvPr id="12" name="Text 8"/>
          <p:cNvSpPr/>
          <p:nvPr/>
        </p:nvSpPr>
        <p:spPr>
          <a:xfrm>
            <a:off x="800100" y="4184650"/>
            <a:ext cx="2222500" cy="437388"/>
          </a:xfrm>
          <a:prstGeom prst="rect">
            <a:avLst/>
          </a:prstGeom>
          <a:noFill/>
          <a:ln/>
        </p:spPr>
        <p:txBody>
          <a:bodyPr wrap="square" lIns="0" tIns="0" rIns="0" bIns="0" rtlCol="0" anchor="t">
            <a:normAutofit/>
          </a:bodyPr>
          <a:lstStyle/>
          <a:p>
            <a:pPr algn="l" indent="0" marL="0">
              <a:buNone/>
            </a:pPr>
            <a:r>
              <a:rPr lang="en-US" sz="1400" dirty="0">
                <a:solidFill>
                  <a:srgbClr val="566D62"/>
                </a:solidFill>
                <a:latin typeface="Arial" pitchFamily="34" charset="0"/>
                <a:ea typeface="Arial" pitchFamily="34" charset="-122"/>
                <a:cs typeface="Arial" pitchFamily="34" charset="-120"/>
              </a:rPr>
              <a:t>Azure Communication</a:t>
            </a:r>
            <a:endParaRPr lang="en-US" sz="1400" dirty="0"/>
          </a:p>
          <a:p>
            <a:pPr algn="l" indent="0" marL="0">
              <a:buNone/>
            </a:pPr>
            <a:r>
              <a:rPr lang="en-US" sz="1400" dirty="0">
                <a:solidFill>
                  <a:srgbClr val="566D62"/>
                </a:solidFill>
                <a:latin typeface="Arial" pitchFamily="34" charset="0"/>
                <a:ea typeface="Arial" pitchFamily="34" charset="-122"/>
                <a:cs typeface="Arial" pitchFamily="34" charset="-120"/>
              </a:rPr>
              <a:t>Services</a:t>
            </a:r>
            <a:endParaRPr lang="en-US" sz="1400" dirty="0"/>
          </a:p>
        </p:txBody>
      </p:sp>
      <p:sp>
        <p:nvSpPr>
          <p:cNvPr id="13" name="Shape 9"/>
          <p:cNvSpPr/>
          <p:nvPr/>
        </p:nvSpPr>
        <p:spPr>
          <a:xfrm>
            <a:off x="3238500" y="3797300"/>
            <a:ext cx="127000" cy="0"/>
          </a:xfrm>
          <a:prstGeom prst="line">
            <a:avLst/>
          </a:prstGeom>
          <a:noFill/>
          <a:ln w="19050">
            <a:solidFill>
              <a:srgbClr val="566D62"/>
            </a:solidFill>
            <a:prstDash val="solid"/>
            <a:tailEnd type="triangle"/>
          </a:ln>
        </p:spPr>
      </p:sp>
      <p:sp>
        <p:nvSpPr>
          <p:cNvPr id="14" name="Shape 10"/>
          <p:cNvSpPr/>
          <p:nvPr/>
        </p:nvSpPr>
        <p:spPr>
          <a:xfrm>
            <a:off x="3403600" y="2698750"/>
            <a:ext cx="2590800" cy="2203450"/>
          </a:xfrm>
          <a:prstGeom prst="roundRect">
            <a:avLst>
              <a:gd name="adj" fmla="val 6340"/>
            </a:avLst>
          </a:prstGeom>
          <a:solidFill>
            <a:srgbClr val="FFFFFF"/>
          </a:solidFill>
          <a:ln w="6350">
            <a:solidFill>
              <a:srgbClr val="DCE4D6"/>
            </a:solidFill>
            <a:prstDash val="solid"/>
          </a:ln>
        </p:spPr>
      </p:sp>
      <p:pic>
        <p:nvPicPr>
          <p:cNvPr id="15" name="Image 1" descr="speech.svg">    </p:cNvPr>
          <p:cNvPicPr>
            <a:picLocks noChangeAspect="1"/>
          </p:cNvPicPr>
          <p:nvPr/>
        </p:nvPicPr>
        <p:blipFill>
          <a:blip r:embed="rId2"/>
          <a:stretch>
            <a:fillRect/>
          </a:stretch>
        </p:blipFill>
        <p:spPr>
          <a:xfrm>
            <a:off x="3594100" y="2927350"/>
            <a:ext cx="482600" cy="482600"/>
          </a:xfrm>
          <a:prstGeom prst="rect">
            <a:avLst/>
          </a:prstGeom>
        </p:spPr>
      </p:pic>
      <p:sp>
        <p:nvSpPr>
          <p:cNvPr id="16" name="Text 11"/>
          <p:cNvSpPr/>
          <p:nvPr/>
        </p:nvSpPr>
        <p:spPr>
          <a:xfrm>
            <a:off x="3594100" y="3683000"/>
            <a:ext cx="2222500" cy="320231"/>
          </a:xfrm>
          <a:prstGeom prst="rect">
            <a:avLst/>
          </a:prstGeom>
          <a:noFill/>
          <a:ln/>
        </p:spPr>
        <p:txBody>
          <a:bodyPr wrap="square" lIns="0" tIns="0" rIns="0" bIns="0" rtlCol="0" anchor="t">
            <a:normAutofit/>
          </a:bodyPr>
          <a:lstStyle/>
          <a:p>
            <a:pPr algn="l" indent="0" marL="0">
              <a:buNone/>
            </a:pPr>
            <a:r>
              <a:rPr lang="en-US" sz="2050" b="1" dirty="0">
                <a:solidFill>
                  <a:srgbClr val="17382F"/>
                </a:solidFill>
                <a:latin typeface="Arial" pitchFamily="34" charset="0"/>
                <a:ea typeface="Arial" pitchFamily="34" charset="-122"/>
                <a:cs typeface="Arial" pitchFamily="34" charset="-120"/>
              </a:rPr>
              <a:t>Transcribe</a:t>
            </a:r>
            <a:endParaRPr lang="en-US" sz="2050" dirty="0"/>
          </a:p>
        </p:txBody>
      </p:sp>
      <p:sp>
        <p:nvSpPr>
          <p:cNvPr id="17" name="Text 12"/>
          <p:cNvSpPr/>
          <p:nvPr/>
        </p:nvSpPr>
        <p:spPr>
          <a:xfrm>
            <a:off x="3594100" y="4184650"/>
            <a:ext cx="2222500" cy="218694"/>
          </a:xfrm>
          <a:prstGeom prst="rect">
            <a:avLst/>
          </a:prstGeom>
          <a:noFill/>
          <a:ln/>
        </p:spPr>
        <p:txBody>
          <a:bodyPr wrap="square" lIns="0" tIns="0" rIns="0" bIns="0" rtlCol="0" anchor="t">
            <a:normAutofit/>
          </a:bodyPr>
          <a:lstStyle/>
          <a:p>
            <a:pPr algn="l" indent="0" marL="0">
              <a:buNone/>
            </a:pPr>
            <a:r>
              <a:rPr lang="en-US" sz="1400" dirty="0">
                <a:solidFill>
                  <a:srgbClr val="566D62"/>
                </a:solidFill>
                <a:latin typeface="Arial" pitchFamily="34" charset="0"/>
                <a:ea typeface="Arial" pitchFamily="34" charset="-122"/>
                <a:cs typeface="Arial" pitchFamily="34" charset="-120"/>
              </a:rPr>
              <a:t>Azure AI Speech</a:t>
            </a:r>
            <a:endParaRPr lang="en-US" sz="1400" dirty="0"/>
          </a:p>
        </p:txBody>
      </p:sp>
      <p:sp>
        <p:nvSpPr>
          <p:cNvPr id="18" name="Shape 13"/>
          <p:cNvSpPr/>
          <p:nvPr/>
        </p:nvSpPr>
        <p:spPr>
          <a:xfrm>
            <a:off x="6032500" y="3797300"/>
            <a:ext cx="127000" cy="0"/>
          </a:xfrm>
          <a:prstGeom prst="line">
            <a:avLst/>
          </a:prstGeom>
          <a:noFill/>
          <a:ln w="19050">
            <a:solidFill>
              <a:srgbClr val="566D62"/>
            </a:solidFill>
            <a:prstDash val="solid"/>
            <a:tailEnd type="triangle"/>
          </a:ln>
        </p:spPr>
      </p:sp>
      <p:sp>
        <p:nvSpPr>
          <p:cNvPr id="19" name="Shape 14"/>
          <p:cNvSpPr/>
          <p:nvPr/>
        </p:nvSpPr>
        <p:spPr>
          <a:xfrm>
            <a:off x="6197600" y="2698750"/>
            <a:ext cx="2590800" cy="2203450"/>
          </a:xfrm>
          <a:prstGeom prst="roundRect">
            <a:avLst>
              <a:gd name="adj" fmla="val 6340"/>
            </a:avLst>
          </a:prstGeom>
          <a:solidFill>
            <a:srgbClr val="FFFFFF"/>
          </a:solidFill>
          <a:ln w="6350">
            <a:solidFill>
              <a:srgbClr val="DCE4D6"/>
            </a:solidFill>
            <a:prstDash val="solid"/>
          </a:ln>
        </p:spPr>
      </p:sp>
      <p:pic>
        <p:nvPicPr>
          <p:cNvPr id="20" name="Image 2" descr="openai.svg">    </p:cNvPr>
          <p:cNvPicPr>
            <a:picLocks noChangeAspect="1"/>
          </p:cNvPicPr>
          <p:nvPr/>
        </p:nvPicPr>
        <p:blipFill>
          <a:blip r:embed="rId3"/>
          <a:stretch>
            <a:fillRect/>
          </a:stretch>
        </p:blipFill>
        <p:spPr>
          <a:xfrm>
            <a:off x="6388100" y="2927350"/>
            <a:ext cx="482600" cy="482600"/>
          </a:xfrm>
          <a:prstGeom prst="rect">
            <a:avLst/>
          </a:prstGeom>
        </p:spPr>
      </p:pic>
      <p:sp>
        <p:nvSpPr>
          <p:cNvPr id="21" name="Text 15"/>
          <p:cNvSpPr/>
          <p:nvPr/>
        </p:nvSpPr>
        <p:spPr>
          <a:xfrm>
            <a:off x="6388100" y="3683000"/>
            <a:ext cx="2222500" cy="320231"/>
          </a:xfrm>
          <a:prstGeom prst="rect">
            <a:avLst/>
          </a:prstGeom>
          <a:noFill/>
          <a:ln/>
        </p:spPr>
        <p:txBody>
          <a:bodyPr wrap="square" lIns="0" tIns="0" rIns="0" bIns="0" rtlCol="0" anchor="t">
            <a:normAutofit/>
          </a:bodyPr>
          <a:lstStyle/>
          <a:p>
            <a:pPr algn="l" indent="0" marL="0">
              <a:buNone/>
            </a:pPr>
            <a:r>
              <a:rPr lang="en-US" sz="2050" b="1" dirty="0">
                <a:solidFill>
                  <a:srgbClr val="17382F"/>
                </a:solidFill>
                <a:latin typeface="Arial" pitchFamily="34" charset="0"/>
                <a:ea typeface="Arial" pitchFamily="34" charset="-122"/>
                <a:cs typeface="Arial" pitchFamily="34" charset="-120"/>
              </a:rPr>
              <a:t>Assess risk</a:t>
            </a:r>
            <a:endParaRPr lang="en-US" sz="2050" dirty="0"/>
          </a:p>
        </p:txBody>
      </p:sp>
      <p:sp>
        <p:nvSpPr>
          <p:cNvPr id="22" name="Text 16"/>
          <p:cNvSpPr/>
          <p:nvPr/>
        </p:nvSpPr>
        <p:spPr>
          <a:xfrm>
            <a:off x="6388100" y="4184650"/>
            <a:ext cx="2222500" cy="218694"/>
          </a:xfrm>
          <a:prstGeom prst="rect">
            <a:avLst/>
          </a:prstGeom>
          <a:noFill/>
          <a:ln/>
        </p:spPr>
        <p:txBody>
          <a:bodyPr wrap="square" lIns="0" tIns="0" rIns="0" bIns="0" rtlCol="0" anchor="t">
            <a:normAutofit/>
          </a:bodyPr>
          <a:lstStyle/>
          <a:p>
            <a:pPr algn="l" indent="0" marL="0">
              <a:buNone/>
            </a:pPr>
            <a:r>
              <a:rPr lang="en-US" sz="1400" dirty="0">
                <a:solidFill>
                  <a:srgbClr val="566D62"/>
                </a:solidFill>
                <a:latin typeface="Arial" pitchFamily="34" charset="0"/>
                <a:ea typeface="Arial" pitchFamily="34" charset="-122"/>
                <a:cs typeface="Arial" pitchFamily="34" charset="-120"/>
              </a:rPr>
              <a:t>Azure OpenAI</a:t>
            </a:r>
            <a:endParaRPr lang="en-US" sz="1400" dirty="0"/>
          </a:p>
        </p:txBody>
      </p:sp>
      <p:sp>
        <p:nvSpPr>
          <p:cNvPr id="23" name="Shape 17"/>
          <p:cNvSpPr/>
          <p:nvPr/>
        </p:nvSpPr>
        <p:spPr>
          <a:xfrm>
            <a:off x="8826500" y="3797300"/>
            <a:ext cx="127000" cy="0"/>
          </a:xfrm>
          <a:prstGeom prst="line">
            <a:avLst/>
          </a:prstGeom>
          <a:noFill/>
          <a:ln w="19050">
            <a:solidFill>
              <a:srgbClr val="566D62"/>
            </a:solidFill>
            <a:prstDash val="solid"/>
            <a:tailEnd type="triangle"/>
          </a:ln>
        </p:spPr>
      </p:sp>
      <p:sp>
        <p:nvSpPr>
          <p:cNvPr id="24" name="Shape 18"/>
          <p:cNvSpPr/>
          <p:nvPr/>
        </p:nvSpPr>
        <p:spPr>
          <a:xfrm>
            <a:off x="8991600" y="2698750"/>
            <a:ext cx="2590800" cy="2203450"/>
          </a:xfrm>
          <a:prstGeom prst="roundRect">
            <a:avLst>
              <a:gd name="adj" fmla="val 6340"/>
            </a:avLst>
          </a:prstGeom>
          <a:solidFill>
            <a:srgbClr val="FFFFFF"/>
          </a:solidFill>
          <a:ln w="6350">
            <a:solidFill>
              <a:srgbClr val="DCE4D6"/>
            </a:solidFill>
            <a:prstDash val="solid"/>
          </a:ln>
        </p:spPr>
      </p:sp>
      <p:pic>
        <p:nvPicPr>
          <p:cNvPr id="25" name="Image 3" descr="code.svg">    </p:cNvPr>
          <p:cNvPicPr>
            <a:picLocks noChangeAspect="1"/>
          </p:cNvPicPr>
          <p:nvPr/>
        </p:nvPicPr>
        <p:blipFill>
          <a:blip r:embed="rId4"/>
          <a:stretch>
            <a:fillRect/>
          </a:stretch>
        </p:blipFill>
        <p:spPr>
          <a:xfrm>
            <a:off x="9182100" y="2927350"/>
            <a:ext cx="482600" cy="482600"/>
          </a:xfrm>
          <a:prstGeom prst="rect">
            <a:avLst/>
          </a:prstGeom>
        </p:spPr>
      </p:pic>
      <p:sp>
        <p:nvSpPr>
          <p:cNvPr id="26" name="Text 19"/>
          <p:cNvSpPr/>
          <p:nvPr/>
        </p:nvSpPr>
        <p:spPr>
          <a:xfrm>
            <a:off x="9182100" y="3683000"/>
            <a:ext cx="2222500" cy="320231"/>
          </a:xfrm>
          <a:prstGeom prst="rect">
            <a:avLst/>
          </a:prstGeom>
          <a:noFill/>
          <a:ln/>
        </p:spPr>
        <p:txBody>
          <a:bodyPr wrap="square" lIns="0" tIns="0" rIns="0" bIns="0" rtlCol="0" anchor="t">
            <a:normAutofit/>
          </a:bodyPr>
          <a:lstStyle/>
          <a:p>
            <a:pPr algn="l" indent="0" marL="0">
              <a:buNone/>
            </a:pPr>
            <a:r>
              <a:rPr lang="en-US" sz="2050" b="1" dirty="0">
                <a:solidFill>
                  <a:srgbClr val="17382F"/>
                </a:solidFill>
                <a:latin typeface="Arial" pitchFamily="34" charset="0"/>
                <a:ea typeface="Arial" pitchFamily="34" charset="-122"/>
                <a:cs typeface="Arial" pitchFamily="34" charset="-120"/>
              </a:rPr>
              <a:t>Decide</a:t>
            </a:r>
            <a:endParaRPr lang="en-US" sz="2050" dirty="0"/>
          </a:p>
        </p:txBody>
      </p:sp>
      <p:sp>
        <p:nvSpPr>
          <p:cNvPr id="27" name="Text 20"/>
          <p:cNvSpPr/>
          <p:nvPr/>
        </p:nvSpPr>
        <p:spPr>
          <a:xfrm>
            <a:off x="9182100" y="4184650"/>
            <a:ext cx="2222500" cy="437388"/>
          </a:xfrm>
          <a:prstGeom prst="rect">
            <a:avLst/>
          </a:prstGeom>
          <a:noFill/>
          <a:ln/>
        </p:spPr>
        <p:txBody>
          <a:bodyPr wrap="square" lIns="0" tIns="0" rIns="0" bIns="0" rtlCol="0" anchor="t">
            <a:normAutofit/>
          </a:bodyPr>
          <a:lstStyle/>
          <a:p>
            <a:pPr algn="l" indent="0" marL="0">
              <a:buNone/>
            </a:pPr>
            <a:r>
              <a:rPr lang="en-US" sz="1400" dirty="0">
                <a:solidFill>
                  <a:srgbClr val="566D62"/>
                </a:solidFill>
                <a:latin typeface="Arial" pitchFamily="34" charset="0"/>
                <a:ea typeface="Arial" pitchFamily="34" charset="-122"/>
                <a:cs typeface="Arial" pitchFamily="34" charset="-120"/>
              </a:rPr>
              <a:t>Deterministic</a:t>
            </a:r>
            <a:endParaRPr lang="en-US" sz="1400" dirty="0"/>
          </a:p>
          <a:p>
            <a:pPr algn="l" indent="0" marL="0">
              <a:buNone/>
            </a:pPr>
            <a:r>
              <a:rPr lang="en-US" sz="1400" dirty="0">
                <a:solidFill>
                  <a:srgbClr val="566D62"/>
                </a:solidFill>
                <a:latin typeface="Arial" pitchFamily="34" charset="0"/>
                <a:ea typeface="Arial" pitchFamily="34" charset="-122"/>
                <a:cs typeface="Arial" pitchFamily="34" charset="-120"/>
              </a:rPr>
              <a:t>verification code</a:t>
            </a:r>
            <a:endParaRPr lang="en-US" sz="1400" dirty="0"/>
          </a:p>
        </p:txBody>
      </p:sp>
      <p:pic>
        <p:nvPicPr>
          <p:cNvPr id="28" name="Image 4" descr="azure.svg">    </p:cNvPr>
          <p:cNvPicPr>
            <a:picLocks noChangeAspect="1"/>
          </p:cNvPicPr>
          <p:nvPr/>
        </p:nvPicPr>
        <p:blipFill>
          <a:blip r:embed="rId5"/>
          <a:stretch>
            <a:fillRect/>
          </a:stretch>
        </p:blipFill>
        <p:spPr>
          <a:xfrm>
            <a:off x="622300" y="5340350"/>
            <a:ext cx="355600" cy="355600"/>
          </a:xfrm>
          <a:prstGeom prst="rect">
            <a:avLst/>
          </a:prstGeom>
        </p:spPr>
      </p:pic>
      <p:sp>
        <p:nvSpPr>
          <p:cNvPr id="29" name="Text 21"/>
          <p:cNvSpPr/>
          <p:nvPr/>
        </p:nvSpPr>
        <p:spPr>
          <a:xfrm>
            <a:off x="1104900" y="5365750"/>
            <a:ext cx="5207000" cy="281178"/>
          </a:xfrm>
          <a:prstGeom prst="rect">
            <a:avLst/>
          </a:prstGeom>
          <a:noFill/>
          <a:ln/>
        </p:spPr>
        <p:txBody>
          <a:bodyPr wrap="square" lIns="0" tIns="0" rIns="0" bIns="0" rtlCol="0" anchor="t">
            <a:normAutofit/>
          </a:bodyPr>
          <a:lstStyle/>
          <a:p>
            <a:pPr algn="l" indent="0" marL="0">
              <a:buNone/>
            </a:pPr>
            <a:r>
              <a:rPr lang="en-US" sz="1800" b="1" dirty="0">
                <a:solidFill>
                  <a:srgbClr val="17382F"/>
                </a:solidFill>
                <a:latin typeface="Arial" pitchFamily="34" charset="0"/>
                <a:ea typeface="Arial" pitchFamily="34" charset="-122"/>
                <a:cs typeface="Arial" pitchFamily="34" charset="-120"/>
              </a:rPr>
              <a:t>Built on Microsoft Azure</a:t>
            </a:r>
            <a:endParaRPr lang="en-US" sz="1800" dirty="0"/>
          </a:p>
        </p:txBody>
      </p:sp>
      <p:sp>
        <p:nvSpPr>
          <p:cNvPr id="30" name="Text 22"/>
          <p:cNvSpPr/>
          <p:nvPr/>
        </p:nvSpPr>
        <p:spPr>
          <a:xfrm>
            <a:off x="622300" y="5956300"/>
            <a:ext cx="10858500" cy="210884"/>
          </a:xfrm>
          <a:prstGeom prst="rect">
            <a:avLst/>
          </a:prstGeom>
          <a:noFill/>
          <a:ln/>
        </p:spPr>
        <p:txBody>
          <a:bodyPr wrap="square" lIns="0" tIns="0" rIns="0" bIns="0" rtlCol="0" anchor="t">
            <a:normAutofit/>
          </a:bodyPr>
          <a:lstStyle/>
          <a:p>
            <a:pPr algn="l" indent="0" marL="0">
              <a:buNone/>
            </a:pPr>
            <a:r>
              <a:rPr lang="en-US" sz="1350" dirty="0">
                <a:solidFill>
                  <a:srgbClr val="566D62"/>
                </a:solidFill>
                <a:latin typeface="Arial" pitchFamily="34" charset="0"/>
                <a:ea typeface="Arial" pitchFamily="34" charset="-122"/>
                <a:cs typeface="Arial" pitchFamily="34" charset="-120"/>
              </a:rPr>
              <a:t>Microsoft Graph: context  ·  Durable receipts: Treasury policy  ·  Azure monitoring: evidence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252D"/>
        </a:solidFill>
      </p:bgPr>
    </p:bg>
    <p:spTree>
      <p:nvGrpSpPr>
        <p:cNvPr id="1" name=""/>
        <p:cNvGrpSpPr/>
        <p:nvPr/>
      </p:nvGrpSpPr>
      <p:grpSpPr>
        <a:xfrm>
          <a:off x="0" y="0"/>
          <a:ext cx="0" cy="0"/>
          <a:chOff x="0" y="0"/>
          <a:chExt cx="0" cy="0"/>
        </a:xfrm>
      </p:grpSpPr>
      <p:sp>
        <p:nvSpPr>
          <p:cNvPr id="2" name="Text 0"/>
          <p:cNvSpPr/>
          <p:nvPr/>
        </p:nvSpPr>
        <p:spPr>
          <a:xfrm>
            <a:off x="609600" y="330200"/>
            <a:ext cx="4445000" cy="195263"/>
          </a:xfrm>
          <a:prstGeom prst="rect">
            <a:avLst/>
          </a:prstGeom>
          <a:noFill/>
          <a:ln/>
        </p:spPr>
        <p:txBody>
          <a:bodyPr wrap="square" lIns="0" tIns="0" rIns="0" bIns="0" rtlCol="0" anchor="t">
            <a:normAutofit/>
          </a:bodyPr>
          <a:lstStyle/>
          <a:p>
            <a:pPr algn="l" indent="0" marL="0">
              <a:buNone/>
            </a:pPr>
            <a:r>
              <a:rPr lang="en-US" sz="1250" b="1" dirty="0">
                <a:solidFill>
                  <a:srgbClr val="D5EDAE"/>
                </a:solidFill>
                <a:latin typeface="Arial" pitchFamily="34" charset="0"/>
                <a:ea typeface="Arial" pitchFamily="34" charset="-122"/>
                <a:cs typeface="Arial" pitchFamily="34" charset="-120"/>
              </a:rPr>
              <a:t>ENTRAGUARD</a:t>
            </a:r>
            <a:endParaRPr lang="en-US" sz="1250" dirty="0"/>
          </a:p>
        </p:txBody>
      </p:sp>
      <p:sp>
        <p:nvSpPr>
          <p:cNvPr id="3" name="Text 1"/>
          <p:cNvSpPr/>
          <p:nvPr/>
        </p:nvSpPr>
        <p:spPr>
          <a:xfrm>
            <a:off x="7874000" y="349250"/>
            <a:ext cx="3683000" cy="148400"/>
          </a:xfrm>
          <a:prstGeom prst="rect">
            <a:avLst/>
          </a:prstGeom>
          <a:noFill/>
          <a:ln/>
        </p:spPr>
        <p:txBody>
          <a:bodyPr wrap="square" lIns="0" tIns="0" rIns="0" bIns="0" rtlCol="0" anchor="t">
            <a:normAutofit/>
          </a:bodyPr>
          <a:lstStyle/>
          <a:p>
            <a:pPr algn="r" indent="0" marL="0">
              <a:buNone/>
            </a:pPr>
            <a:r>
              <a:rPr lang="en-US" sz="950" dirty="0">
                <a:solidFill>
                  <a:srgbClr val="B4C8BE"/>
                </a:solidFill>
                <a:latin typeface="Arial" pitchFamily="34" charset="0"/>
                <a:ea typeface="Arial" pitchFamily="34" charset="-122"/>
                <a:cs typeface="Arial" pitchFamily="34" charset="-120"/>
              </a:rPr>
              <a:t>105–115s  /  HACKATHON FILM</a:t>
            </a:r>
            <a:endParaRPr lang="en-US" sz="950" dirty="0"/>
          </a:p>
        </p:txBody>
      </p:sp>
      <p:sp>
        <p:nvSpPr>
          <p:cNvPr id="4" name="Shape 2"/>
          <p:cNvSpPr/>
          <p:nvPr/>
        </p:nvSpPr>
        <p:spPr>
          <a:xfrm>
            <a:off x="609600" y="6400800"/>
            <a:ext cx="10972800" cy="0"/>
          </a:xfrm>
          <a:prstGeom prst="line">
            <a:avLst/>
          </a:prstGeom>
          <a:noFill/>
          <a:ln w="19050">
            <a:solidFill>
              <a:srgbClr val="36554E"/>
            </a:solidFill>
            <a:prstDash val="solid"/>
            <a:tailEnd type="none"/>
          </a:ln>
        </p:spPr>
      </p:sp>
      <p:sp>
        <p:nvSpPr>
          <p:cNvPr id="5" name="Text 3"/>
          <p:cNvSpPr/>
          <p:nvPr/>
        </p:nvSpPr>
        <p:spPr>
          <a:xfrm>
            <a:off x="609600" y="6540500"/>
            <a:ext cx="7620000" cy="132779"/>
          </a:xfrm>
          <a:prstGeom prst="rect">
            <a:avLst/>
          </a:prstGeom>
          <a:noFill/>
          <a:ln/>
        </p:spPr>
        <p:txBody>
          <a:bodyPr wrap="square" lIns="0" tIns="0" rIns="0" bIns="0" rtlCol="0" anchor="t">
            <a:normAutofit/>
          </a:bodyPr>
          <a:lstStyle/>
          <a:p>
            <a:pPr algn="l" indent="0" marL="0">
              <a:buNone/>
            </a:pPr>
            <a:r>
              <a:rPr lang="en-US" sz="850" dirty="0">
                <a:solidFill>
                  <a:srgbClr val="B4C8BE"/>
                </a:solidFill>
                <a:latin typeface="Arial" pitchFamily="34" charset="0"/>
                <a:ea typeface="Arial" pitchFamily="34" charset="-122"/>
                <a:cs typeface="Arial" pitchFamily="34" charset="-120"/>
              </a:rPr>
              <a:t>MICROSOFT GARAGE HACKATHON</a:t>
            </a:r>
            <a:endParaRPr lang="en-US" sz="850" dirty="0"/>
          </a:p>
        </p:txBody>
      </p:sp>
      <p:sp>
        <p:nvSpPr>
          <p:cNvPr id="6" name="Text 4"/>
          <p:cNvSpPr/>
          <p:nvPr/>
        </p:nvSpPr>
        <p:spPr>
          <a:xfrm>
            <a:off x="10604500" y="6540500"/>
            <a:ext cx="977900" cy="132779"/>
          </a:xfrm>
          <a:prstGeom prst="rect">
            <a:avLst/>
          </a:prstGeom>
          <a:noFill/>
          <a:ln/>
        </p:spPr>
        <p:txBody>
          <a:bodyPr wrap="square" lIns="0" tIns="0" rIns="0" bIns="0" rtlCol="0" anchor="t">
            <a:normAutofit/>
          </a:bodyPr>
          <a:lstStyle/>
          <a:p>
            <a:pPr algn="r" indent="0" marL="0">
              <a:buNone/>
            </a:pPr>
            <a:r>
              <a:rPr lang="en-US" sz="850" dirty="0">
                <a:solidFill>
                  <a:srgbClr val="B4C8BE"/>
                </a:solidFill>
                <a:latin typeface="Arial" pitchFamily="34" charset="0"/>
                <a:ea typeface="Arial" pitchFamily="34" charset="-122"/>
                <a:cs typeface="Arial" pitchFamily="34" charset="-120"/>
              </a:rPr>
              <a:t>06 / 06</a:t>
            </a:r>
            <a:endParaRPr lang="en-US" sz="850" dirty="0"/>
          </a:p>
        </p:txBody>
      </p:sp>
      <p:sp>
        <p:nvSpPr>
          <p:cNvPr id="8" name="Text 5"/>
          <p:cNvSpPr/>
          <p:nvPr/>
        </p:nvSpPr>
        <p:spPr>
          <a:xfrm>
            <a:off x="609600" y="1492250"/>
            <a:ext cx="10985500" cy="1390269"/>
          </a:xfrm>
          <a:prstGeom prst="rect">
            <a:avLst/>
          </a:prstGeom>
          <a:noFill/>
          <a:ln/>
        </p:spPr>
        <p:txBody>
          <a:bodyPr wrap="square" lIns="0" tIns="0" rIns="0" bIns="0" rtlCol="0" anchor="t">
            <a:normAutofit/>
          </a:bodyPr>
          <a:lstStyle/>
          <a:p>
            <a:pPr algn="l" indent="0" marL="0">
              <a:buNone/>
            </a:pPr>
            <a:r>
              <a:rPr lang="en-US" sz="4450" b="1" dirty="0">
                <a:solidFill>
                  <a:srgbClr val="FFFFFF"/>
                </a:solidFill>
                <a:latin typeface="Arial" pitchFamily="34" charset="0"/>
                <a:ea typeface="Arial" pitchFamily="34" charset="-122"/>
                <a:cs typeface="Arial" pitchFamily="34" charset="-120"/>
              </a:rPr>
              <a:t>Protect the approval.</a:t>
            </a:r>
            <a:endParaRPr lang="en-US" sz="4450" dirty="0"/>
          </a:p>
          <a:p>
            <a:pPr algn="l" indent="0" marL="0">
              <a:buNone/>
            </a:pPr>
            <a:r>
              <a:rPr lang="en-US" sz="4450" b="1" dirty="0">
                <a:solidFill>
                  <a:srgbClr val="FFFFFF"/>
                </a:solidFill>
                <a:latin typeface="Arial" pitchFamily="34" charset="0"/>
                <a:ea typeface="Arial" pitchFamily="34" charset="-122"/>
                <a:cs typeface="Arial" pitchFamily="34" charset="-120"/>
              </a:rPr>
              <a:t>Not just the credential.</a:t>
            </a:r>
            <a:endParaRPr lang="en-US" sz="4450" dirty="0"/>
          </a:p>
        </p:txBody>
      </p:sp>
      <p:sp>
        <p:nvSpPr>
          <p:cNvPr id="9" name="Text 6"/>
          <p:cNvSpPr/>
          <p:nvPr/>
        </p:nvSpPr>
        <p:spPr>
          <a:xfrm>
            <a:off x="628650" y="3346450"/>
            <a:ext cx="9525000" cy="507683"/>
          </a:xfrm>
          <a:prstGeom prst="rect">
            <a:avLst/>
          </a:prstGeom>
          <a:noFill/>
          <a:ln/>
        </p:spPr>
        <p:txBody>
          <a:bodyPr wrap="square" lIns="0" tIns="0" rIns="0" bIns="0" rtlCol="0" anchor="t">
            <a:normAutofit/>
          </a:bodyPr>
          <a:lstStyle/>
          <a:p>
            <a:pPr algn="l" indent="0" marL="0">
              <a:buNone/>
            </a:pPr>
            <a:r>
              <a:rPr lang="en-US" sz="3250" b="1" dirty="0">
                <a:solidFill>
                  <a:srgbClr val="D5EDAE"/>
                </a:solidFill>
                <a:latin typeface="Arial" pitchFamily="34" charset="0"/>
                <a:ea typeface="Arial" pitchFamily="34" charset="-122"/>
                <a:cs typeface="Arial" pitchFamily="34" charset="-120"/>
              </a:rPr>
              <a:t>EntraGuard</a:t>
            </a:r>
            <a:endParaRPr lang="en-US" sz="3250" dirty="0"/>
          </a:p>
        </p:txBody>
      </p:sp>
      <p:sp>
        <p:nvSpPr>
          <p:cNvPr id="10" name="Text 7"/>
          <p:cNvSpPr/>
          <p:nvPr/>
        </p:nvSpPr>
        <p:spPr>
          <a:xfrm>
            <a:off x="641350" y="3987800"/>
            <a:ext cx="10668000" cy="288989"/>
          </a:xfrm>
          <a:prstGeom prst="rect">
            <a:avLst/>
          </a:prstGeom>
          <a:noFill/>
          <a:ln/>
        </p:spPr>
        <p:txBody>
          <a:bodyPr wrap="square" lIns="0" tIns="0" rIns="0" bIns="0" rtlCol="0" anchor="t">
            <a:normAutofit/>
          </a:bodyPr>
          <a:lstStyle/>
          <a:p>
            <a:pPr algn="l" indent="0" marL="0">
              <a:buNone/>
            </a:pPr>
            <a:r>
              <a:rPr lang="en-US" sz="1850" dirty="0">
                <a:solidFill>
                  <a:srgbClr val="B4C8BE"/>
                </a:solidFill>
                <a:latin typeface="Arial" pitchFamily="34" charset="0"/>
                <a:ea typeface="Arial" pitchFamily="34" charset="-122"/>
                <a:cs typeface="Arial" pitchFamily="34" charset="-120"/>
              </a:rPr>
              <a:t>Conversation evidence for identity verification.</a:t>
            </a:r>
            <a:endParaRPr lang="en-US" sz="1850" dirty="0"/>
          </a:p>
        </p:txBody>
      </p:sp>
      <p:sp>
        <p:nvSpPr>
          <p:cNvPr id="11" name="Shape 8"/>
          <p:cNvSpPr/>
          <p:nvPr/>
        </p:nvSpPr>
        <p:spPr>
          <a:xfrm>
            <a:off x="628650" y="5016500"/>
            <a:ext cx="4826000" cy="266700"/>
          </a:xfrm>
          <a:prstGeom prst="roundRect">
            <a:avLst>
              <a:gd name="adj" fmla="val 19048"/>
            </a:avLst>
          </a:prstGeom>
          <a:solidFill>
            <a:srgbClr val="163A3B"/>
          </a:solidFill>
          <a:ln w="6350">
            <a:solidFill>
              <a:srgbClr val="163A3B"/>
            </a:solidFill>
            <a:prstDash val="solid"/>
          </a:ln>
        </p:spPr>
      </p:sp>
      <p:sp>
        <p:nvSpPr>
          <p:cNvPr id="12" name="Text 9"/>
          <p:cNvSpPr/>
          <p:nvPr/>
        </p:nvSpPr>
        <p:spPr>
          <a:xfrm>
            <a:off x="704850" y="5073650"/>
            <a:ext cx="4673600" cy="148400"/>
          </a:xfrm>
          <a:prstGeom prst="rect">
            <a:avLst/>
          </a:prstGeom>
          <a:noFill/>
          <a:ln/>
        </p:spPr>
        <p:txBody>
          <a:bodyPr wrap="square" lIns="0" tIns="0" rIns="0" bIns="0" rtlCol="0" anchor="t">
            <a:normAutofit/>
          </a:bodyPr>
          <a:lstStyle/>
          <a:p>
            <a:pPr algn="l" indent="0" marL="0">
              <a:buNone/>
            </a:pPr>
            <a:r>
              <a:rPr lang="en-US" sz="950" b="1" dirty="0">
                <a:solidFill>
                  <a:srgbClr val="D5EDAE"/>
                </a:solidFill>
                <a:latin typeface="Arial" pitchFamily="34" charset="0"/>
                <a:ea typeface="Arial" pitchFamily="34" charset="-122"/>
                <a:cs typeface="Arial" pitchFamily="34" charset="-120"/>
              </a:rPr>
              <a:t>NEXT: A CONTROLLED TENANT PILOT</a:t>
            </a:r>
            <a:endParaRPr lang="en-US" sz="950" dirty="0"/>
          </a:p>
        </p:txBody>
      </p:sp>
      <p:sp>
        <p:nvSpPr>
          <p:cNvPr id="13" name="Text 10"/>
          <p:cNvSpPr/>
          <p:nvPr/>
        </p:nvSpPr>
        <p:spPr>
          <a:xfrm>
            <a:off x="628650" y="5715000"/>
            <a:ext cx="10477500" cy="249936"/>
          </a:xfrm>
          <a:prstGeom prst="rect">
            <a:avLst/>
          </a:prstGeom>
          <a:noFill/>
          <a:ln/>
        </p:spPr>
        <p:txBody>
          <a:bodyPr wrap="square" lIns="0" tIns="0" rIns="0" bIns="0" rtlCol="0" anchor="t">
            <a:normAutofit/>
          </a:bodyPr>
          <a:lstStyle/>
          <a:p>
            <a:pPr algn="l" indent="0" marL="0">
              <a:buNone/>
            </a:pPr>
            <a:r>
              <a:rPr lang="en-US" sz="1600" dirty="0">
                <a:solidFill>
                  <a:srgbClr val="D5EDAE"/>
                </a:solidFill>
                <a:latin typeface="Arial" pitchFamily="34" charset="0"/>
                <a:ea typeface="Arial" pitchFamily="34" charset="-122"/>
                <a:cs typeface="Arial" pitchFamily="34" charset="-120"/>
              </a:rPr>
              <a:t>entraguard.my  ·  docs.entraguard.my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EntraGuard — the right code is not the whole story</dc:title>
  <dc:subject>115-second hackathon video storyboard</dc:subject>
  <dc:creator>EntraGuard</dc:creator>
  <cp:lastModifiedBy>EntraGuard</cp:lastModifiedBy>
  <cp:revision>1</cp:revision>
  <dcterms:created xsi:type="dcterms:W3CDTF">2026-09-20T16:15:37Z</dcterms:created>
  <dcterms:modified xsi:type="dcterms:W3CDTF">2026-09-20T16:15:37Z</dcterms:modified>
</cp:coreProperties>
</file>